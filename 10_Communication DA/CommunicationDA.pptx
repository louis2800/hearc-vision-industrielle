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4" r:id="rId7"/>
    <p:sldId id="265" r:id="rId8"/>
    <p:sldId id="263" r:id="rId9"/>
    <p:sldId id="257" r:id="rId10"/>
    <p:sldId id="266" r:id="rId11"/>
    <p:sldId id="267" r:id="rId1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1F50"/>
    <a:srgbClr val="7071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43" autoAdjust="0"/>
  </p:normalViewPr>
  <p:slideViewPr>
    <p:cSldViewPr>
      <p:cViewPr varScale="1">
        <p:scale>
          <a:sx n="73" d="100"/>
          <a:sy n="73" d="100"/>
        </p:scale>
        <p:origin x="78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cue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GrisBienvenu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2492375"/>
            <a:ext cx="7704138" cy="79216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3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Bienvenue!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58775" y="962025"/>
            <a:ext cx="8048625" cy="18192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1916113"/>
            <a:ext cx="7704138" cy="72072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Titre de la présentation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58775" y="962025"/>
            <a:ext cx="8048625" cy="18192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1915200"/>
            <a:ext cx="7704000" cy="7200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Sommaire</a:t>
            </a: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1" hasCustomPrompt="1"/>
          </p:nvPr>
        </p:nvSpPr>
        <p:spPr>
          <a:xfrm>
            <a:off x="2854800" y="3013200"/>
            <a:ext cx="2606400" cy="2541600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4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1188000">
              <a:buFontTx/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buFontTx/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</a:lstStyle>
          <a:p>
            <a:pPr lvl="0"/>
            <a:r>
              <a:rPr lang="fr-CH" dirty="0"/>
              <a:t>Thème 1</a:t>
            </a:r>
          </a:p>
          <a:p>
            <a:pPr lvl="1"/>
            <a:r>
              <a:rPr lang="fr-CH" dirty="0"/>
              <a:t>Sous-thème</a:t>
            </a:r>
          </a:p>
          <a:p>
            <a:pPr lvl="2"/>
            <a:endParaRPr lang="fr-CH" dirty="0"/>
          </a:p>
          <a:p>
            <a:pPr lvl="0"/>
            <a:r>
              <a:rPr lang="fr-CH" dirty="0"/>
              <a:t>Thème 2</a:t>
            </a:r>
          </a:p>
          <a:p>
            <a:pPr lvl="1"/>
            <a:r>
              <a:rPr lang="fr-CH" dirty="0"/>
              <a:t>Sous-thème</a:t>
            </a:r>
          </a:p>
          <a:p>
            <a:pPr lvl="1"/>
            <a:r>
              <a:rPr lang="fr-CH" dirty="0"/>
              <a:t>Sous-thème</a:t>
            </a:r>
          </a:p>
          <a:p>
            <a:pPr lvl="2"/>
            <a:endParaRPr lang="fr-CH" dirty="0"/>
          </a:p>
          <a:p>
            <a:pPr lvl="0"/>
            <a:r>
              <a:rPr lang="fr-CH" dirty="0"/>
              <a:t>Thème 3</a:t>
            </a:r>
          </a:p>
          <a:p>
            <a:pPr lvl="0"/>
            <a:r>
              <a:rPr lang="fr-CH" dirty="0"/>
              <a:t>Thème 4</a:t>
            </a:r>
          </a:p>
          <a:p>
            <a:pPr lvl="0"/>
            <a:r>
              <a:rPr lang="fr-CH" dirty="0"/>
              <a:t>Thème 5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2" hasCustomPrompt="1"/>
          </p:nvPr>
        </p:nvSpPr>
        <p:spPr>
          <a:xfrm>
            <a:off x="5461200" y="3013200"/>
            <a:ext cx="2606400" cy="2541600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4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1188000"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buFontTx/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</a:lstStyle>
          <a:p>
            <a:pPr lvl="0"/>
            <a:r>
              <a:rPr lang="fr-FR" dirty="0"/>
              <a:t>Thème 6</a:t>
            </a:r>
          </a:p>
          <a:p>
            <a:pPr lvl="1"/>
            <a:r>
              <a:rPr lang="fr-CH" b="1" dirty="0">
                <a:solidFill>
                  <a:srgbClr val="707173"/>
                </a:solidFill>
              </a:rPr>
              <a:t>Sous-thème</a:t>
            </a:r>
          </a:p>
          <a:p>
            <a:pPr lvl="2"/>
            <a:endParaRPr lang="fr-CH" b="1" dirty="0">
              <a:solidFill>
                <a:srgbClr val="707173"/>
              </a:solidFill>
            </a:endParaRPr>
          </a:p>
          <a:p>
            <a:pPr lvl="0"/>
            <a:r>
              <a:rPr lang="fr-CH" dirty="0"/>
              <a:t>Thème 7</a:t>
            </a:r>
          </a:p>
          <a:p>
            <a:pPr lvl="1"/>
            <a:r>
              <a:rPr lang="fr-CH" dirty="0"/>
              <a:t>Sous-thème</a:t>
            </a:r>
          </a:p>
          <a:p>
            <a:pPr lvl="1"/>
            <a:r>
              <a:rPr lang="fr-CH" dirty="0"/>
              <a:t>Sous-thème</a:t>
            </a:r>
          </a:p>
          <a:p>
            <a:pPr lvl="2"/>
            <a:endParaRPr lang="fr-CH" dirty="0"/>
          </a:p>
          <a:p>
            <a:pPr lvl="0"/>
            <a:r>
              <a:rPr lang="fr-CH" dirty="0"/>
              <a:t>Thème 8</a:t>
            </a:r>
          </a:p>
          <a:p>
            <a:pPr lvl="0"/>
            <a:r>
              <a:rPr lang="fr-CH" dirty="0"/>
              <a:t>Thème 9</a:t>
            </a:r>
          </a:p>
          <a:p>
            <a:pPr lvl="0"/>
            <a:r>
              <a:rPr lang="fr-CH" dirty="0"/>
              <a:t>Thème 10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358775" y="962025"/>
            <a:ext cx="8048625" cy="10064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4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1124744"/>
            <a:ext cx="7704000" cy="7200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Titre</a:t>
            </a:r>
            <a:endParaRPr lang="fr-CH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059200"/>
            <a:ext cx="7704000" cy="410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358775" y="962025"/>
            <a:ext cx="8048625" cy="10064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1123200"/>
            <a:ext cx="7704000" cy="7200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Deux colonnes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1" hasCustomPrompt="1"/>
          </p:nvPr>
        </p:nvSpPr>
        <p:spPr>
          <a:xfrm>
            <a:off x="1728000" y="2170800"/>
            <a:ext cx="3124800" cy="1656829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200" b="1" baseline="0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None/>
              <a:defRPr sz="10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Titre 1</a:t>
            </a:r>
          </a:p>
          <a:p>
            <a:pPr lvl="1"/>
            <a:r>
              <a:rPr lang="fr-FR" dirty="0"/>
              <a:t>Texte 1</a:t>
            </a:r>
          </a:p>
          <a:p>
            <a:pPr lvl="1"/>
            <a:endParaRPr lang="fr-FR" dirty="0"/>
          </a:p>
          <a:p>
            <a:pPr lvl="0"/>
            <a:r>
              <a:rPr lang="fr-CH" dirty="0"/>
              <a:t>Titre 2</a:t>
            </a:r>
          </a:p>
          <a:p>
            <a:pPr lvl="1"/>
            <a:r>
              <a:rPr lang="fr-CH" dirty="0"/>
              <a:t>Texte 2</a:t>
            </a:r>
          </a:p>
          <a:p>
            <a:pPr lvl="1"/>
            <a:endParaRPr lang="fr-CH" dirty="0"/>
          </a:p>
          <a:p>
            <a:pPr lvl="0"/>
            <a:r>
              <a:rPr lang="fr-CH" dirty="0"/>
              <a:t>Titre 3</a:t>
            </a:r>
          </a:p>
          <a:p>
            <a:pPr lvl="1"/>
            <a:r>
              <a:rPr lang="fr-CH" dirty="0"/>
              <a:t>Texte 3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2" hasCustomPrompt="1"/>
          </p:nvPr>
        </p:nvSpPr>
        <p:spPr>
          <a:xfrm>
            <a:off x="5068800" y="2170800"/>
            <a:ext cx="3124800" cy="1656000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2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FontTx/>
              <a:buNone/>
              <a:defRPr sz="10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Titre 4</a:t>
            </a:r>
          </a:p>
          <a:p>
            <a:pPr lvl="1"/>
            <a:r>
              <a:rPr lang="fr-CH" sz="1000" dirty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Texte 4</a:t>
            </a:r>
          </a:p>
          <a:p>
            <a:pPr lvl="1"/>
            <a:endParaRPr lang="fr-CH" sz="1000" dirty="0">
              <a:solidFill>
                <a:srgbClr val="707173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0"/>
            <a:r>
              <a:rPr lang="fr-CH" dirty="0"/>
              <a:t>Titre 5</a:t>
            </a:r>
          </a:p>
          <a:p>
            <a:pPr lvl="1"/>
            <a:r>
              <a:rPr lang="fr-CH" dirty="0"/>
              <a:t>Texte 5</a:t>
            </a:r>
          </a:p>
          <a:p>
            <a:pPr lvl="1"/>
            <a:endParaRPr lang="fr-CH" dirty="0"/>
          </a:p>
          <a:p>
            <a:pPr lvl="0"/>
            <a:r>
              <a:rPr lang="fr-CH" dirty="0"/>
              <a:t>Titre 6</a:t>
            </a:r>
          </a:p>
          <a:p>
            <a:pPr lvl="1"/>
            <a:r>
              <a:rPr lang="fr-CH" dirty="0"/>
              <a:t>Texte 6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358775" y="962025"/>
            <a:ext cx="8048625" cy="10064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1124744"/>
            <a:ext cx="7704000" cy="7200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Vide</a:t>
            </a:r>
            <a:endParaRPr lang="fr-CH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CH"/>
          </a:p>
        </p:txBody>
      </p:sp>
      <p:pic>
        <p:nvPicPr>
          <p:cNvPr id="6" name="Image 5" descr="ING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78893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ec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358775" y="962025"/>
            <a:ext cx="8048625" cy="39020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0" hasCustomPrompt="1"/>
          </p:nvPr>
        </p:nvSpPr>
        <p:spPr>
          <a:xfrm>
            <a:off x="1800000" y="5050800"/>
            <a:ext cx="4827600" cy="36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baseline="0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CH" dirty="0"/>
              <a:t>Avec image</a:t>
            </a:r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1" hasCustomPrompt="1"/>
          </p:nvPr>
        </p:nvSpPr>
        <p:spPr>
          <a:xfrm>
            <a:off x="1800000" y="5410800"/>
            <a:ext cx="4827600" cy="360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5pPr>
              <a:buNone/>
              <a:defRPr/>
            </a:lvl5pPr>
          </a:lstStyle>
          <a:p>
            <a:pPr lvl="0"/>
            <a:r>
              <a:rPr lang="fr-CH" sz="900" dirty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Texte</a:t>
            </a:r>
            <a:endParaRPr lang="fr-CH" dirty="0"/>
          </a:p>
        </p:txBody>
      </p:sp>
      <p:sp>
        <p:nvSpPr>
          <p:cNvPr id="13" name="Espace réservé pour une image  12"/>
          <p:cNvSpPr>
            <a:spLocks noGrp="1"/>
          </p:cNvSpPr>
          <p:nvPr>
            <p:ph type="pic" sz="quarter" idx="12"/>
          </p:nvPr>
        </p:nvSpPr>
        <p:spPr>
          <a:xfrm>
            <a:off x="1800000" y="961200"/>
            <a:ext cx="6624000" cy="37404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CH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0" y="0"/>
            <a:ext cx="9144000" cy="6862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3" r:id="rId5"/>
    <p:sldLayoutId id="2147483652" r:id="rId6"/>
    <p:sldLayoutId id="2147483656" r:id="rId7"/>
    <p:sldLayoutId id="2147483654" r:id="rId8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/>
              <a:t>DA: </a:t>
            </a:r>
            <a:r>
              <a:rPr lang="fr-CH" dirty="0"/>
              <a:t>Communication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546152" y="3471167"/>
            <a:ext cx="4536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2400" dirty="0"/>
              <a:t>3268.1 Vision Industrielle II </a:t>
            </a:r>
            <a:endParaRPr lang="en-US" sz="2400" dirty="0"/>
          </a:p>
        </p:txBody>
      </p:sp>
      <p:sp>
        <p:nvSpPr>
          <p:cNvPr id="4" name="ZoneTexte 3"/>
          <p:cNvSpPr txBox="1"/>
          <p:nvPr/>
        </p:nvSpPr>
        <p:spPr>
          <a:xfrm>
            <a:off x="539750" y="4581128"/>
            <a:ext cx="4248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Yuri López de Meneses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Communications</a:t>
            </a:r>
            <a:endParaRPr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400" dirty="0"/>
              <a:t>Plusieurs protocoles de communication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400" dirty="0"/>
              <a:t>On utilisera surtout Network (TCP/IP) ou Serial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400" dirty="0"/>
              <a:t>Structure similaire avec </a:t>
            </a:r>
            <a:r>
              <a:rPr lang="fr-CH" sz="2400" dirty="0" err="1"/>
              <a:t>steps</a:t>
            </a:r>
            <a:endParaRPr lang="fr-CH" sz="2400" dirty="0"/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fr-CH" sz="2000" dirty="0" err="1"/>
              <a:t>NetworkConfiguration</a:t>
            </a:r>
            <a:endParaRPr lang="fr-CH" sz="2000" dirty="0"/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fr-CH" sz="2000" dirty="0" err="1"/>
              <a:t>NetworkReader</a:t>
            </a:r>
            <a:endParaRPr lang="fr-CH" sz="2000" dirty="0"/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fr-CH" sz="2000" dirty="0" err="1"/>
              <a:t>NetworkWriter</a:t>
            </a:r>
            <a:endParaRPr lang="fr-CH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910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Structure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>
          <a:xfrm>
            <a:off x="540000" y="2059200"/>
            <a:ext cx="5832200" cy="4104000"/>
          </a:xfrm>
          <a:ln>
            <a:solidFill>
              <a:srgbClr val="FF0000"/>
            </a:solidFill>
          </a:ln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dirty="0"/>
              <a:t>Etablir connexion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fr-CH" dirty="0"/>
              <a:t>Typiquement 1 fois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CH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dirty="0"/>
              <a:t>Recevoir message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CH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dirty="0"/>
              <a:t>Envoyer message</a:t>
            </a:r>
            <a:endParaRPr lang="en-US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224" y="2059200"/>
            <a:ext cx="1400175" cy="3905250"/>
          </a:xfrm>
          <a:prstGeom prst="rect">
            <a:avLst/>
          </a:prstGeom>
        </p:spPr>
      </p:pic>
      <p:cxnSp>
        <p:nvCxnSpPr>
          <p:cNvPr id="7" name="Connecteur droit avec flèche 6"/>
          <p:cNvCxnSpPr/>
          <p:nvPr/>
        </p:nvCxnSpPr>
        <p:spPr>
          <a:xfrm>
            <a:off x="4427984" y="2348880"/>
            <a:ext cx="2304256" cy="28803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/>
          <p:cNvCxnSpPr/>
          <p:nvPr/>
        </p:nvCxnSpPr>
        <p:spPr>
          <a:xfrm flipV="1">
            <a:off x="4427984" y="3501008"/>
            <a:ext cx="2376264" cy="57606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/>
          <p:nvPr/>
        </p:nvCxnSpPr>
        <p:spPr>
          <a:xfrm flipV="1">
            <a:off x="4283968" y="4941168"/>
            <a:ext cx="2592288" cy="28803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6024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NetworkConnection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>
          <a:xfrm>
            <a:off x="540000" y="2059200"/>
            <a:ext cx="3527944" cy="41040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/>
              <a:t>Nom de connexion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/>
              <a:t>Type: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fr-CH" sz="2000" i="1" dirty="0" err="1"/>
              <a:t>Listen</a:t>
            </a:r>
            <a:r>
              <a:rPr lang="fr-CH" sz="2000" dirty="0"/>
              <a:t> = Serveur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fr-CH" sz="2000" i="1" dirty="0" err="1"/>
              <a:t>Connect</a:t>
            </a:r>
            <a:r>
              <a:rPr lang="fr-CH" sz="2000" dirty="0"/>
              <a:t> = Client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/>
              <a:t>Interface: 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fr-CH" sz="1600" dirty="0"/>
              <a:t>Choix de la carte réseau. Peut être configurée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/>
              <a:t>Port IP: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/>
              <a:t>Attendre jusqu’à connexion établie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/>
              <a:t>Temps d’attente</a:t>
            </a:r>
            <a:endParaRPr lang="en-US" sz="24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960" y="2276872"/>
            <a:ext cx="4196090" cy="2284749"/>
          </a:xfrm>
          <a:prstGeom prst="rect">
            <a:avLst/>
          </a:prstGeom>
        </p:spPr>
      </p:pic>
      <p:cxnSp>
        <p:nvCxnSpPr>
          <p:cNvPr id="6" name="Connecteur droit avec flèche 5"/>
          <p:cNvCxnSpPr/>
          <p:nvPr/>
        </p:nvCxnSpPr>
        <p:spPr>
          <a:xfrm>
            <a:off x="3779912" y="2276872"/>
            <a:ext cx="1368152" cy="4320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/>
          <p:cNvCxnSpPr/>
          <p:nvPr/>
        </p:nvCxnSpPr>
        <p:spPr>
          <a:xfrm>
            <a:off x="1835696" y="2725400"/>
            <a:ext cx="3168352" cy="48757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/>
          <p:nvPr/>
        </p:nvCxnSpPr>
        <p:spPr>
          <a:xfrm>
            <a:off x="2303972" y="3879176"/>
            <a:ext cx="2988108" cy="6106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/>
          <p:cNvCxnSpPr/>
          <p:nvPr/>
        </p:nvCxnSpPr>
        <p:spPr>
          <a:xfrm flipV="1">
            <a:off x="2051720" y="4111200"/>
            <a:ext cx="3096344" cy="75298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V="1">
            <a:off x="3347864" y="4487694"/>
            <a:ext cx="936104" cy="9721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/>
          <p:cNvCxnSpPr/>
          <p:nvPr/>
        </p:nvCxnSpPr>
        <p:spPr>
          <a:xfrm flipV="1">
            <a:off x="3203848" y="4487694"/>
            <a:ext cx="3872278" cy="160560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568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NetworkReader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>
          <a:xfrm>
            <a:off x="540000" y="2059200"/>
            <a:ext cx="4320032" cy="4104000"/>
          </a:xfrm>
        </p:spPr>
        <p:txBody>
          <a:bodyPr/>
          <a:lstStyle/>
          <a:p>
            <a:r>
              <a:rPr lang="fr-CH" sz="2400" dirty="0"/>
              <a:t>Attend la réception d’un message</a:t>
            </a:r>
          </a:p>
          <a:p>
            <a:endParaRPr lang="fr-CH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/>
              <a:t>Par quel canal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/>
              <a:t>Temps d’attente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CH" sz="2400" dirty="0"/>
          </a:p>
          <a:p>
            <a:r>
              <a:rPr lang="fr-CH" sz="2400" dirty="0"/>
              <a:t>Le message reçu sera disponible comme résultat  </a:t>
            </a:r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048" y="2348880"/>
            <a:ext cx="3749055" cy="1922592"/>
          </a:xfrm>
          <a:prstGeom prst="rect">
            <a:avLst/>
          </a:prstGeom>
        </p:spPr>
      </p:pic>
      <p:cxnSp>
        <p:nvCxnSpPr>
          <p:cNvPr id="6" name="Connecteur droit avec flèche 5"/>
          <p:cNvCxnSpPr/>
          <p:nvPr/>
        </p:nvCxnSpPr>
        <p:spPr>
          <a:xfrm flipV="1">
            <a:off x="2987824" y="2924944"/>
            <a:ext cx="2880320" cy="57606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/>
          <p:cNvCxnSpPr/>
          <p:nvPr/>
        </p:nvCxnSpPr>
        <p:spPr>
          <a:xfrm flipV="1">
            <a:off x="3203848" y="3789040"/>
            <a:ext cx="1944216" cy="21602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48" y="4775608"/>
            <a:ext cx="2667000" cy="1400175"/>
          </a:xfrm>
          <a:prstGeom prst="rect">
            <a:avLst/>
          </a:prstGeom>
        </p:spPr>
      </p:pic>
      <p:cxnSp>
        <p:nvCxnSpPr>
          <p:cNvPr id="12" name="Connecteur droit avec flèche 11"/>
          <p:cNvCxnSpPr/>
          <p:nvPr/>
        </p:nvCxnSpPr>
        <p:spPr>
          <a:xfrm>
            <a:off x="4175956" y="5250079"/>
            <a:ext cx="2161592" cy="4111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1818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NetworkReader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>
          <a:xfrm>
            <a:off x="540000" y="2059200"/>
            <a:ext cx="4680072" cy="4104000"/>
          </a:xfrm>
        </p:spPr>
        <p:txBody>
          <a:bodyPr/>
          <a:lstStyle/>
          <a:p>
            <a:r>
              <a:rPr lang="fr-CH" sz="2400" dirty="0"/>
              <a:t>Le message reçu peut être analysé (</a:t>
            </a:r>
            <a:r>
              <a:rPr lang="fr-CH" sz="2400" i="1" dirty="0"/>
              <a:t>string </a:t>
            </a:r>
            <a:r>
              <a:rPr lang="fr-CH" sz="2400" i="1" dirty="0" err="1"/>
              <a:t>parsing</a:t>
            </a:r>
            <a:r>
              <a:rPr lang="fr-CH" sz="2400" dirty="0"/>
              <a:t>) avec les</a:t>
            </a:r>
          </a:p>
          <a:p>
            <a:r>
              <a:rPr lang="fr-CH" sz="2400" dirty="0"/>
              <a:t>fonctions pour Strings  </a:t>
            </a:r>
            <a:endParaRPr lang="en-US" sz="24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088" y="2084228"/>
            <a:ext cx="2592288" cy="2772984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328" y="2708920"/>
            <a:ext cx="913491" cy="186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187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NetworkWriter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>
          <a:xfrm>
            <a:off x="540000" y="2059200"/>
            <a:ext cx="4176016" cy="4104000"/>
          </a:xfrm>
        </p:spPr>
        <p:txBody>
          <a:bodyPr/>
          <a:lstStyle/>
          <a:p>
            <a:r>
              <a:rPr lang="fr-CH" sz="2400" dirty="0"/>
              <a:t>Envoie un message (string).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/>
              <a:t>Canal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/>
              <a:t>String message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CH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CH" sz="2400" dirty="0"/>
          </a:p>
          <a:p>
            <a:r>
              <a:rPr lang="fr-CH" sz="2400" dirty="0"/>
              <a:t>Le message peut être formé à partir des données</a:t>
            </a:r>
            <a:endParaRPr lang="en-US" sz="24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644" y="2059200"/>
            <a:ext cx="3427462" cy="2287224"/>
          </a:xfrm>
          <a:prstGeom prst="rect">
            <a:avLst/>
          </a:prstGeom>
        </p:spPr>
      </p:pic>
      <p:cxnSp>
        <p:nvCxnSpPr>
          <p:cNvPr id="6" name="Connecteur droit avec flèche 5"/>
          <p:cNvCxnSpPr/>
          <p:nvPr/>
        </p:nvCxnSpPr>
        <p:spPr>
          <a:xfrm flipV="1">
            <a:off x="1835696" y="2559410"/>
            <a:ext cx="3168352" cy="2215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/>
          <p:cNvCxnSpPr/>
          <p:nvPr/>
        </p:nvCxnSpPr>
        <p:spPr>
          <a:xfrm>
            <a:off x="3059832" y="3140968"/>
            <a:ext cx="1883206" cy="8022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48" y="4436425"/>
            <a:ext cx="3095488" cy="197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352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Caractères terminaux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/>
              <a:t>Par convention la fin des messages TCP/IP est indiquée par des </a:t>
            </a:r>
            <a:r>
              <a:rPr lang="fr-CH" sz="2400" i="1" dirty="0"/>
              <a:t>caractères terminaux.</a:t>
            </a:r>
            <a:endParaRPr lang="fr-CH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/>
              <a:t>Dans DA ils doivent explicitement être ajoutés (*</a:t>
            </a:r>
            <a:r>
              <a:rPr lang="fr-CH" sz="2400" dirty="0" err="1"/>
              <a:t>Writer</a:t>
            </a:r>
            <a:r>
              <a:rPr lang="fr-CH" sz="2400" dirty="0"/>
              <a:t>) et enlevés (*Reader) du message</a:t>
            </a:r>
          </a:p>
          <a:p>
            <a:pPr lvl="1"/>
            <a:r>
              <a:rPr lang="fr-CH" sz="2000" dirty="0"/>
              <a:t>Voir fonctions SPLITSTRING() et SUBSTRING</a:t>
            </a:r>
            <a:r>
              <a:rPr lang="fr-CH" dirty="0"/>
              <a:t>()</a:t>
            </a:r>
          </a:p>
          <a:p>
            <a:pPr lvl="1"/>
            <a:r>
              <a:rPr lang="fr-CH" sz="2000" dirty="0"/>
              <a:t>Autres logiciels (</a:t>
            </a:r>
            <a:r>
              <a:rPr lang="fr-CH" sz="2000" dirty="0" err="1"/>
              <a:t>Cognex</a:t>
            </a:r>
            <a:r>
              <a:rPr lang="fr-CH" sz="2000" dirty="0"/>
              <a:t> Insight, VBAI, </a:t>
            </a:r>
            <a:r>
              <a:rPr lang="fr-CH" sz="2000" dirty="0" err="1"/>
              <a:t>Synapxis</a:t>
            </a:r>
            <a:r>
              <a:rPr lang="fr-CH" sz="2000" dirty="0"/>
              <a:t>) offrent une gestion centralisée des </a:t>
            </a:r>
            <a:r>
              <a:rPr lang="fr-CH" sz="2000" i="1" dirty="0"/>
              <a:t>caractères terminaux. </a:t>
            </a:r>
            <a:r>
              <a:rPr lang="fr-CH" sz="2000" dirty="0"/>
              <a:t>Pas 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/>
              <a:t>Les caractères terminaux plus répandus sont ”</a:t>
            </a:r>
            <a:r>
              <a:rPr lang="en-US" sz="2400" dirty="0"/>
              <a:t>\r\n</a:t>
            </a:r>
            <a:r>
              <a:rPr lang="fr-CH" sz="2400" dirty="0"/>
              <a:t>”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fr-CH" sz="2000" dirty="0"/>
              <a:t>0x10 0x13 en hexadécimal, CRLF en ASCII</a:t>
            </a:r>
            <a:endParaRPr lang="en-US" sz="20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8727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Messages binaires</a:t>
            </a:r>
            <a:endParaRPr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sz="2400" dirty="0"/>
              <a:t>Pour envoyer message binaire (valeurs hexadécimaux)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/>
              <a:t>	\x1\x0</a:t>
            </a:r>
            <a:endParaRPr lang="en-US" sz="24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564"/>
          <a:stretch/>
        </p:blipFill>
        <p:spPr>
          <a:xfrm>
            <a:off x="4644008" y="2894875"/>
            <a:ext cx="3528392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570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3E6144A8-BBD3-4C04-AE4E-DD6EA1BAFC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Encoding</a:t>
            </a:r>
            <a:endParaRPr lang="fr-CH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2D6D84C-FAA5-4CE8-AD14-D863B7E197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0000" y="2059200"/>
            <a:ext cx="7704000" cy="4682168"/>
          </a:xfrm>
        </p:spPr>
        <p:txBody>
          <a:bodyPr/>
          <a:lstStyle/>
          <a:p>
            <a:r>
              <a:rPr lang="fr-CH" sz="2400" dirty="0"/>
              <a:t>Attention au codage des caractères </a:t>
            </a:r>
          </a:p>
          <a:p>
            <a:r>
              <a:rPr lang="fr-CH" sz="2400" dirty="0"/>
              <a:t>Soit data=</a:t>
            </a:r>
          </a:p>
          <a:p>
            <a:r>
              <a:rPr lang="fr-CH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\x30{0xAA}\x00\</a:t>
            </a:r>
            <a:r>
              <a:rPr lang="fr-CH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xfe</a:t>
            </a:r>
            <a:r>
              <a:rPr lang="fr-CH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fr-CH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Variables.Tab</a:t>
            </a:r>
            <a:r>
              <a:rPr lang="fr-CH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(127+1)}{</a:t>
            </a:r>
            <a:r>
              <a:rPr lang="fr-CH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Variables.Tab</a:t>
            </a:r>
            <a:r>
              <a:rPr lang="fr-CH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(128+1)}{</a:t>
            </a:r>
            <a:r>
              <a:rPr lang="fr-CH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Variables.Tab</a:t>
            </a:r>
            <a:r>
              <a:rPr lang="fr-CH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(129+1)}\r\n</a:t>
            </a:r>
          </a:p>
          <a:p>
            <a:endParaRPr lang="fr-CH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CH" sz="1400" dirty="0">
                <a:latin typeface="+mn-lt"/>
                <a:cs typeface="Courier New" panose="02070309020205020404" pitchFamily="49" charset="0"/>
              </a:rPr>
              <a:t>Si </a:t>
            </a:r>
            <a:r>
              <a:rPr lang="fr-CH" sz="1400" dirty="0" err="1">
                <a:latin typeface="+mn-lt"/>
                <a:cs typeface="Courier New" panose="02070309020205020404" pitchFamily="49" charset="0"/>
              </a:rPr>
              <a:t>Encoding</a:t>
            </a:r>
            <a:r>
              <a:rPr lang="fr-CH" sz="1400" dirty="0">
                <a:latin typeface="+mn-lt"/>
                <a:cs typeface="Courier New" panose="02070309020205020404" pitchFamily="49" charset="0"/>
              </a:rPr>
              <a:t>:</a:t>
            </a:r>
          </a:p>
          <a:p>
            <a:r>
              <a:rPr lang="fr-CH" sz="1400" dirty="0">
                <a:latin typeface="+mn-lt"/>
                <a:cs typeface="Courier New" panose="02070309020205020404" pitchFamily="49" charset="0"/>
              </a:rPr>
              <a:t>Ascii: </a:t>
            </a:r>
            <a:r>
              <a:rPr lang="fr-CH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{30}{31}{37}{30}{00}{3F}{7F}{3F}{3F}{0D}{0A}</a:t>
            </a:r>
          </a:p>
          <a:p>
            <a:r>
              <a:rPr lang="fr-CH" sz="1400" dirty="0">
                <a:latin typeface="+mn-lt"/>
                <a:cs typeface="Courier New" panose="02070309020205020404" pitchFamily="49" charset="0"/>
              </a:rPr>
              <a:t>	Saturation a 3F des caractères supérieurs à 127 (7 bits)</a:t>
            </a:r>
          </a:p>
          <a:p>
            <a:r>
              <a:rPr lang="fr-CH" sz="1400" dirty="0">
                <a:latin typeface="+mn-lt"/>
                <a:cs typeface="Courier New" panose="02070309020205020404" pitchFamily="49" charset="0"/>
              </a:rPr>
              <a:t>Windows1252: </a:t>
            </a:r>
            <a:r>
              <a:rPr lang="fr-CH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{30}{31}{37}{30}{00}{FE}{7F}{3F}{81}{0D}{0A}</a:t>
            </a:r>
          </a:p>
          <a:p>
            <a:r>
              <a:rPr lang="fr-CH" sz="1400" dirty="0">
                <a:latin typeface="+mn-lt"/>
                <a:cs typeface="Courier New" panose="02070309020205020404" pitchFamily="49" charset="0"/>
              </a:rPr>
              <a:t>Unicode: </a:t>
            </a:r>
            <a:r>
              <a:rPr lang="fr-CH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{30}{00}{31}{00}{37}{00}{30}{00}{00}{00}{FE}{00}{7F}{00}{80}{00}{81}{00}{0D}{00}{0A}{00}</a:t>
            </a:r>
          </a:p>
          <a:p>
            <a:r>
              <a:rPr lang="fr-CH" sz="1400" dirty="0" err="1">
                <a:latin typeface="+mn-lt"/>
                <a:cs typeface="Courier New" panose="02070309020205020404" pitchFamily="49" charset="0"/>
              </a:rPr>
              <a:t>BigEndianUnicode</a:t>
            </a:r>
            <a:r>
              <a:rPr lang="fr-CH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:{00}{30}{00}{31}{00}{37}{00}{30}{00}{00}{00}{FE}{00}{7F}{00}{80}{00}{81}{00}{0D}{00}{0A}</a:t>
            </a:r>
          </a:p>
          <a:p>
            <a:r>
              <a:rPr lang="fr-CH" sz="1400" dirty="0">
                <a:latin typeface="+mn-lt"/>
                <a:cs typeface="Courier New" panose="02070309020205020404" pitchFamily="49" charset="0"/>
              </a:rPr>
              <a:t>UTF8: </a:t>
            </a:r>
            <a:r>
              <a:rPr lang="fr-CH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{30}{31}{37}{30}{00}{C3}{BE}{7F}{C2}{80}{C2}{81}{0D}{0A}</a:t>
            </a:r>
          </a:p>
          <a:p>
            <a:r>
              <a:rPr lang="fr-CH" sz="1400" dirty="0">
                <a:latin typeface="+mn-lt"/>
                <a:cs typeface="Courier New" panose="02070309020205020404" pitchFamily="49" charset="0"/>
              </a:rPr>
              <a:t>UTF7:</a:t>
            </a:r>
            <a:r>
              <a:rPr lang="fr-CH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{30}{31}{37}{30}{2B}{41}{41}{41}{41}{2F}{67}{42}{2F}{41}{49}{41}{41}{67}{51}{2D}{0D}{0A}</a:t>
            </a:r>
          </a:p>
        </p:txBody>
      </p:sp>
    </p:spTree>
    <p:extLst>
      <p:ext uri="{BB962C8B-B14F-4D97-AF65-F5344CB8AC3E}">
        <p14:creationId xmlns:p14="http://schemas.microsoft.com/office/powerpoint/2010/main" val="2028147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30150514-A28A-4986-B5F1-39987EEE16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Désactiver les communications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932C789-99BD-443A-9E73-9B6F96FB5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0000" y="2059200"/>
            <a:ext cx="4248024" cy="4104000"/>
          </a:xfrm>
        </p:spPr>
        <p:txBody>
          <a:bodyPr/>
          <a:lstStyle/>
          <a:p>
            <a:r>
              <a:rPr lang="fr-CH" sz="2400" dirty="0"/>
              <a:t>Pour faciliter le débogage, on peut désactiver les communications </a:t>
            </a:r>
            <a:r>
              <a:rPr lang="fr-CH" sz="2400"/>
              <a:t>en bloc</a:t>
            </a:r>
            <a:endParaRPr lang="fr-CH" sz="2400" dirty="0"/>
          </a:p>
          <a:p>
            <a:endParaRPr lang="fr-CH" sz="2400" dirty="0"/>
          </a:p>
          <a:p>
            <a:r>
              <a:rPr lang="fr-CH" sz="2400" dirty="0"/>
              <a:t>Les </a:t>
            </a:r>
            <a:r>
              <a:rPr lang="fr-CH" sz="2400" dirty="0" err="1"/>
              <a:t>steps</a:t>
            </a:r>
            <a:r>
              <a:rPr lang="fr-CH" sz="2400" dirty="0"/>
              <a:t> de </a:t>
            </a:r>
            <a:r>
              <a:rPr lang="fr-CH" sz="2400" dirty="0" err="1"/>
              <a:t>comm</a:t>
            </a:r>
            <a:r>
              <a:rPr lang="fr-CH" sz="2400" dirty="0"/>
              <a:t> seront contournés, mais pas ceux qui dépendent de leurs résultats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8D1658A-6943-45A1-8E0F-A41F94D98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477" y="2044817"/>
            <a:ext cx="3267075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39704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 Arc 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 Arc ING</Template>
  <TotalTime>163</TotalTime>
  <Words>530</Words>
  <Application>Microsoft Office PowerPoint</Application>
  <PresentationFormat>Affichage à l'écran (4:3)</PresentationFormat>
  <Paragraphs>71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ＭＳ Ｐゴシック</vt:lpstr>
      <vt:lpstr>Arial</vt:lpstr>
      <vt:lpstr>Calibri</vt:lpstr>
      <vt:lpstr>Courier New</vt:lpstr>
      <vt:lpstr>Tahoma</vt:lpstr>
      <vt:lpstr>Presentation Arc ING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Haute Ecole Arc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Lopez De Meneses Yuri</dc:creator>
  <cp:lastModifiedBy>Lopez De Meneses Yuri</cp:lastModifiedBy>
  <cp:revision>15</cp:revision>
  <dcterms:created xsi:type="dcterms:W3CDTF">2016-06-14T07:37:40Z</dcterms:created>
  <dcterms:modified xsi:type="dcterms:W3CDTF">2020-04-22T21:45:44Z</dcterms:modified>
</cp:coreProperties>
</file>