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4" r:id="rId8"/>
    <p:sldId id="263" r:id="rId9"/>
    <p:sldId id="275" r:id="rId10"/>
    <p:sldId id="276" r:id="rId11"/>
    <p:sldId id="277" r:id="rId12"/>
    <p:sldId id="278" r:id="rId13"/>
    <p:sldId id="265" r:id="rId14"/>
    <p:sldId id="273" r:id="rId15"/>
    <p:sldId id="274" r:id="rId16"/>
    <p:sldId id="266" r:id="rId17"/>
    <p:sldId id="267" r:id="rId18"/>
    <p:sldId id="279" r:id="rId19"/>
    <p:sldId id="280" r:id="rId20"/>
    <p:sldId id="282" r:id="rId21"/>
    <p:sldId id="284" r:id="rId22"/>
    <p:sldId id="281" r:id="rId23"/>
    <p:sldId id="283" r:id="rId24"/>
    <p:sldId id="285" r:id="rId25"/>
    <p:sldId id="286" r:id="rId26"/>
    <p:sldId id="269" r:id="rId27"/>
    <p:sldId id="287" r:id="rId28"/>
    <p:sldId id="289" r:id="rId29"/>
    <p:sldId id="270" r:id="rId30"/>
    <p:sldId id="271" r:id="rId31"/>
    <p:sldId id="272" r:id="rId32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51"/>
    <a:srgbClr val="CB1F50"/>
    <a:srgbClr val="7071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4" autoAdjust="0"/>
    <p:restoredTop sz="94643" autoAdjust="0"/>
  </p:normalViewPr>
  <p:slideViewPr>
    <p:cSldViewPr>
      <p:cViewPr varScale="1">
        <p:scale>
          <a:sx n="73" d="100"/>
          <a:sy n="73" d="100"/>
        </p:scale>
        <p:origin x="854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cue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GrisBienvenue.pn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Espace réservé du texte 4"/>
          <p:cNvSpPr>
            <a:spLocks noGrp="1"/>
          </p:cNvSpPr>
          <p:nvPr>
            <p:ph type="body" sz="quarter" idx="10" hasCustomPrompt="1"/>
          </p:nvPr>
        </p:nvSpPr>
        <p:spPr>
          <a:xfrm>
            <a:off x="539750" y="2492375"/>
            <a:ext cx="7704138" cy="79216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3500" b="1"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FR" dirty="0"/>
              <a:t>Bienvenue!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358775" y="962025"/>
            <a:ext cx="8048625" cy="1819275"/>
          </a:xfrm>
          <a:prstGeom prst="rect">
            <a:avLst/>
          </a:prstGeom>
          <a:solidFill>
            <a:srgbClr val="EF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fr-FR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0" hasCustomPrompt="1"/>
          </p:nvPr>
        </p:nvSpPr>
        <p:spPr>
          <a:xfrm>
            <a:off x="539750" y="1916113"/>
            <a:ext cx="7704138" cy="720725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500" b="1"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FR" dirty="0"/>
              <a:t>Titre de la présentation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358775" y="962025"/>
            <a:ext cx="8048625" cy="1819275"/>
          </a:xfrm>
          <a:prstGeom prst="rect">
            <a:avLst/>
          </a:prstGeom>
          <a:solidFill>
            <a:srgbClr val="EF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fr-FR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10" hasCustomPrompt="1"/>
          </p:nvPr>
        </p:nvSpPr>
        <p:spPr>
          <a:xfrm>
            <a:off x="540000" y="1915200"/>
            <a:ext cx="7704000" cy="72000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500" b="1"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FR" dirty="0"/>
              <a:t>Sommaire</a:t>
            </a:r>
          </a:p>
        </p:txBody>
      </p:sp>
      <p:sp>
        <p:nvSpPr>
          <p:cNvPr id="13" name="Espace réservé du texte 12"/>
          <p:cNvSpPr>
            <a:spLocks noGrp="1"/>
          </p:cNvSpPr>
          <p:nvPr>
            <p:ph type="body" sz="quarter" idx="11" hasCustomPrompt="1"/>
          </p:nvPr>
        </p:nvSpPr>
        <p:spPr>
          <a:xfrm>
            <a:off x="2854800" y="3013200"/>
            <a:ext cx="2606400" cy="2541600"/>
          </a:xfrm>
          <a:prstGeom prst="rect">
            <a:avLst/>
          </a:prstGeom>
        </p:spPr>
        <p:txBody>
          <a:bodyPr/>
          <a:lstStyle>
            <a:lvl1pPr>
              <a:buFont typeface="Tahoma" pitchFamily="34" charset="0"/>
              <a:buChar char="—"/>
              <a:defRPr sz="1400" b="1"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1188000">
              <a:buFontTx/>
              <a:buNone/>
              <a:defRPr sz="1100" b="1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>
              <a:buFontTx/>
              <a:buNone/>
              <a:defRPr sz="1100" b="1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3pPr>
          </a:lstStyle>
          <a:p>
            <a:pPr lvl="0"/>
            <a:r>
              <a:rPr lang="fr-CH" dirty="0"/>
              <a:t>Thème 1</a:t>
            </a:r>
          </a:p>
          <a:p>
            <a:pPr lvl="1"/>
            <a:r>
              <a:rPr lang="fr-CH" dirty="0"/>
              <a:t>Sous-thème</a:t>
            </a:r>
          </a:p>
          <a:p>
            <a:pPr lvl="2"/>
            <a:endParaRPr lang="fr-CH" dirty="0"/>
          </a:p>
          <a:p>
            <a:pPr lvl="0"/>
            <a:r>
              <a:rPr lang="fr-CH" dirty="0"/>
              <a:t>Thème 2</a:t>
            </a:r>
          </a:p>
          <a:p>
            <a:pPr lvl="1"/>
            <a:r>
              <a:rPr lang="fr-CH" dirty="0"/>
              <a:t>Sous-thème</a:t>
            </a:r>
          </a:p>
          <a:p>
            <a:pPr lvl="1"/>
            <a:r>
              <a:rPr lang="fr-CH" dirty="0"/>
              <a:t>Sous-thème</a:t>
            </a:r>
          </a:p>
          <a:p>
            <a:pPr lvl="2"/>
            <a:endParaRPr lang="fr-CH" dirty="0"/>
          </a:p>
          <a:p>
            <a:pPr lvl="0"/>
            <a:r>
              <a:rPr lang="fr-CH" dirty="0"/>
              <a:t>Thème 3</a:t>
            </a:r>
          </a:p>
          <a:p>
            <a:pPr lvl="0"/>
            <a:r>
              <a:rPr lang="fr-CH" dirty="0"/>
              <a:t>Thème 4</a:t>
            </a:r>
          </a:p>
          <a:p>
            <a:pPr lvl="0"/>
            <a:r>
              <a:rPr lang="fr-CH" dirty="0"/>
              <a:t>Thème 5</a:t>
            </a:r>
          </a:p>
        </p:txBody>
      </p:sp>
      <p:sp>
        <p:nvSpPr>
          <p:cNvPr id="15" name="Espace réservé du texte 14"/>
          <p:cNvSpPr>
            <a:spLocks noGrp="1"/>
          </p:cNvSpPr>
          <p:nvPr>
            <p:ph type="body" sz="quarter" idx="12" hasCustomPrompt="1"/>
          </p:nvPr>
        </p:nvSpPr>
        <p:spPr>
          <a:xfrm>
            <a:off x="5461200" y="3013200"/>
            <a:ext cx="2606400" cy="2541600"/>
          </a:xfrm>
          <a:prstGeom prst="rect">
            <a:avLst/>
          </a:prstGeom>
        </p:spPr>
        <p:txBody>
          <a:bodyPr/>
          <a:lstStyle>
            <a:lvl1pPr>
              <a:buFont typeface="Tahoma" pitchFamily="34" charset="0"/>
              <a:buChar char="—"/>
              <a:defRPr sz="1400" b="1"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1188000">
              <a:buNone/>
              <a:defRPr sz="1100" b="1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>
              <a:buFontTx/>
              <a:buNone/>
              <a:defRPr sz="1100" b="1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3pPr>
          </a:lstStyle>
          <a:p>
            <a:pPr lvl="0"/>
            <a:r>
              <a:rPr lang="fr-FR" dirty="0"/>
              <a:t>Thème 6</a:t>
            </a:r>
          </a:p>
          <a:p>
            <a:pPr lvl="1"/>
            <a:r>
              <a:rPr lang="fr-CH" b="1" dirty="0">
                <a:solidFill>
                  <a:srgbClr val="707173"/>
                </a:solidFill>
              </a:rPr>
              <a:t>Sous-thème</a:t>
            </a:r>
          </a:p>
          <a:p>
            <a:pPr lvl="2"/>
            <a:endParaRPr lang="fr-CH" b="1" dirty="0">
              <a:solidFill>
                <a:srgbClr val="707173"/>
              </a:solidFill>
            </a:endParaRPr>
          </a:p>
          <a:p>
            <a:pPr lvl="0"/>
            <a:r>
              <a:rPr lang="fr-CH" dirty="0"/>
              <a:t>Thème 7</a:t>
            </a:r>
          </a:p>
          <a:p>
            <a:pPr lvl="1"/>
            <a:r>
              <a:rPr lang="fr-CH" dirty="0"/>
              <a:t>Sous-thème</a:t>
            </a:r>
          </a:p>
          <a:p>
            <a:pPr lvl="1"/>
            <a:r>
              <a:rPr lang="fr-CH" dirty="0"/>
              <a:t>Sous-thème</a:t>
            </a:r>
          </a:p>
          <a:p>
            <a:pPr lvl="2"/>
            <a:endParaRPr lang="fr-CH" dirty="0"/>
          </a:p>
          <a:p>
            <a:pPr lvl="0"/>
            <a:r>
              <a:rPr lang="fr-CH" dirty="0"/>
              <a:t>Thème 8</a:t>
            </a:r>
          </a:p>
          <a:p>
            <a:pPr lvl="0"/>
            <a:r>
              <a:rPr lang="fr-CH" dirty="0"/>
              <a:t>Thème 9</a:t>
            </a:r>
          </a:p>
          <a:p>
            <a:pPr lvl="0"/>
            <a:r>
              <a:rPr lang="fr-CH" dirty="0"/>
              <a:t>Thème 10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358775" y="962025"/>
            <a:ext cx="8048625" cy="1006475"/>
          </a:xfrm>
          <a:prstGeom prst="rect">
            <a:avLst/>
          </a:prstGeom>
          <a:solidFill>
            <a:srgbClr val="EF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fr-FR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4" name="Espace réservé du texte 4"/>
          <p:cNvSpPr>
            <a:spLocks noGrp="1"/>
          </p:cNvSpPr>
          <p:nvPr>
            <p:ph type="body" sz="quarter" idx="10" hasCustomPrompt="1"/>
          </p:nvPr>
        </p:nvSpPr>
        <p:spPr>
          <a:xfrm>
            <a:off x="539552" y="1124744"/>
            <a:ext cx="7704000" cy="72000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500" b="1"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FR" dirty="0"/>
              <a:t>Titre</a:t>
            </a:r>
            <a:endParaRPr lang="fr-CH" dirty="0"/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1" hasCustomPrompt="1"/>
          </p:nvPr>
        </p:nvSpPr>
        <p:spPr>
          <a:xfrm>
            <a:off x="540000" y="2059200"/>
            <a:ext cx="7704000" cy="4104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358775" y="962025"/>
            <a:ext cx="8048625" cy="1006475"/>
          </a:xfrm>
          <a:prstGeom prst="rect">
            <a:avLst/>
          </a:prstGeom>
          <a:solidFill>
            <a:srgbClr val="EF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fr-FR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0" hasCustomPrompt="1"/>
          </p:nvPr>
        </p:nvSpPr>
        <p:spPr>
          <a:xfrm>
            <a:off x="540000" y="1123200"/>
            <a:ext cx="7704000" cy="72000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500" b="1"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FR" dirty="0"/>
              <a:t>Deux colonnes</a:t>
            </a:r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11" hasCustomPrompt="1"/>
          </p:nvPr>
        </p:nvSpPr>
        <p:spPr>
          <a:xfrm>
            <a:off x="1728000" y="2170800"/>
            <a:ext cx="3124800" cy="1656829"/>
          </a:xfrm>
          <a:prstGeom prst="rect">
            <a:avLst/>
          </a:prstGeom>
        </p:spPr>
        <p:txBody>
          <a:bodyPr/>
          <a:lstStyle>
            <a:lvl1pPr>
              <a:buFont typeface="Tahoma" pitchFamily="34" charset="0"/>
              <a:buChar char="—"/>
              <a:defRPr sz="1200" b="1" baseline="0"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648000">
              <a:buNone/>
              <a:defRPr sz="1000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</a:lstStyle>
          <a:p>
            <a:pPr lvl="0"/>
            <a:r>
              <a:rPr lang="fr-FR" dirty="0"/>
              <a:t>Titre 1</a:t>
            </a:r>
          </a:p>
          <a:p>
            <a:pPr lvl="1"/>
            <a:r>
              <a:rPr lang="fr-FR" dirty="0"/>
              <a:t>Texte 1</a:t>
            </a:r>
          </a:p>
          <a:p>
            <a:pPr lvl="1"/>
            <a:endParaRPr lang="fr-FR" dirty="0"/>
          </a:p>
          <a:p>
            <a:pPr lvl="0"/>
            <a:r>
              <a:rPr lang="fr-CH" dirty="0"/>
              <a:t>Titre 2</a:t>
            </a:r>
          </a:p>
          <a:p>
            <a:pPr lvl="1"/>
            <a:r>
              <a:rPr lang="fr-CH" dirty="0"/>
              <a:t>Texte 2</a:t>
            </a:r>
          </a:p>
          <a:p>
            <a:pPr lvl="1"/>
            <a:endParaRPr lang="fr-CH" dirty="0"/>
          </a:p>
          <a:p>
            <a:pPr lvl="0"/>
            <a:r>
              <a:rPr lang="fr-CH" dirty="0"/>
              <a:t>Titre 3</a:t>
            </a:r>
          </a:p>
          <a:p>
            <a:pPr lvl="1"/>
            <a:r>
              <a:rPr lang="fr-CH" dirty="0"/>
              <a:t>Texte 3</a:t>
            </a:r>
          </a:p>
        </p:txBody>
      </p:sp>
      <p:sp>
        <p:nvSpPr>
          <p:cNvPr id="15" name="Espace réservé du texte 14"/>
          <p:cNvSpPr>
            <a:spLocks noGrp="1"/>
          </p:cNvSpPr>
          <p:nvPr>
            <p:ph type="body" sz="quarter" idx="12" hasCustomPrompt="1"/>
          </p:nvPr>
        </p:nvSpPr>
        <p:spPr>
          <a:xfrm>
            <a:off x="5068800" y="2170800"/>
            <a:ext cx="3124800" cy="1656000"/>
          </a:xfrm>
          <a:prstGeom prst="rect">
            <a:avLst/>
          </a:prstGeom>
        </p:spPr>
        <p:txBody>
          <a:bodyPr/>
          <a:lstStyle>
            <a:lvl1pPr>
              <a:buFont typeface="Tahoma" pitchFamily="34" charset="0"/>
              <a:buChar char="—"/>
              <a:defRPr sz="1200" b="1"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648000">
              <a:buFontTx/>
              <a:buNone/>
              <a:defRPr sz="1000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</a:lstStyle>
          <a:p>
            <a:pPr lvl="0"/>
            <a:r>
              <a:rPr lang="fr-FR" dirty="0"/>
              <a:t>Titre 4</a:t>
            </a:r>
          </a:p>
          <a:p>
            <a:pPr lvl="1"/>
            <a:r>
              <a:rPr lang="fr-CH" sz="1000" dirty="0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Texte 4</a:t>
            </a:r>
          </a:p>
          <a:p>
            <a:pPr lvl="1"/>
            <a:endParaRPr lang="fr-CH" sz="1000" dirty="0">
              <a:solidFill>
                <a:srgbClr val="707173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lvl="0"/>
            <a:r>
              <a:rPr lang="fr-CH" dirty="0"/>
              <a:t>Titre 5</a:t>
            </a:r>
          </a:p>
          <a:p>
            <a:pPr lvl="1"/>
            <a:r>
              <a:rPr lang="fr-CH" dirty="0"/>
              <a:t>Texte 5</a:t>
            </a:r>
          </a:p>
          <a:p>
            <a:pPr lvl="1"/>
            <a:endParaRPr lang="fr-CH" dirty="0"/>
          </a:p>
          <a:p>
            <a:pPr lvl="0"/>
            <a:r>
              <a:rPr lang="fr-CH" dirty="0"/>
              <a:t>Titre 6</a:t>
            </a:r>
          </a:p>
          <a:p>
            <a:pPr lvl="1"/>
            <a:r>
              <a:rPr lang="fr-CH" dirty="0"/>
              <a:t>Texte 6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 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358775" y="962025"/>
            <a:ext cx="8048625" cy="1006475"/>
          </a:xfrm>
          <a:prstGeom prst="rect">
            <a:avLst/>
          </a:prstGeom>
          <a:solidFill>
            <a:srgbClr val="EF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fr-FR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0" hasCustomPrompt="1"/>
          </p:nvPr>
        </p:nvSpPr>
        <p:spPr>
          <a:xfrm>
            <a:off x="539552" y="1124744"/>
            <a:ext cx="7704000" cy="72000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500" b="1"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FR" dirty="0"/>
              <a:t>Vide</a:t>
            </a:r>
            <a:endParaRPr lang="fr-CH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 I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CH"/>
          </a:p>
        </p:txBody>
      </p:sp>
      <p:pic>
        <p:nvPicPr>
          <p:cNvPr id="6" name="Image 5" descr="ING.gif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78893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vec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358775" y="962025"/>
            <a:ext cx="8048625" cy="3902075"/>
          </a:xfrm>
          <a:prstGeom prst="rect">
            <a:avLst/>
          </a:prstGeom>
          <a:solidFill>
            <a:srgbClr val="EF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fr-FR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10" hasCustomPrompt="1"/>
          </p:nvPr>
        </p:nvSpPr>
        <p:spPr>
          <a:xfrm>
            <a:off x="1800000" y="5050800"/>
            <a:ext cx="4827600" cy="3600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 baseline="0"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CH" dirty="0"/>
              <a:t>Avec image</a:t>
            </a:r>
          </a:p>
        </p:txBody>
      </p:sp>
      <p:sp>
        <p:nvSpPr>
          <p:cNvPr id="11" name="Espace réservé du texte 10"/>
          <p:cNvSpPr>
            <a:spLocks noGrp="1"/>
          </p:cNvSpPr>
          <p:nvPr>
            <p:ph type="body" sz="quarter" idx="11" hasCustomPrompt="1"/>
          </p:nvPr>
        </p:nvSpPr>
        <p:spPr>
          <a:xfrm>
            <a:off x="1800000" y="5410800"/>
            <a:ext cx="4827600" cy="3603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5pPr>
              <a:buNone/>
              <a:defRPr/>
            </a:lvl5pPr>
          </a:lstStyle>
          <a:p>
            <a:pPr lvl="0"/>
            <a:r>
              <a:rPr lang="fr-CH" sz="900" dirty="0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Texte</a:t>
            </a:r>
            <a:endParaRPr lang="fr-CH" dirty="0"/>
          </a:p>
        </p:txBody>
      </p:sp>
      <p:sp>
        <p:nvSpPr>
          <p:cNvPr id="13" name="Espace réservé pour une image  12"/>
          <p:cNvSpPr>
            <a:spLocks noGrp="1"/>
          </p:cNvSpPr>
          <p:nvPr>
            <p:ph type="pic" sz="quarter" idx="12"/>
          </p:nvPr>
        </p:nvSpPr>
        <p:spPr>
          <a:xfrm>
            <a:off x="1800000" y="961200"/>
            <a:ext cx="6624000" cy="37404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fr-FR"/>
              <a:t>Cliquez sur l'icône pour ajouter une image</a:t>
            </a:r>
            <a:endParaRPr lang="fr-CH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0" y="0"/>
            <a:ext cx="9144000" cy="68624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ZoneTexte 1"/>
          <p:cNvSpPr txBox="1"/>
          <p:nvPr userDrawn="1"/>
        </p:nvSpPr>
        <p:spPr>
          <a:xfrm rot="16200000">
            <a:off x="-1223151" y="4940183"/>
            <a:ext cx="2846412" cy="400110"/>
          </a:xfrm>
          <a:prstGeom prst="rect">
            <a:avLst/>
          </a:prstGeom>
          <a:solidFill>
            <a:srgbClr val="CC0051"/>
          </a:solidFill>
        </p:spPr>
        <p:txBody>
          <a:bodyPr wrap="square" rtlCol="0">
            <a:spAutoFit/>
          </a:bodyPr>
          <a:lstStyle/>
          <a:p>
            <a:r>
              <a:rPr lang="fr-CH" sz="2000" dirty="0">
                <a:solidFill>
                  <a:schemeClr val="bg1"/>
                </a:solidFill>
              </a:rPr>
              <a:t>VISION</a:t>
            </a:r>
            <a:r>
              <a:rPr lang="fr-CH" sz="2000" baseline="0" dirty="0">
                <a:solidFill>
                  <a:schemeClr val="bg1"/>
                </a:solidFill>
              </a:rPr>
              <a:t> INDUSTRIELLE II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5" r:id="rId4"/>
    <p:sldLayoutId id="2147483653" r:id="rId5"/>
    <p:sldLayoutId id="2147483652" r:id="rId6"/>
    <p:sldLayoutId id="2147483656" r:id="rId7"/>
    <p:sldLayoutId id="2147483654" r:id="rId8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/>
              <a:t>Introduction à Design Assistant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539750" y="4581128"/>
            <a:ext cx="42482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/>
              <a:t>Yuri López de Meneses</a:t>
            </a:r>
          </a:p>
          <a:p>
            <a:endParaRPr lang="en-US" dirty="0"/>
          </a:p>
        </p:txBody>
      </p:sp>
      <p:sp>
        <p:nvSpPr>
          <p:cNvPr id="4" name="ZoneTexte 3"/>
          <p:cNvSpPr txBox="1"/>
          <p:nvPr/>
        </p:nvSpPr>
        <p:spPr>
          <a:xfrm>
            <a:off x="546152" y="3471167"/>
            <a:ext cx="45365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2400" dirty="0"/>
              <a:t>3268.1 Vision Industrielle II 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/>
              <a:t>Démarrage</a:t>
            </a:r>
            <a:endParaRPr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fr-CH" sz="2400" dirty="0"/>
              <a:t>Lancer script </a:t>
            </a:r>
            <a:r>
              <a:rPr lang="fr-CH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StopDALicense</a:t>
            </a:r>
            <a:r>
              <a:rPr lang="fr-CH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admin.cmd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CH" sz="2400" dirty="0" err="1"/>
              <a:t>Connect</a:t>
            </a:r>
            <a:r>
              <a:rPr lang="fr-CH" sz="2400" dirty="0"/>
              <a:t> local</a:t>
            </a:r>
            <a:endParaRPr lang="en-US" sz="2400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8809" y="2637312"/>
            <a:ext cx="5119615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5247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/>
              <a:t>Démarrage</a:t>
            </a:r>
            <a:endParaRPr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CH" dirty="0"/>
              <a:t>New Project</a:t>
            </a:r>
            <a:endParaRPr lang="en-US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4323" y="2838975"/>
            <a:ext cx="5562600" cy="3324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636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/>
              <a:t>Démarrage</a:t>
            </a:r>
            <a:endParaRPr lang="en-US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7878" y="2531194"/>
            <a:ext cx="5119615" cy="3600000"/>
          </a:xfrm>
          <a:prstGeom prst="rect">
            <a:avLst/>
          </a:prstGeom>
        </p:spPr>
      </p:pic>
      <p:sp>
        <p:nvSpPr>
          <p:cNvPr id="3" name="Espace réservé du texte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6101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 err="1"/>
              <a:t>Flowchart</a:t>
            </a:r>
            <a:endParaRPr lang="en-US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0268" y="3429000"/>
            <a:ext cx="3623284" cy="2520000"/>
          </a:xfrm>
          <a:prstGeom prst="rect">
            <a:avLst/>
          </a:prstGeom>
        </p:spPr>
      </p:pic>
      <p:sp>
        <p:nvSpPr>
          <p:cNvPr id="3" name="Espace réservé du texte 2"/>
          <p:cNvSpPr>
            <a:spLocks noGrp="1"/>
          </p:cNvSpPr>
          <p:nvPr>
            <p:ph type="body" sz="quarter" idx="11"/>
          </p:nvPr>
        </p:nvSpPr>
        <p:spPr>
          <a:xfrm>
            <a:off x="540000" y="2059200"/>
            <a:ext cx="7704000" cy="4104000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fr-CH" dirty="0" err="1"/>
              <a:t>Add</a:t>
            </a:r>
            <a:r>
              <a:rPr lang="fr-CH" dirty="0"/>
              <a:t> </a:t>
            </a:r>
            <a:r>
              <a:rPr lang="fr-CH" dirty="0" err="1"/>
              <a:t>Step</a:t>
            </a:r>
            <a:r>
              <a:rPr lang="fr-CH" dirty="0"/>
              <a:t>:</a:t>
            </a:r>
          </a:p>
          <a:p>
            <a:pPr marL="1200150" lvl="1" indent="-457200">
              <a:buFont typeface="Arial" panose="020B0604020202020204" pitchFamily="34" charset="0"/>
              <a:buChar char="•"/>
            </a:pPr>
            <a:r>
              <a:rPr lang="fr-CH" dirty="0"/>
              <a:t>Right-Click on transition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09719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 err="1"/>
              <a:t>Flowchart</a:t>
            </a:r>
            <a:endParaRPr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fr-CH" dirty="0" err="1"/>
              <a:t>Step</a:t>
            </a:r>
            <a:r>
              <a:rPr lang="fr-CH" dirty="0"/>
              <a:t> types: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CH" dirty="0"/>
              <a:t>Standard: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CH" sz="2400" dirty="0" err="1">
                <a:solidFill>
                  <a:schemeClr val="tx1"/>
                </a:solidFill>
              </a:rPr>
              <a:t>Processing</a:t>
            </a:r>
            <a:r>
              <a:rPr lang="fr-CH" sz="2400" dirty="0">
                <a:solidFill>
                  <a:schemeClr val="tx1"/>
                </a:solidFill>
              </a:rPr>
              <a:t>: Matrox MIL modules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CH" sz="2400" dirty="0">
                <a:solidFill>
                  <a:schemeClr val="tx1"/>
                </a:solidFill>
              </a:rPr>
              <a:t>Image: Acquisition, </a:t>
            </a:r>
            <a:r>
              <a:rPr lang="fr-CH" sz="2400" dirty="0" err="1">
                <a:solidFill>
                  <a:schemeClr val="tx1"/>
                </a:solidFill>
              </a:rPr>
              <a:t>saving</a:t>
            </a:r>
            <a:endParaRPr lang="fr-CH" sz="2400" dirty="0">
              <a:solidFill>
                <a:schemeClr val="tx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CH" sz="2400" dirty="0">
                <a:solidFill>
                  <a:schemeClr val="tx1"/>
                </a:solidFill>
              </a:rPr>
              <a:t>Flow control: </a:t>
            </a:r>
            <a:r>
              <a:rPr lang="fr-CH" sz="2400" dirty="0" err="1">
                <a:solidFill>
                  <a:schemeClr val="tx1"/>
                </a:solidFill>
              </a:rPr>
              <a:t>Branching</a:t>
            </a:r>
            <a:r>
              <a:rPr lang="fr-CH" sz="2400" dirty="0">
                <a:solidFill>
                  <a:schemeClr val="tx1"/>
                </a:solidFill>
              </a:rPr>
              <a:t>, </a:t>
            </a:r>
            <a:r>
              <a:rPr lang="fr-CH" sz="2400" dirty="0" err="1">
                <a:solidFill>
                  <a:schemeClr val="tx1"/>
                </a:solidFill>
              </a:rPr>
              <a:t>Status</a:t>
            </a:r>
            <a:endParaRPr lang="fr-CH" sz="2400" dirty="0">
              <a:solidFill>
                <a:schemeClr val="tx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CH" sz="2400" dirty="0">
                <a:solidFill>
                  <a:schemeClr val="tx1"/>
                </a:solidFill>
              </a:rPr>
              <a:t>Communications: IO/Serial/Network/Buses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CH" sz="2400" dirty="0">
                <a:solidFill>
                  <a:schemeClr val="tx1"/>
                </a:solidFill>
              </a:rPr>
              <a:t>Communications Robot: </a:t>
            </a:r>
            <a:r>
              <a:rPr lang="fr-CH" sz="2400" dirty="0" err="1">
                <a:solidFill>
                  <a:schemeClr val="tx1"/>
                </a:solidFill>
              </a:rPr>
              <a:t>Specialized</a:t>
            </a:r>
            <a:r>
              <a:rPr lang="fr-CH" sz="2400" dirty="0">
                <a:solidFill>
                  <a:schemeClr val="tx1"/>
                </a:solidFill>
              </a:rPr>
              <a:t> for </a:t>
            </a:r>
            <a:r>
              <a:rPr lang="fr-CH" sz="2400" dirty="0" err="1">
                <a:solidFill>
                  <a:schemeClr val="tx1"/>
                </a:solidFill>
              </a:rPr>
              <a:t>controller</a:t>
            </a:r>
            <a:endParaRPr lang="fr-CH" sz="2400" dirty="0">
              <a:solidFill>
                <a:schemeClr val="tx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CH" sz="2400" dirty="0">
                <a:solidFill>
                  <a:schemeClr val="tx1"/>
                </a:solidFill>
              </a:rPr>
              <a:t>Utilities: </a:t>
            </a:r>
            <a:r>
              <a:rPr lang="fr-CH" sz="2400" dirty="0" err="1">
                <a:solidFill>
                  <a:schemeClr val="tx1"/>
                </a:solidFill>
              </a:rPr>
              <a:t>Counters</a:t>
            </a:r>
            <a:r>
              <a:rPr lang="fr-CH" sz="2400" dirty="0">
                <a:solidFill>
                  <a:schemeClr val="tx1"/>
                </a:solidFill>
              </a:rPr>
              <a:t>, Read/Write to file, Time, etc.</a:t>
            </a:r>
            <a:endParaRPr lang="en-US" sz="2400" dirty="0">
              <a:solidFill>
                <a:schemeClr val="tx1"/>
              </a:solidFill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0749" y="476672"/>
            <a:ext cx="3311571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1987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 err="1"/>
              <a:t>Flowchart</a:t>
            </a:r>
            <a:endParaRPr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CH" dirty="0"/>
              <a:t>Custom </a:t>
            </a:r>
            <a:r>
              <a:rPr lang="fr-CH" dirty="0" err="1"/>
              <a:t>Steps</a:t>
            </a:r>
            <a:r>
              <a:rPr lang="fr-CH" dirty="0"/>
              <a:t>:</a:t>
            </a:r>
          </a:p>
          <a:p>
            <a:pPr lvl="1"/>
            <a:r>
              <a:rPr lang="fr-CH" dirty="0" err="1"/>
              <a:t>Added</a:t>
            </a:r>
            <a:r>
              <a:rPr lang="fr-CH" dirty="0"/>
              <a:t> by user</a:t>
            </a:r>
          </a:p>
          <a:p>
            <a:pPr lvl="1"/>
            <a:r>
              <a:rPr lang="fr-CH" dirty="0" err="1"/>
              <a:t>Written</a:t>
            </a:r>
            <a:r>
              <a:rPr lang="fr-CH" dirty="0"/>
              <a:t> in C#</a:t>
            </a:r>
          </a:p>
          <a:p>
            <a:pPr lvl="1"/>
            <a:endParaRPr lang="fr-CH" dirty="0"/>
          </a:p>
          <a:p>
            <a:r>
              <a:rPr lang="fr-CH" dirty="0" err="1"/>
              <a:t>Flowcharts</a:t>
            </a:r>
            <a:r>
              <a:rPr lang="fr-CH" dirty="0"/>
              <a:t>:</a:t>
            </a:r>
          </a:p>
          <a:p>
            <a:pPr marL="1200150" lvl="1" indent="-457200"/>
            <a:r>
              <a:rPr lang="fr-CH" dirty="0" err="1"/>
              <a:t>Subflowcharts</a:t>
            </a:r>
            <a:r>
              <a:rPr lang="fr-CH" dirty="0"/>
              <a:t> </a:t>
            </a:r>
            <a:r>
              <a:rPr lang="fr-CH" dirty="0" err="1"/>
              <a:t>created</a:t>
            </a:r>
            <a:r>
              <a:rPr lang="fr-CH" dirty="0"/>
              <a:t> by user</a:t>
            </a:r>
            <a:endParaRPr lang="en-US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1981" y="2059200"/>
            <a:ext cx="3311571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9151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CH" dirty="0" err="1"/>
              <a:t>Flowchart</a:t>
            </a:r>
            <a:endParaRPr lang="fr-CH" dirty="0"/>
          </a:p>
          <a:p>
            <a:endParaRPr lang="fr-CH" dirty="0"/>
          </a:p>
          <a:p>
            <a:r>
              <a:rPr lang="fr-CH" dirty="0" err="1"/>
              <a:t>Step</a:t>
            </a:r>
            <a:r>
              <a:rPr lang="fr-CH" dirty="0"/>
              <a:t> type («</a:t>
            </a:r>
            <a:r>
              <a:rPr lang="fr-CH" dirty="0" err="1"/>
              <a:t>family</a:t>
            </a:r>
            <a:r>
              <a:rPr lang="fr-CH" dirty="0"/>
              <a:t>»)</a:t>
            </a:r>
          </a:p>
          <a:p>
            <a:endParaRPr lang="fr-CH" dirty="0"/>
          </a:p>
          <a:p>
            <a:r>
              <a:rPr lang="fr-CH" dirty="0" err="1"/>
              <a:t>Step</a:t>
            </a:r>
            <a:r>
              <a:rPr lang="fr-CH" dirty="0"/>
              <a:t> </a:t>
            </a:r>
            <a:r>
              <a:rPr lang="fr-CH" dirty="0" err="1"/>
              <a:t>name</a:t>
            </a:r>
            <a:endParaRPr lang="fr-CH" dirty="0"/>
          </a:p>
          <a:p>
            <a:r>
              <a:rPr lang="fr-CH" dirty="0"/>
              <a:t>	User </a:t>
            </a:r>
            <a:r>
              <a:rPr lang="fr-CH" dirty="0" err="1"/>
              <a:t>defined</a:t>
            </a:r>
            <a:endParaRPr lang="en-US" dirty="0"/>
          </a:p>
        </p:txBody>
      </p:sp>
      <p:sp>
        <p:nvSpPr>
          <p:cNvPr id="2" name="Espace réservé du texte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 err="1"/>
              <a:t>Flowchart</a:t>
            </a:r>
            <a:endParaRPr lang="en-US" dirty="0"/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6056" y="1917232"/>
            <a:ext cx="2290909" cy="3600000"/>
          </a:xfrm>
          <a:prstGeom prst="rect">
            <a:avLst/>
          </a:prstGeom>
        </p:spPr>
      </p:pic>
      <p:cxnSp>
        <p:nvCxnSpPr>
          <p:cNvPr id="10" name="Connecteur droit avec flèche 9"/>
          <p:cNvCxnSpPr/>
          <p:nvPr/>
        </p:nvCxnSpPr>
        <p:spPr>
          <a:xfrm flipV="1">
            <a:off x="2771800" y="4121409"/>
            <a:ext cx="2664296" cy="4962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avec flèche 5"/>
          <p:cNvCxnSpPr/>
          <p:nvPr/>
        </p:nvCxnSpPr>
        <p:spPr>
          <a:xfrm>
            <a:off x="4391552" y="3535880"/>
            <a:ext cx="1044544" cy="3710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avec flèche 7"/>
          <p:cNvCxnSpPr/>
          <p:nvPr/>
        </p:nvCxnSpPr>
        <p:spPr>
          <a:xfrm flipV="1">
            <a:off x="4391552" y="3140968"/>
            <a:ext cx="1116552" cy="3949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avec flèche 12"/>
          <p:cNvCxnSpPr/>
          <p:nvPr/>
        </p:nvCxnSpPr>
        <p:spPr>
          <a:xfrm flipV="1">
            <a:off x="2555776" y="2132856"/>
            <a:ext cx="2520280" cy="216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08250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 err="1"/>
              <a:t>Subflowcharts</a:t>
            </a:r>
            <a:endParaRPr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fr-CH" dirty="0" err="1"/>
              <a:t>Similar</a:t>
            </a:r>
            <a:r>
              <a:rPr lang="fr-CH" dirty="0"/>
              <a:t> to </a:t>
            </a:r>
            <a:r>
              <a:rPr lang="fr-CH" dirty="0" err="1"/>
              <a:t>functions</a:t>
            </a:r>
            <a:endParaRPr lang="fr-CH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CH" dirty="0" err="1"/>
              <a:t>Added</a:t>
            </a:r>
            <a:r>
              <a:rPr lang="fr-CH" dirty="0"/>
              <a:t> as «</a:t>
            </a:r>
            <a:r>
              <a:rPr lang="fr-CH" dirty="0" err="1"/>
              <a:t>steps</a:t>
            </a:r>
            <a:r>
              <a:rPr lang="fr-CH" dirty="0"/>
              <a:t>»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6056" y="2029112"/>
            <a:ext cx="2337458" cy="1778731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80" y="3399436"/>
            <a:ext cx="3057946" cy="2763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9362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 err="1"/>
              <a:t>Subflowcharts</a:t>
            </a:r>
            <a:endParaRPr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fr-CH" sz="2800" dirty="0" err="1"/>
              <a:t>Like</a:t>
            </a:r>
            <a:r>
              <a:rPr lang="fr-CH" sz="2800" dirty="0"/>
              <a:t> a </a:t>
            </a:r>
            <a:r>
              <a:rPr lang="fr-CH" sz="2800" dirty="0" err="1"/>
              <a:t>function</a:t>
            </a:r>
            <a:r>
              <a:rPr lang="fr-CH" sz="2800" dirty="0"/>
              <a:t>: </a:t>
            </a:r>
            <a:r>
              <a:rPr lang="fr-CH" sz="2800" dirty="0" err="1"/>
              <a:t>Define</a:t>
            </a:r>
            <a:r>
              <a:rPr lang="fr-CH" sz="2800" dirty="0"/>
              <a:t> inputs, outputs, flow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CH" sz="2800" dirty="0"/>
              <a:t>Inputs:</a:t>
            </a:r>
            <a:endParaRPr lang="en-US" sz="2800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5816" y="2708920"/>
            <a:ext cx="1370260" cy="1405038"/>
          </a:xfrm>
          <a:prstGeom prst="rect">
            <a:avLst/>
          </a:prstGeom>
        </p:spPr>
      </p:pic>
      <p:sp>
        <p:nvSpPr>
          <p:cNvPr id="6" name="ZoneTexte 5"/>
          <p:cNvSpPr txBox="1"/>
          <p:nvPr/>
        </p:nvSpPr>
        <p:spPr>
          <a:xfrm>
            <a:off x="4860032" y="2885266"/>
            <a:ext cx="19255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/>
              <a:t>Select input «</a:t>
            </a:r>
            <a:r>
              <a:rPr lang="fr-CH" dirty="0" err="1"/>
              <a:t>ball</a:t>
            </a:r>
            <a:r>
              <a:rPr lang="fr-CH" dirty="0"/>
              <a:t>»</a:t>
            </a:r>
            <a:endParaRPr lang="en-US" dirty="0"/>
          </a:p>
        </p:txBody>
      </p:sp>
      <p:cxnSp>
        <p:nvCxnSpPr>
          <p:cNvPr id="8" name="Connecteur droit avec flèche 7"/>
          <p:cNvCxnSpPr>
            <a:stCxn id="6" idx="1"/>
          </p:cNvCxnSpPr>
          <p:nvPr/>
        </p:nvCxnSpPr>
        <p:spPr>
          <a:xfrm flipH="1">
            <a:off x="3275856" y="3069932"/>
            <a:ext cx="1584176" cy="5750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ZoneTexte 8"/>
          <p:cNvSpPr txBox="1"/>
          <p:nvPr/>
        </p:nvSpPr>
        <p:spPr>
          <a:xfrm>
            <a:off x="5076056" y="3717032"/>
            <a:ext cx="22374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 dirty="0" err="1"/>
              <a:t>Define</a:t>
            </a:r>
            <a:r>
              <a:rPr lang="fr-CH" dirty="0"/>
              <a:t> input variables</a:t>
            </a:r>
            <a:endParaRPr lang="en-US" dirty="0"/>
          </a:p>
        </p:txBody>
      </p:sp>
      <p:pic>
        <p:nvPicPr>
          <p:cNvPr id="12" name="Imag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7744" y="4444426"/>
            <a:ext cx="6139408" cy="1754117"/>
          </a:xfrm>
          <a:prstGeom prst="rect">
            <a:avLst/>
          </a:prstGeom>
        </p:spPr>
      </p:pic>
      <p:cxnSp>
        <p:nvCxnSpPr>
          <p:cNvPr id="11" name="Connecteur droit avec flèche 10"/>
          <p:cNvCxnSpPr>
            <a:stCxn id="9" idx="1"/>
          </p:cNvCxnSpPr>
          <p:nvPr/>
        </p:nvCxnSpPr>
        <p:spPr>
          <a:xfrm flipH="1">
            <a:off x="3707904" y="3901698"/>
            <a:ext cx="1368152" cy="67943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51547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 err="1"/>
              <a:t>Subflowchart</a:t>
            </a:r>
            <a:endParaRPr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fr-CH" sz="2800" dirty="0"/>
              <a:t>Insert </a:t>
            </a:r>
            <a:r>
              <a:rPr lang="fr-CH" sz="2800" dirty="0" err="1"/>
              <a:t>steps</a:t>
            </a:r>
            <a:r>
              <a:rPr lang="fr-CH" sz="2800" dirty="0"/>
              <a:t> and configure </a:t>
            </a:r>
            <a:r>
              <a:rPr lang="fr-CH" sz="2800" dirty="0" err="1"/>
              <a:t>them</a:t>
            </a: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fr-CH" sz="2800" dirty="0"/>
          </a:p>
          <a:p>
            <a:endParaRPr lang="fr-CH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CH" sz="2800" dirty="0" err="1"/>
              <a:t>Define</a:t>
            </a:r>
            <a:r>
              <a:rPr lang="fr-CH" sz="2800" dirty="0"/>
              <a:t> outputs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fr-CH" sz="2800" dirty="0"/>
          </a:p>
          <a:p>
            <a:endParaRPr lang="fr-CH" sz="2800" dirty="0"/>
          </a:p>
          <a:p>
            <a:endParaRPr lang="fr-CH" sz="2800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4208" y="2043900"/>
            <a:ext cx="1189856" cy="2049196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637" y="4108396"/>
            <a:ext cx="1279802" cy="2087621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9792" y="4203785"/>
            <a:ext cx="5634512" cy="1848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5559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 err="1"/>
              <a:t>Subflowchart</a:t>
            </a:r>
            <a:endParaRPr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fr-CH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fr-CH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fr-CH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fr-CH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fr-CH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CH" sz="2800" dirty="0"/>
              <a:t>Can </a:t>
            </a:r>
            <a:r>
              <a:rPr lang="fr-CH" sz="2800" dirty="0" err="1"/>
              <a:t>be</a:t>
            </a:r>
            <a:r>
              <a:rPr lang="fr-CH" sz="2800" dirty="0"/>
              <a:t> </a:t>
            </a:r>
            <a:r>
              <a:rPr lang="fr-CH" sz="2800" dirty="0" err="1"/>
              <a:t>further</a:t>
            </a:r>
            <a:r>
              <a:rPr lang="fr-CH" sz="2800" dirty="0"/>
              <a:t> </a:t>
            </a:r>
            <a:r>
              <a:rPr lang="fr-CH" sz="2800" dirty="0" err="1"/>
              <a:t>inserted</a:t>
            </a:r>
            <a:r>
              <a:rPr lang="fr-CH" sz="2800" dirty="0"/>
              <a:t> in main </a:t>
            </a:r>
            <a:r>
              <a:rPr lang="fr-CH" sz="2800" dirty="0" err="1"/>
              <a:t>flowchart</a:t>
            </a:r>
            <a:endParaRPr lang="fr-CH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CH" sz="2800" dirty="0"/>
              <a:t>Can </a:t>
            </a:r>
            <a:r>
              <a:rPr lang="fr-CH" sz="2800" dirty="0" err="1"/>
              <a:t>be</a:t>
            </a:r>
            <a:r>
              <a:rPr lang="fr-CH" sz="2800" dirty="0"/>
              <a:t> </a:t>
            </a:r>
            <a:r>
              <a:rPr lang="fr-CH" sz="2800" dirty="0" err="1"/>
              <a:t>moved</a:t>
            </a:r>
            <a:r>
              <a:rPr lang="fr-CH" sz="2800" dirty="0"/>
              <a:t> to </a:t>
            </a:r>
            <a:r>
              <a:rPr lang="fr-CH" sz="2800" dirty="0" err="1"/>
              <a:t>library</a:t>
            </a:r>
            <a:r>
              <a:rPr lang="fr-CH" sz="2800" dirty="0"/>
              <a:t> (for </a:t>
            </a:r>
            <a:r>
              <a:rPr lang="fr-CH" sz="2800" dirty="0" err="1"/>
              <a:t>other</a:t>
            </a:r>
            <a:r>
              <a:rPr lang="fr-CH" sz="2800" dirty="0"/>
              <a:t> </a:t>
            </a:r>
            <a:r>
              <a:rPr lang="fr-CH" sz="2800" dirty="0" err="1"/>
              <a:t>projects</a:t>
            </a:r>
            <a:r>
              <a:rPr lang="fr-CH" sz="2800" dirty="0"/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CH" sz="2800" dirty="0"/>
              <a:t>Can </a:t>
            </a:r>
            <a:r>
              <a:rPr lang="fr-CH" sz="2800" dirty="0" err="1"/>
              <a:t>be</a:t>
            </a:r>
            <a:r>
              <a:rPr lang="fr-CH" sz="2800" dirty="0"/>
              <a:t> </a:t>
            </a:r>
            <a:r>
              <a:rPr lang="fr-CH" sz="2800" dirty="0" err="1"/>
              <a:t>exported</a:t>
            </a:r>
            <a:r>
              <a:rPr lang="fr-CH" sz="2800" dirty="0"/>
              <a:t>/</a:t>
            </a:r>
            <a:r>
              <a:rPr lang="fr-CH" sz="2800" dirty="0" err="1"/>
              <a:t>imported</a:t>
            </a:r>
            <a:r>
              <a:rPr lang="fr-CH" sz="2800" dirty="0"/>
              <a:t> (</a:t>
            </a:r>
            <a:r>
              <a:rPr lang="fr-CH" sz="2800" dirty="0" err="1"/>
              <a:t>other</a:t>
            </a:r>
            <a:r>
              <a:rPr lang="fr-CH" sz="2800" dirty="0"/>
              <a:t> </a:t>
            </a:r>
            <a:r>
              <a:rPr lang="fr-CH" sz="2800" dirty="0" err="1"/>
              <a:t>platforms</a:t>
            </a:r>
            <a:r>
              <a:rPr lang="fr-CH" sz="2800" dirty="0"/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577" y="1816566"/>
            <a:ext cx="6835950" cy="280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8581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 err="1"/>
              <a:t>Flowchart</a:t>
            </a:r>
            <a:endParaRPr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752" y="2349280"/>
            <a:ext cx="5119615" cy="3600000"/>
          </a:xfrm>
          <a:prstGeom prst="rect">
            <a:avLst/>
          </a:prstGeom>
        </p:spPr>
      </p:pic>
      <p:sp>
        <p:nvSpPr>
          <p:cNvPr id="6" name="ZoneTexte 5"/>
          <p:cNvSpPr txBox="1"/>
          <p:nvPr/>
        </p:nvSpPr>
        <p:spPr>
          <a:xfrm>
            <a:off x="2743271" y="5552555"/>
            <a:ext cx="1728192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fr-CH" dirty="0" err="1">
                <a:solidFill>
                  <a:srgbClr val="FF0000"/>
                </a:solidFill>
              </a:rPr>
              <a:t>Step</a:t>
            </a:r>
            <a:r>
              <a:rPr lang="fr-CH" dirty="0">
                <a:solidFill>
                  <a:srgbClr val="FF0000"/>
                </a:solidFill>
              </a:rPr>
              <a:t> </a:t>
            </a:r>
            <a:r>
              <a:rPr lang="fr-CH" dirty="0" err="1">
                <a:solidFill>
                  <a:srgbClr val="FF0000"/>
                </a:solidFill>
              </a:rPr>
              <a:t>parameters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4899559" y="3964614"/>
            <a:ext cx="1219556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fr-CH" dirty="0" err="1">
                <a:solidFill>
                  <a:srgbClr val="FF0000"/>
                </a:solidFill>
              </a:rPr>
              <a:t>Step</a:t>
            </a:r>
            <a:r>
              <a:rPr lang="fr-CH" dirty="0">
                <a:solidFill>
                  <a:srgbClr val="FF0000"/>
                </a:solidFill>
              </a:rPr>
              <a:t> image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5220072" y="5301208"/>
            <a:ext cx="1224136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fr-CH" dirty="0" err="1">
                <a:solidFill>
                  <a:srgbClr val="FF0000"/>
                </a:solidFill>
              </a:rPr>
              <a:t>Step</a:t>
            </a:r>
            <a:r>
              <a:rPr lang="fr-CH" dirty="0">
                <a:solidFill>
                  <a:srgbClr val="FF0000"/>
                </a:solidFill>
              </a:rPr>
              <a:t> </a:t>
            </a:r>
            <a:r>
              <a:rPr lang="fr-CH" dirty="0" err="1">
                <a:solidFill>
                  <a:srgbClr val="FF0000"/>
                </a:solidFill>
              </a:rPr>
              <a:t>status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1799713" y="3140968"/>
            <a:ext cx="943558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fr-CH" dirty="0">
                <a:solidFill>
                  <a:srgbClr val="FF0000"/>
                </a:solidFill>
              </a:rPr>
              <a:t>Actions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3115008" y="4010780"/>
            <a:ext cx="1080120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fr-CH" dirty="0" err="1">
                <a:solidFill>
                  <a:srgbClr val="FF0000"/>
                </a:solidFill>
              </a:rPr>
              <a:t>Step</a:t>
            </a:r>
            <a:r>
              <a:rPr lang="fr-CH" dirty="0">
                <a:solidFill>
                  <a:srgbClr val="FF0000"/>
                </a:solidFill>
              </a:rPr>
              <a:t> in </a:t>
            </a:r>
          </a:p>
          <a:p>
            <a:r>
              <a:rPr lang="fr-CH" dirty="0" err="1">
                <a:solidFill>
                  <a:srgbClr val="FF0000"/>
                </a:solidFill>
              </a:rPr>
              <a:t>flowchart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1" name="ZoneTexte 10"/>
          <p:cNvSpPr txBox="1"/>
          <p:nvPr/>
        </p:nvSpPr>
        <p:spPr>
          <a:xfrm>
            <a:off x="6779850" y="4139041"/>
            <a:ext cx="1219556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fr-CH" dirty="0" err="1">
                <a:solidFill>
                  <a:srgbClr val="FF0000"/>
                </a:solidFill>
              </a:rPr>
              <a:t>Step</a:t>
            </a:r>
            <a:r>
              <a:rPr lang="fr-CH" dirty="0">
                <a:solidFill>
                  <a:srgbClr val="FF0000"/>
                </a:solidFill>
              </a:rPr>
              <a:t> Log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02764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 err="1"/>
              <a:t>Flowchart</a:t>
            </a:r>
            <a:endParaRPr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CH" dirty="0" err="1"/>
              <a:t>Step</a:t>
            </a:r>
            <a:r>
              <a:rPr lang="fr-CH" dirty="0"/>
              <a:t> </a:t>
            </a:r>
            <a:r>
              <a:rPr lang="fr-CH" dirty="0" err="1"/>
              <a:t>parameters</a:t>
            </a:r>
            <a:endParaRPr lang="fr-CH" dirty="0"/>
          </a:p>
          <a:p>
            <a:pPr marL="1200150" lvl="1" indent="-457200">
              <a:buFont typeface="Arial" panose="020B0604020202020204" pitchFamily="34" charset="0"/>
              <a:buChar char="•"/>
            </a:pPr>
            <a:r>
              <a:rPr lang="fr-CH" dirty="0"/>
              <a:t>Values</a:t>
            </a:r>
          </a:p>
          <a:p>
            <a:pPr marL="1200150" lvl="1" indent="-457200">
              <a:buFont typeface="Arial" panose="020B0604020202020204" pitchFamily="34" charset="0"/>
              <a:buChar char="•"/>
            </a:pPr>
            <a:r>
              <a:rPr lang="fr-CH" dirty="0"/>
              <a:t>Link to variables (all global!)</a:t>
            </a:r>
            <a:endParaRPr lang="en-US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1800" y="3643200"/>
            <a:ext cx="5607179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3233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 err="1"/>
              <a:t>Flowchart</a:t>
            </a:r>
            <a:endParaRPr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CH" dirty="0"/>
              <a:t>Variables (in </a:t>
            </a:r>
            <a:r>
              <a:rPr lang="fr-CH" dirty="0" err="1"/>
              <a:t>TreeView</a:t>
            </a:r>
            <a:r>
              <a:rPr lang="fr-CH" dirty="0"/>
              <a:t>)</a:t>
            </a:r>
          </a:p>
          <a:p>
            <a:pPr lvl="1"/>
            <a:r>
              <a:rPr lang="fr-CH" dirty="0" err="1"/>
              <a:t>Typed</a:t>
            </a:r>
            <a:endParaRPr lang="fr-CH" dirty="0"/>
          </a:p>
          <a:p>
            <a:pPr lvl="1"/>
            <a:r>
              <a:rPr lang="fr-CH" dirty="0"/>
              <a:t>Inputs / Outputs / Variables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0072" y="3576089"/>
            <a:ext cx="2543175" cy="2562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8566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 err="1"/>
              <a:t>Flowchart</a:t>
            </a:r>
            <a:endParaRPr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CH" dirty="0" err="1"/>
              <a:t>Step</a:t>
            </a:r>
            <a:r>
              <a:rPr lang="fr-CH" dirty="0"/>
              <a:t> </a:t>
            </a:r>
            <a:r>
              <a:rPr lang="fr-CH" dirty="0" err="1"/>
              <a:t>Status</a:t>
            </a:r>
            <a:r>
              <a:rPr lang="fr-CH" dirty="0"/>
              <a:t> = Camera images </a:t>
            </a:r>
            <a:endParaRPr lang="en-US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792" y="3573016"/>
            <a:ext cx="5337026" cy="243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9473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 err="1"/>
              <a:t>Operator</a:t>
            </a:r>
            <a:r>
              <a:rPr lang="fr-CH" dirty="0"/>
              <a:t> </a:t>
            </a:r>
            <a:r>
              <a:rPr lang="fr-CH" dirty="0" err="1"/>
              <a:t>View</a:t>
            </a:r>
            <a:endParaRPr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fr-CH" dirty="0"/>
              <a:t>In HTML5</a:t>
            </a:r>
          </a:p>
          <a:p>
            <a:endParaRPr lang="fr-CH" dirty="0"/>
          </a:p>
          <a:p>
            <a:r>
              <a:rPr lang="fr-CH" dirty="0" err="1"/>
              <a:t>Grid</a:t>
            </a:r>
            <a:r>
              <a:rPr lang="fr-CH" dirty="0"/>
              <a:t> </a:t>
            </a:r>
            <a:r>
              <a:rPr lang="fr-CH" dirty="0" err="1"/>
              <a:t>based</a:t>
            </a:r>
            <a:endParaRPr lang="fr-CH" dirty="0"/>
          </a:p>
          <a:p>
            <a:r>
              <a:rPr lang="fr-CH" dirty="0"/>
              <a:t>(table)</a:t>
            </a:r>
            <a:endParaRPr lang="en-US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3937" y="2563200"/>
            <a:ext cx="5119615" cy="3600000"/>
          </a:xfrm>
          <a:prstGeom prst="rect">
            <a:avLst/>
          </a:prstGeom>
        </p:spPr>
      </p:pic>
      <p:sp>
        <p:nvSpPr>
          <p:cNvPr id="5" name="Ellipse 4"/>
          <p:cNvSpPr/>
          <p:nvPr/>
        </p:nvSpPr>
        <p:spPr>
          <a:xfrm>
            <a:off x="4139952" y="2708920"/>
            <a:ext cx="720080" cy="216024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ZoneTexte 5"/>
          <p:cNvSpPr txBox="1"/>
          <p:nvPr/>
        </p:nvSpPr>
        <p:spPr>
          <a:xfrm>
            <a:off x="3419872" y="5229200"/>
            <a:ext cx="1944216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fr-CH" dirty="0" err="1">
                <a:solidFill>
                  <a:srgbClr val="FF0000"/>
                </a:solidFill>
              </a:rPr>
              <a:t>View</a:t>
            </a:r>
            <a:r>
              <a:rPr lang="fr-CH" dirty="0">
                <a:solidFill>
                  <a:srgbClr val="FF0000"/>
                </a:solidFill>
              </a:rPr>
              <a:t> </a:t>
            </a:r>
            <a:r>
              <a:rPr lang="fr-CH" dirty="0" err="1">
                <a:solidFill>
                  <a:srgbClr val="FF0000"/>
                </a:solidFill>
              </a:rPr>
              <a:t>parameters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4932040" y="3212976"/>
            <a:ext cx="1031097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fr-CH" dirty="0" err="1">
                <a:solidFill>
                  <a:srgbClr val="FF0000"/>
                </a:solidFill>
              </a:rPr>
              <a:t>Preview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47398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 err="1"/>
              <a:t>Operator</a:t>
            </a:r>
            <a:r>
              <a:rPr lang="fr-CH" dirty="0"/>
              <a:t> </a:t>
            </a:r>
            <a:r>
              <a:rPr lang="fr-CH" dirty="0" err="1"/>
              <a:t>View</a:t>
            </a:r>
            <a:r>
              <a:rPr lang="fr-CH" dirty="0"/>
              <a:t> configuration</a:t>
            </a:r>
            <a:endParaRPr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CH" sz="2800" dirty="0" err="1"/>
              <a:t>Operator</a:t>
            </a:r>
            <a:r>
              <a:rPr lang="fr-CH" sz="2800" dirty="0"/>
              <a:t> </a:t>
            </a:r>
            <a:r>
              <a:rPr lang="fr-CH" sz="2800" dirty="0" err="1"/>
              <a:t>View</a:t>
            </a:r>
            <a:r>
              <a:rPr lang="fr-CH" sz="2800" dirty="0"/>
              <a:t> </a:t>
            </a:r>
            <a:r>
              <a:rPr lang="fr-CH" sz="2800" dirty="0" err="1"/>
              <a:t>Layout</a:t>
            </a:r>
            <a:endParaRPr lang="fr-CH" sz="2800" dirty="0"/>
          </a:p>
          <a:p>
            <a:endParaRPr lang="en-US" sz="2800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2996952"/>
            <a:ext cx="6315620" cy="2545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9952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 err="1"/>
              <a:t>Operator</a:t>
            </a:r>
            <a:r>
              <a:rPr lang="fr-CH" dirty="0"/>
              <a:t> </a:t>
            </a:r>
            <a:r>
              <a:rPr lang="fr-CH" dirty="0" err="1"/>
              <a:t>View</a:t>
            </a:r>
            <a:r>
              <a:rPr lang="fr-CH" dirty="0"/>
              <a:t> configuration</a:t>
            </a:r>
            <a:endParaRPr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1"/>
          </p:nvPr>
        </p:nvSpPr>
        <p:spPr>
          <a:xfrm>
            <a:off x="540000" y="2059200"/>
            <a:ext cx="4176016" cy="4104000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fr-CH" sz="2800" dirty="0"/>
              <a:t>Display image to </a:t>
            </a:r>
            <a:r>
              <a:rPr lang="fr-CH" sz="2800" dirty="0" err="1"/>
              <a:t>be</a:t>
            </a:r>
            <a:r>
              <a:rPr lang="fr-CH" sz="2800" dirty="0"/>
              <a:t> </a:t>
            </a:r>
            <a:r>
              <a:rPr lang="fr-CH" sz="2800" dirty="0" err="1"/>
              <a:t>associated</a:t>
            </a:r>
            <a:r>
              <a:rPr lang="fr-CH" sz="2800" dirty="0"/>
              <a:t> to an image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9461" y="1628800"/>
            <a:ext cx="3521500" cy="2983735"/>
          </a:xfrm>
          <a:prstGeom prst="rect">
            <a:avLst/>
          </a:prstGeom>
        </p:spPr>
      </p:pic>
      <p:cxnSp>
        <p:nvCxnSpPr>
          <p:cNvPr id="6" name="Connecteur droit avec flèche 5"/>
          <p:cNvCxnSpPr/>
          <p:nvPr/>
        </p:nvCxnSpPr>
        <p:spPr>
          <a:xfrm>
            <a:off x="3779912" y="2852936"/>
            <a:ext cx="1800200" cy="115212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22522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 err="1"/>
              <a:t>Operator</a:t>
            </a:r>
            <a:r>
              <a:rPr lang="fr-CH" dirty="0"/>
              <a:t> </a:t>
            </a:r>
            <a:r>
              <a:rPr lang="fr-CH" dirty="0" err="1"/>
              <a:t>View</a:t>
            </a:r>
            <a:r>
              <a:rPr lang="fr-CH" dirty="0"/>
              <a:t> configuration</a:t>
            </a:r>
            <a:endParaRPr lang="en-US" dirty="0"/>
          </a:p>
          <a:p>
            <a:endParaRPr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fr-CH" sz="2800" dirty="0"/>
              <a:t>Annotations (overlays) to </a:t>
            </a:r>
            <a:r>
              <a:rPr lang="fr-CH" sz="2800" dirty="0" err="1"/>
              <a:t>be</a:t>
            </a:r>
            <a:r>
              <a:rPr lang="fr-CH" sz="2800" dirty="0"/>
              <a:t> </a:t>
            </a:r>
            <a:r>
              <a:rPr lang="fr-CH" sz="2800" dirty="0" err="1"/>
              <a:t>defined</a:t>
            </a:r>
            <a:endParaRPr lang="fr-CH" sz="2800" dirty="0"/>
          </a:p>
          <a:p>
            <a:pPr marL="1200150" lvl="1" indent="-457200">
              <a:buFont typeface="Arial" panose="020B0604020202020204" pitchFamily="34" charset="0"/>
              <a:buChar char="•"/>
            </a:pPr>
            <a:r>
              <a:rPr lang="fr-CH" sz="2400" dirty="0"/>
              <a:t>Select </a:t>
            </a:r>
            <a:r>
              <a:rPr lang="fr-CH" sz="2400" dirty="0" err="1"/>
              <a:t>from</a:t>
            </a:r>
            <a:r>
              <a:rPr lang="fr-CH" sz="2400" dirty="0"/>
              <a:t> </a:t>
            </a:r>
            <a:r>
              <a:rPr lang="fr-CH" sz="2400" dirty="0" err="1"/>
              <a:t>each</a:t>
            </a:r>
            <a:r>
              <a:rPr lang="fr-CH" sz="2400" dirty="0"/>
              <a:t> </a:t>
            </a:r>
            <a:r>
              <a:rPr lang="fr-CH" sz="2400" dirty="0" err="1"/>
              <a:t>step</a:t>
            </a:r>
            <a:endParaRPr lang="fr-CH" sz="2400" dirty="0"/>
          </a:p>
          <a:p>
            <a:pPr marL="1200150" lvl="1" indent="-457200">
              <a:buFont typeface="Arial" panose="020B0604020202020204" pitchFamily="34" charset="0"/>
              <a:buChar char="•"/>
            </a:pPr>
            <a:endParaRPr lang="fr-CH" sz="2400" dirty="0"/>
          </a:p>
          <a:p>
            <a:pPr lvl="1" indent="0">
              <a:buNone/>
            </a:pPr>
            <a:endParaRPr lang="fr-CH" sz="2400" dirty="0"/>
          </a:p>
          <a:p>
            <a:pPr marL="1200150" lvl="1" indent="-457200">
              <a:buFont typeface="Arial" panose="020B0604020202020204" pitchFamily="34" charset="0"/>
              <a:buChar char="•"/>
            </a:pPr>
            <a:r>
              <a:rPr lang="fr-CH" sz="2400" dirty="0" err="1"/>
              <a:t>Define</a:t>
            </a:r>
            <a:r>
              <a:rPr lang="fr-CH" sz="2400" dirty="0"/>
              <a:t> </a:t>
            </a:r>
            <a:r>
              <a:rPr lang="fr-CH" sz="2400" dirty="0" err="1"/>
              <a:t>colors</a:t>
            </a:r>
            <a:r>
              <a:rPr lang="fr-CH" sz="2400" dirty="0"/>
              <a:t> of </a:t>
            </a:r>
            <a:r>
              <a:rPr lang="fr-CH" sz="2400" dirty="0" err="1"/>
              <a:t>each</a:t>
            </a:r>
            <a:r>
              <a:rPr lang="fr-CH" sz="2400" dirty="0"/>
              <a:t> overlay </a:t>
            </a:r>
            <a:r>
              <a:rPr lang="fr-CH" sz="2400" dirty="0" err="1"/>
              <a:t>element</a:t>
            </a:r>
            <a:endParaRPr lang="fr-CH" sz="2400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040" y="4313390"/>
            <a:ext cx="2640417" cy="1923922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 rotWithShape="1">
          <a:blip r:embed="rId3"/>
          <a:srcRect b="26661"/>
          <a:stretch/>
        </p:blipFill>
        <p:spPr>
          <a:xfrm>
            <a:off x="1763688" y="2986795"/>
            <a:ext cx="6364836" cy="874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4879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 err="1"/>
              <a:t>Operator</a:t>
            </a:r>
            <a:r>
              <a:rPr lang="fr-CH" dirty="0"/>
              <a:t> </a:t>
            </a:r>
            <a:r>
              <a:rPr lang="fr-CH" dirty="0" err="1"/>
              <a:t>View</a:t>
            </a:r>
            <a:r>
              <a:rPr lang="fr-CH" dirty="0"/>
              <a:t> configuration</a:t>
            </a:r>
            <a:endParaRPr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fr-CH" sz="2800" dirty="0"/>
              <a:t>Inputs/Outputs </a:t>
            </a:r>
            <a:r>
              <a:rPr lang="fr-CH" sz="2800" dirty="0" err="1"/>
              <a:t>arranged</a:t>
            </a:r>
            <a:r>
              <a:rPr lang="fr-CH" sz="2800" dirty="0"/>
              <a:t> in </a:t>
            </a:r>
            <a:r>
              <a:rPr lang="fr-CH" sz="2800" dirty="0" err="1"/>
              <a:t>grid</a:t>
            </a:r>
            <a:endParaRPr lang="fr-CH" sz="2800" dirty="0"/>
          </a:p>
          <a:p>
            <a:pPr marL="1200150" lvl="1" indent="-457200">
              <a:buFont typeface="Arial" panose="020B0604020202020204" pitchFamily="34" charset="0"/>
              <a:buChar char="•"/>
            </a:pPr>
            <a:r>
              <a:rPr lang="fr-CH" sz="2400" dirty="0"/>
              <a:t>Insert </a:t>
            </a:r>
            <a:r>
              <a:rPr lang="fr-CH" sz="2400" dirty="0" err="1"/>
              <a:t>rows</a:t>
            </a:r>
            <a:r>
              <a:rPr lang="fr-CH" sz="2400" dirty="0"/>
              <a:t> and </a:t>
            </a:r>
            <a:r>
              <a:rPr lang="fr-CH" sz="2400" dirty="0" err="1"/>
              <a:t>columns</a:t>
            </a:r>
            <a:endParaRPr lang="en-US" sz="2400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792" y="3351993"/>
            <a:ext cx="5305970" cy="2811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8990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 err="1"/>
              <a:t>Operator</a:t>
            </a:r>
            <a:r>
              <a:rPr lang="fr-CH" dirty="0"/>
              <a:t> </a:t>
            </a:r>
            <a:r>
              <a:rPr lang="fr-CH" dirty="0" err="1"/>
              <a:t>View</a:t>
            </a:r>
            <a:r>
              <a:rPr lang="fr-CH" dirty="0"/>
              <a:t> configuration</a:t>
            </a:r>
            <a:endParaRPr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fr-CH" sz="2400" dirty="0"/>
              <a:t>Outputs: Right click + Insert Value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fr-CH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fr-CH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fr-CH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fr-CH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fr-CH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fr-CH" sz="2400" dirty="0"/>
          </a:p>
          <a:p>
            <a:pPr marL="1200150" lvl="1" indent="-457200">
              <a:buFont typeface="Arial" panose="020B0604020202020204" pitchFamily="34" charset="0"/>
              <a:buChar char="•"/>
            </a:pPr>
            <a:r>
              <a:rPr lang="fr-CH" sz="2000" dirty="0" err="1"/>
              <a:t>Associate</a:t>
            </a:r>
            <a:r>
              <a:rPr lang="fr-CH" sz="2000" dirty="0"/>
              <a:t> to variables, </a:t>
            </a:r>
            <a:r>
              <a:rPr lang="fr-CH" sz="2000" dirty="0" err="1"/>
              <a:t>step</a:t>
            </a:r>
            <a:r>
              <a:rPr lang="fr-CH" sz="2000" dirty="0"/>
              <a:t> inputs,</a:t>
            </a:r>
            <a:br>
              <a:rPr lang="fr-CH" sz="2000" dirty="0"/>
            </a:br>
            <a:r>
              <a:rPr lang="fr-CH" sz="2000" dirty="0"/>
              <a:t> </a:t>
            </a:r>
            <a:r>
              <a:rPr lang="fr-CH" sz="2000" dirty="0" err="1"/>
              <a:t>step</a:t>
            </a:r>
            <a:r>
              <a:rPr lang="fr-CH" sz="2000" dirty="0"/>
              <a:t> outputs</a:t>
            </a:r>
          </a:p>
          <a:p>
            <a:pPr marL="1200150" lvl="1" indent="-457200">
              <a:buFont typeface="Arial" panose="020B0604020202020204" pitchFamily="34" charset="0"/>
              <a:buChar char="•"/>
            </a:pPr>
            <a:endParaRPr lang="fr-CH" sz="2400" dirty="0"/>
          </a:p>
          <a:p>
            <a:pPr marL="1200150" lvl="1" indent="-457200">
              <a:buFont typeface="Arial" panose="020B0604020202020204" pitchFamily="34" charset="0"/>
              <a:buChar char="•"/>
            </a:pPr>
            <a:endParaRPr lang="fr-CH" sz="2400" dirty="0"/>
          </a:p>
          <a:p>
            <a:pPr lvl="1" indent="0">
              <a:buNone/>
            </a:pPr>
            <a:endParaRPr lang="fr-CH" sz="2400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2564904"/>
            <a:ext cx="3596421" cy="1784842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2120" y="3284984"/>
            <a:ext cx="2371725" cy="269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5268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 err="1"/>
              <a:t>Operator</a:t>
            </a:r>
            <a:r>
              <a:rPr lang="fr-CH" dirty="0"/>
              <a:t> </a:t>
            </a:r>
            <a:r>
              <a:rPr lang="fr-CH" dirty="0" err="1"/>
              <a:t>View</a:t>
            </a:r>
            <a:r>
              <a:rPr lang="fr-CH" dirty="0"/>
              <a:t> configuration</a:t>
            </a:r>
            <a:endParaRPr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fr-CH" sz="2400" dirty="0"/>
              <a:t>Inputs: Right click + Insert </a:t>
            </a:r>
            <a:r>
              <a:rPr lang="fr-CH" sz="2400" dirty="0" err="1"/>
              <a:t>Element</a:t>
            </a:r>
            <a:endParaRPr lang="fr-CH" sz="2400" dirty="0"/>
          </a:p>
          <a:p>
            <a:pPr marL="1600200" lvl="2" indent="-457200"/>
            <a:r>
              <a:rPr lang="fr-CH" sz="2000" dirty="0" err="1"/>
              <a:t>Button</a:t>
            </a:r>
            <a:r>
              <a:rPr lang="fr-CH" sz="2000" dirty="0"/>
              <a:t>, </a:t>
            </a:r>
            <a:r>
              <a:rPr lang="fr-CH" sz="2000" dirty="0" err="1"/>
              <a:t>Checkbox</a:t>
            </a:r>
            <a:r>
              <a:rPr lang="fr-CH" sz="2000" dirty="0"/>
              <a:t>, </a:t>
            </a:r>
            <a:r>
              <a:rPr lang="fr-CH" sz="2000" dirty="0" err="1"/>
              <a:t>TextBox</a:t>
            </a:r>
            <a:endParaRPr lang="fr-CH" sz="2000" dirty="0"/>
          </a:p>
          <a:p>
            <a:pPr marL="1600200" lvl="2" indent="-457200"/>
            <a:r>
              <a:rPr lang="fr-CH" sz="2000" dirty="0"/>
              <a:t>Can </a:t>
            </a:r>
            <a:r>
              <a:rPr lang="fr-CH" sz="2000" dirty="0" err="1"/>
              <a:t>be</a:t>
            </a:r>
            <a:r>
              <a:rPr lang="fr-CH" sz="2000" dirty="0"/>
              <a:t> </a:t>
            </a:r>
            <a:r>
              <a:rPr lang="fr-CH" sz="2000" dirty="0" err="1"/>
              <a:t>associated</a:t>
            </a:r>
            <a:r>
              <a:rPr lang="fr-CH" sz="2000" dirty="0"/>
              <a:t> to variables, </a:t>
            </a:r>
            <a:r>
              <a:rPr lang="fr-CH" sz="2000" dirty="0" err="1"/>
              <a:t>step</a:t>
            </a:r>
            <a:r>
              <a:rPr lang="fr-CH" sz="2000" dirty="0"/>
              <a:t> inputs, </a:t>
            </a:r>
            <a:r>
              <a:rPr lang="fr-CH" sz="2000" dirty="0" err="1"/>
              <a:t>step</a:t>
            </a:r>
            <a:r>
              <a:rPr lang="fr-CH" sz="2000" dirty="0"/>
              <a:t> outputs</a:t>
            </a:r>
            <a:endParaRPr lang="en-US" sz="2000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3573016"/>
            <a:ext cx="3774016" cy="1609076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8104" y="3459985"/>
            <a:ext cx="2371725" cy="269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8551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 err="1"/>
              <a:t>Operator</a:t>
            </a:r>
            <a:r>
              <a:rPr lang="fr-CH" dirty="0"/>
              <a:t> </a:t>
            </a:r>
            <a:r>
              <a:rPr lang="fr-CH" dirty="0" err="1"/>
              <a:t>View</a:t>
            </a:r>
            <a:r>
              <a:rPr lang="fr-CH" dirty="0"/>
              <a:t> configuration</a:t>
            </a:r>
            <a:endParaRPr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fr-CH" sz="2800" dirty="0"/>
              <a:t>Inputs</a:t>
            </a:r>
          </a:p>
          <a:p>
            <a:pPr marL="1200150" lvl="1" indent="-457200">
              <a:buFont typeface="Arial" panose="020B0604020202020204" pitchFamily="34" charset="0"/>
              <a:buChar char="•"/>
            </a:pPr>
            <a:r>
              <a:rPr lang="fr-CH" sz="2400" dirty="0"/>
              <a:t>Can </a:t>
            </a:r>
            <a:r>
              <a:rPr lang="fr-CH" sz="2400" dirty="0" err="1"/>
              <a:t>be</a:t>
            </a:r>
            <a:r>
              <a:rPr lang="fr-CH" sz="2400" dirty="0"/>
              <a:t> </a:t>
            </a:r>
            <a:r>
              <a:rPr lang="fr-CH" sz="2400" dirty="0" err="1"/>
              <a:t>bound</a:t>
            </a:r>
            <a:r>
              <a:rPr lang="fr-CH" sz="2400" dirty="0"/>
              <a:t> to variable</a:t>
            </a:r>
          </a:p>
          <a:p>
            <a:pPr marL="1200150" lvl="1" indent="-457200">
              <a:buFont typeface="Arial" panose="020B0604020202020204" pitchFamily="34" charset="0"/>
              <a:buChar char="•"/>
            </a:pPr>
            <a:r>
              <a:rPr lang="fr-CH" sz="2400" dirty="0"/>
              <a:t>Input type, Initial value</a:t>
            </a:r>
          </a:p>
          <a:p>
            <a:pPr marL="1200150" lvl="1" indent="-457200">
              <a:buFont typeface="Arial" panose="020B0604020202020204" pitchFamily="34" charset="0"/>
              <a:buChar char="•"/>
            </a:pPr>
            <a:r>
              <a:rPr lang="fr-CH" sz="2400" dirty="0" err="1"/>
              <a:t>Optionally</a:t>
            </a:r>
            <a:r>
              <a:rPr lang="fr-CH" sz="2400" dirty="0"/>
              <a:t> set to Flow</a:t>
            </a:r>
          </a:p>
          <a:p>
            <a:endParaRPr lang="en-US" sz="2800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3808" y="4460988"/>
            <a:ext cx="5193779" cy="1702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8782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 err="1"/>
              <a:t>Operator</a:t>
            </a:r>
            <a:r>
              <a:rPr lang="fr-CH" dirty="0"/>
              <a:t> </a:t>
            </a:r>
            <a:r>
              <a:rPr lang="fr-CH" dirty="0" err="1"/>
              <a:t>View</a:t>
            </a:r>
            <a:r>
              <a:rPr lang="fr-CH" dirty="0"/>
              <a:t> Configuration</a:t>
            </a:r>
            <a:endParaRPr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CH" sz="2800" dirty="0" err="1"/>
              <a:t>Define</a:t>
            </a:r>
            <a:r>
              <a:rPr lang="fr-CH" sz="2800" dirty="0"/>
              <a:t> </a:t>
            </a:r>
            <a:r>
              <a:rPr lang="fr-CH" sz="2800" dirty="0" err="1"/>
              <a:t>synchronization</a:t>
            </a:r>
            <a:endParaRPr lang="fr-CH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CH" sz="2800" dirty="0"/>
              <a:t>Update points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CH" sz="2800" dirty="0"/>
              <a:t>Update rate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CH" sz="2800" dirty="0" err="1"/>
              <a:t>Clear</a:t>
            </a:r>
            <a:r>
              <a:rPr lang="fr-CH" sz="2800" dirty="0"/>
              <a:t> Annotation</a:t>
            </a:r>
            <a:endParaRPr lang="en-US" sz="2800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040" y="1894838"/>
            <a:ext cx="2561636" cy="868043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1920" y="3690385"/>
            <a:ext cx="4637161" cy="2472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845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/>
              <a:t>Platform configuration</a:t>
            </a:r>
            <a:endParaRPr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fr-CH" dirty="0"/>
              <a:t>Menu</a:t>
            </a:r>
            <a:r>
              <a:rPr lang="fr-CH" dirty="0">
                <a:sym typeface="Wingdings" panose="05000000000000000000" pitchFamily="2" charset="2"/>
              </a:rPr>
              <a:t> Project  Configure*</a:t>
            </a:r>
          </a:p>
          <a:p>
            <a:pPr marL="1200150" lvl="1" indent="-457200">
              <a:buFont typeface="Arial" panose="020B0604020202020204" pitchFamily="34" charset="0"/>
              <a:buChar char="•"/>
            </a:pPr>
            <a:r>
              <a:rPr lang="fr-CH" sz="2400" dirty="0">
                <a:sym typeface="Wingdings" panose="05000000000000000000" pitchFamily="2" charset="2"/>
              </a:rPr>
              <a:t>Cameras/Images </a:t>
            </a:r>
            <a:r>
              <a:rPr lang="fr-CH" sz="2400" dirty="0" err="1">
                <a:sym typeface="Wingdings" panose="05000000000000000000" pitchFamily="2" charset="2"/>
              </a:rPr>
              <a:t>from</a:t>
            </a:r>
            <a:r>
              <a:rPr lang="fr-CH" sz="2400" dirty="0">
                <a:sym typeface="Wingdings" panose="05000000000000000000" pitchFamily="2" charset="2"/>
              </a:rPr>
              <a:t> File</a:t>
            </a:r>
          </a:p>
          <a:p>
            <a:pPr marL="1200150" lvl="1" indent="-457200">
              <a:buFont typeface="Arial" panose="020B0604020202020204" pitchFamily="34" charset="0"/>
              <a:buChar char="•"/>
            </a:pPr>
            <a:r>
              <a:rPr lang="fr-CH" sz="2400" dirty="0">
                <a:sym typeface="Wingdings" panose="05000000000000000000" pitchFamily="2" charset="2"/>
              </a:rPr>
              <a:t>I/O, Serial, Network</a:t>
            </a:r>
          </a:p>
          <a:p>
            <a:pPr marL="1200150" lvl="1" indent="-457200">
              <a:buFont typeface="Arial" panose="020B0604020202020204" pitchFamily="34" charset="0"/>
              <a:buChar char="•"/>
            </a:pPr>
            <a:r>
              <a:rPr lang="fr-CH" sz="2400" dirty="0">
                <a:sym typeface="Wingdings" panose="05000000000000000000" pitchFamily="2" charset="2"/>
              </a:rPr>
              <a:t>Robot </a:t>
            </a:r>
            <a:r>
              <a:rPr lang="fr-CH" sz="2400" dirty="0" err="1">
                <a:sym typeface="Wingdings" panose="05000000000000000000" pitchFamily="2" charset="2"/>
              </a:rPr>
              <a:t>controllers</a:t>
            </a:r>
            <a:endParaRPr lang="en-US" sz="2400" dirty="0"/>
          </a:p>
          <a:p>
            <a:endParaRPr lang="en-US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4088" y="2563200"/>
            <a:ext cx="5566438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4170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/>
              <a:t>Platform configuration</a:t>
            </a:r>
            <a:endParaRPr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1"/>
          </p:nvPr>
        </p:nvSpPr>
        <p:spPr>
          <a:xfrm>
            <a:off x="540000" y="2059200"/>
            <a:ext cx="3815976" cy="4104000"/>
          </a:xfrm>
        </p:spPr>
        <p:txBody>
          <a:bodyPr/>
          <a:lstStyle/>
          <a:p>
            <a:r>
              <a:rPr lang="fr-CH" sz="2800" dirty="0"/>
              <a:t>Cameras</a:t>
            </a:r>
          </a:p>
          <a:p>
            <a:pPr lvl="1"/>
            <a:r>
              <a:rPr lang="fr-CH" sz="2400" dirty="0"/>
              <a:t>Select camera</a:t>
            </a:r>
          </a:p>
          <a:p>
            <a:pPr lvl="1"/>
            <a:r>
              <a:rPr lang="fr-CH" sz="2400" dirty="0"/>
              <a:t>Test in </a:t>
            </a:r>
            <a:r>
              <a:rPr lang="fr-CH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Capture Assistant</a:t>
            </a:r>
          </a:p>
          <a:p>
            <a:pPr lvl="1"/>
            <a:r>
              <a:rPr lang="fr-CH" sz="2400" dirty="0" err="1"/>
              <a:t>Allocate</a:t>
            </a:r>
            <a:endParaRPr lang="fr-CH" sz="2400" dirty="0"/>
          </a:p>
          <a:p>
            <a:pPr lvl="1"/>
            <a:r>
              <a:rPr lang="fr-CH" sz="2400" dirty="0"/>
              <a:t>Configure camera settings</a:t>
            </a:r>
            <a:endParaRPr lang="en-US" sz="2400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5896" y="2420888"/>
            <a:ext cx="4676442" cy="3024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9613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/>
              <a:t>Platform configuration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1"/>
          </p:nvPr>
        </p:nvSpPr>
        <p:spPr>
          <a:xfrm>
            <a:off x="540000" y="2059200"/>
            <a:ext cx="3095896" cy="4104000"/>
          </a:xfrm>
        </p:spPr>
        <p:txBody>
          <a:bodyPr/>
          <a:lstStyle/>
          <a:p>
            <a:r>
              <a:rPr lang="fr-CH" dirty="0"/>
              <a:t>Image sets</a:t>
            </a:r>
          </a:p>
          <a:p>
            <a:pPr lvl="1"/>
            <a:r>
              <a:rPr lang="fr-CH" dirty="0"/>
              <a:t>Multiple sets </a:t>
            </a:r>
            <a:r>
              <a:rPr lang="fr-CH" dirty="0" err="1"/>
              <a:t>can</a:t>
            </a:r>
            <a:r>
              <a:rPr lang="fr-CH" dirty="0"/>
              <a:t> </a:t>
            </a:r>
            <a:r>
              <a:rPr lang="fr-CH" dirty="0" err="1"/>
              <a:t>be</a:t>
            </a:r>
            <a:r>
              <a:rPr lang="fr-CH" dirty="0"/>
              <a:t> </a:t>
            </a:r>
            <a:r>
              <a:rPr lang="fr-CH" dirty="0" err="1"/>
              <a:t>created</a:t>
            </a:r>
            <a:endParaRPr lang="fr-CH" dirty="0"/>
          </a:p>
          <a:p>
            <a:pPr lvl="1"/>
            <a:r>
              <a:rPr lang="fr-CH" dirty="0"/>
              <a:t>Path format </a:t>
            </a:r>
            <a:r>
              <a:rPr lang="fr-CH" dirty="0" err="1"/>
              <a:t>with</a:t>
            </a:r>
            <a:r>
              <a:rPr lang="fr-CH" dirty="0"/>
              <a:t> \\ or /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9446" y="2708920"/>
            <a:ext cx="5629344" cy="2229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7629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/>
              <a:t>Running</a:t>
            </a:r>
            <a:endParaRPr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CH" dirty="0"/>
              <a:t>Menu </a:t>
            </a:r>
            <a:r>
              <a:rPr lang="fr-CH" dirty="0">
                <a:sym typeface="Wingdings" panose="05000000000000000000" pitchFamily="2" charset="2"/>
              </a:rPr>
              <a:t> Platform </a:t>
            </a:r>
          </a:p>
          <a:p>
            <a:pPr lvl="1"/>
            <a:r>
              <a:rPr lang="fr-CH" dirty="0" err="1">
                <a:sym typeface="Wingdings" panose="05000000000000000000" pitchFamily="2" charset="2"/>
              </a:rPr>
              <a:t>Deploy</a:t>
            </a:r>
            <a:r>
              <a:rPr lang="fr-CH" dirty="0">
                <a:sym typeface="Wingdings" panose="05000000000000000000" pitchFamily="2" charset="2"/>
              </a:rPr>
              <a:t> Project : To a local or </a:t>
            </a:r>
            <a:r>
              <a:rPr lang="fr-CH" dirty="0" err="1">
                <a:sym typeface="Wingdings" panose="05000000000000000000" pitchFamily="2" charset="2"/>
              </a:rPr>
              <a:t>remote</a:t>
            </a:r>
            <a:r>
              <a:rPr lang="fr-CH" dirty="0">
                <a:sym typeface="Wingdings" panose="05000000000000000000" pitchFamily="2" charset="2"/>
              </a:rPr>
              <a:t> </a:t>
            </a:r>
            <a:r>
              <a:rPr lang="fr-CH" dirty="0" err="1">
                <a:sym typeface="Wingdings" panose="05000000000000000000" pitchFamily="2" charset="2"/>
              </a:rPr>
              <a:t>platform</a:t>
            </a:r>
            <a:endParaRPr lang="fr-CH" dirty="0">
              <a:sym typeface="Wingdings" panose="05000000000000000000" pitchFamily="2" charset="2"/>
            </a:endParaRPr>
          </a:p>
          <a:p>
            <a:pPr lvl="1"/>
            <a:r>
              <a:rPr lang="fr-CH" dirty="0">
                <a:sym typeface="Wingdings" panose="05000000000000000000" pitchFamily="2" charset="2"/>
              </a:rPr>
              <a:t>Start Project</a:t>
            </a:r>
          </a:p>
          <a:p>
            <a:pPr lvl="1"/>
            <a:endParaRPr lang="fr-CH" dirty="0">
              <a:sym typeface="Wingdings" panose="05000000000000000000" pitchFamily="2" charset="2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2080" y="3291117"/>
            <a:ext cx="3095173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8467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/>
              <a:t>Running</a:t>
            </a:r>
            <a:endParaRPr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CH" dirty="0">
                <a:sym typeface="Wingdings" panose="05000000000000000000" pitchFamily="2" charset="2"/>
              </a:rPr>
              <a:t>Display </a:t>
            </a:r>
            <a:r>
              <a:rPr lang="fr-CH">
                <a:sym typeface="Wingdings" panose="05000000000000000000" pitchFamily="2" charset="2"/>
              </a:rPr>
              <a:t>in browser</a:t>
            </a:r>
            <a:endParaRPr lang="fr-CH" dirty="0">
              <a:sym typeface="Wingdings" panose="05000000000000000000" pitchFamily="2" charset="2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752" y="2563200"/>
            <a:ext cx="6063787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6072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 err="1"/>
              <a:t>Stopping</a:t>
            </a:r>
            <a:endParaRPr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CH" sz="2800" dirty="0"/>
              <a:t>Menu</a:t>
            </a:r>
            <a:r>
              <a:rPr lang="fr-CH" sz="2800" dirty="0">
                <a:sym typeface="Wingdings" panose="05000000000000000000" pitchFamily="2" charset="2"/>
              </a:rPr>
              <a:t> Platform  </a:t>
            </a:r>
            <a:r>
              <a:rPr lang="fr-CH" sz="2800" dirty="0" err="1">
                <a:sym typeface="Wingdings" panose="05000000000000000000" pitchFamily="2" charset="2"/>
              </a:rPr>
              <a:t>Terminate</a:t>
            </a:r>
            <a:r>
              <a:rPr lang="fr-CH" sz="2800" dirty="0">
                <a:sym typeface="Wingdings" panose="05000000000000000000" pitchFamily="2" charset="2"/>
              </a:rPr>
              <a:t> running </a:t>
            </a:r>
            <a:r>
              <a:rPr lang="fr-CH" sz="2800" dirty="0" err="1">
                <a:sym typeface="Wingdings" panose="05000000000000000000" pitchFamily="2" charset="2"/>
              </a:rPr>
              <a:t>project</a:t>
            </a:r>
            <a:endParaRPr lang="fr-CH" sz="2800" dirty="0">
              <a:sym typeface="Wingdings" panose="05000000000000000000" pitchFamily="2" charset="2"/>
            </a:endParaRPr>
          </a:p>
          <a:p>
            <a:r>
              <a:rPr lang="fr-CH" sz="2800" dirty="0">
                <a:sym typeface="Wingdings" panose="05000000000000000000" pitchFamily="2" charset="2"/>
              </a:rPr>
              <a:t>or </a:t>
            </a:r>
            <a:r>
              <a:rPr lang="fr-CH" sz="2800" dirty="0" err="1">
                <a:sym typeface="Wingdings" panose="05000000000000000000" pitchFamily="2" charset="2"/>
              </a:rPr>
              <a:t>under</a:t>
            </a:r>
            <a:r>
              <a:rPr lang="fr-CH" sz="2800" dirty="0">
                <a:sym typeface="Wingdings" panose="05000000000000000000" pitchFamily="2" charset="2"/>
              </a:rPr>
              <a:t> Actions</a:t>
            </a:r>
            <a:endParaRPr lang="en-US" sz="2800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2527" y="3122637"/>
            <a:ext cx="5457825" cy="3114675"/>
          </a:xfrm>
          <a:prstGeom prst="rect">
            <a:avLst/>
          </a:prstGeom>
        </p:spPr>
      </p:pic>
      <p:sp>
        <p:nvSpPr>
          <p:cNvPr id="6" name="Rectangle à coins arrondis 5"/>
          <p:cNvSpPr/>
          <p:nvPr/>
        </p:nvSpPr>
        <p:spPr>
          <a:xfrm>
            <a:off x="5378871" y="5138861"/>
            <a:ext cx="2088232" cy="432048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à coins arrondis 6"/>
          <p:cNvSpPr/>
          <p:nvPr/>
        </p:nvSpPr>
        <p:spPr>
          <a:xfrm>
            <a:off x="2498551" y="4990526"/>
            <a:ext cx="1728192" cy="432048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011550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on Arc ING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 Arc ING</Template>
  <TotalTime>1412</TotalTime>
  <Words>437</Words>
  <Application>Microsoft Office PowerPoint</Application>
  <PresentationFormat>Affichage à l'écran (4:3)</PresentationFormat>
  <Paragraphs>144</Paragraphs>
  <Slides>31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38" baseType="lpstr">
      <vt:lpstr>ＭＳ Ｐゴシック</vt:lpstr>
      <vt:lpstr>Arial</vt:lpstr>
      <vt:lpstr>Calibri</vt:lpstr>
      <vt:lpstr>Courier New</vt:lpstr>
      <vt:lpstr>Tahoma</vt:lpstr>
      <vt:lpstr>Wingdings</vt:lpstr>
      <vt:lpstr>Presentation Arc ING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Haute Ecole Arc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Lopez De Meneses Yuri</dc:creator>
  <cp:lastModifiedBy>Lopez De Meneses Yuri</cp:lastModifiedBy>
  <cp:revision>52</cp:revision>
  <dcterms:created xsi:type="dcterms:W3CDTF">2016-02-19T06:13:39Z</dcterms:created>
  <dcterms:modified xsi:type="dcterms:W3CDTF">2020-09-13T17:40:42Z</dcterms:modified>
</cp:coreProperties>
</file>