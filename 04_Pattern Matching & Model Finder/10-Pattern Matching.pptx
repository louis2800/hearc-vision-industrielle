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5" r:id="rId5"/>
    <p:sldId id="268" r:id="rId6"/>
    <p:sldId id="269" r:id="rId7"/>
    <p:sldId id="270" r:id="rId8"/>
    <p:sldId id="271" r:id="rId9"/>
    <p:sldId id="273" r:id="rId10"/>
    <p:sldId id="272" r:id="rId11"/>
    <p:sldId id="274" r:id="rId12"/>
    <p:sldId id="275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1F50"/>
    <a:srgbClr val="707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43" autoAdjust="0"/>
  </p:normalViewPr>
  <p:slideViewPr>
    <p:cSldViewPr>
      <p:cViewPr varScale="1">
        <p:scale>
          <a:sx n="86" d="100"/>
          <a:sy n="86" d="100"/>
        </p:scale>
        <p:origin x="124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e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GrisBienvenu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2492375"/>
            <a:ext cx="7704138" cy="79216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Bienvenue!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916113"/>
            <a:ext cx="7704138" cy="72072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915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Sommaire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 hasCustomPrompt="1"/>
          </p:nvPr>
        </p:nvSpPr>
        <p:spPr>
          <a:xfrm>
            <a:off x="28548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CH" dirty="0"/>
              <a:t>Thème 1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2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3</a:t>
            </a:r>
          </a:p>
          <a:p>
            <a:pPr lvl="0"/>
            <a:r>
              <a:rPr lang="fr-CH" dirty="0"/>
              <a:t>Thème 4</a:t>
            </a:r>
          </a:p>
          <a:p>
            <a:pPr lvl="0"/>
            <a:r>
              <a:rPr lang="fr-CH" dirty="0"/>
              <a:t>Thème 5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4612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FR" dirty="0"/>
              <a:t>Thème 6</a:t>
            </a:r>
          </a:p>
          <a:p>
            <a:pPr lvl="1"/>
            <a:r>
              <a:rPr lang="fr-CH" b="1" dirty="0">
                <a:solidFill>
                  <a:srgbClr val="707173"/>
                </a:solidFill>
              </a:rPr>
              <a:t>Sous-thème</a:t>
            </a:r>
          </a:p>
          <a:p>
            <a:pPr lvl="2"/>
            <a:endParaRPr lang="fr-CH" b="1" dirty="0">
              <a:solidFill>
                <a:srgbClr val="707173"/>
              </a:solidFill>
            </a:endParaRPr>
          </a:p>
          <a:p>
            <a:pPr lvl="0"/>
            <a:r>
              <a:rPr lang="fr-CH" dirty="0"/>
              <a:t>Thème 7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8</a:t>
            </a:r>
          </a:p>
          <a:p>
            <a:pPr lvl="0"/>
            <a:r>
              <a:rPr lang="fr-CH" dirty="0"/>
              <a:t>Thème 9</a:t>
            </a:r>
          </a:p>
          <a:p>
            <a:pPr lvl="0"/>
            <a:r>
              <a:rPr lang="fr-CH" dirty="0"/>
              <a:t>Thème 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4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</a:t>
            </a:r>
            <a:endParaRPr lang="fr-CH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059200"/>
            <a:ext cx="7704000" cy="410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123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1728000" y="2170800"/>
            <a:ext cx="3124800" cy="1656829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1</a:t>
            </a:r>
          </a:p>
          <a:p>
            <a:pPr lvl="1"/>
            <a:r>
              <a:rPr lang="fr-FR" dirty="0"/>
              <a:t>Texte 1</a:t>
            </a:r>
          </a:p>
          <a:p>
            <a:pPr lvl="1"/>
            <a:endParaRPr lang="fr-FR" dirty="0"/>
          </a:p>
          <a:p>
            <a:pPr lvl="0"/>
            <a:r>
              <a:rPr lang="fr-CH" dirty="0"/>
              <a:t>Titre 2</a:t>
            </a:r>
          </a:p>
          <a:p>
            <a:pPr lvl="1"/>
            <a:r>
              <a:rPr lang="fr-CH" dirty="0"/>
              <a:t>Texte 2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3</a:t>
            </a:r>
          </a:p>
          <a:p>
            <a:pPr lvl="1"/>
            <a:r>
              <a:rPr lang="fr-CH" dirty="0"/>
              <a:t>Texte 3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068800" y="2170800"/>
            <a:ext cx="3124800" cy="1656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4</a:t>
            </a:r>
          </a:p>
          <a:p>
            <a:pPr lvl="1"/>
            <a:r>
              <a:rPr lang="fr-CH" sz="10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 4</a:t>
            </a:r>
          </a:p>
          <a:p>
            <a:pPr lvl="1"/>
            <a:endParaRPr lang="fr-CH" sz="1000" dirty="0">
              <a:solidFill>
                <a:srgbClr val="707173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/>
            <a:r>
              <a:rPr lang="fr-CH" dirty="0"/>
              <a:t>Titre 5</a:t>
            </a:r>
          </a:p>
          <a:p>
            <a:pPr lvl="1"/>
            <a:r>
              <a:rPr lang="fr-CH" dirty="0"/>
              <a:t>Texte 5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6</a:t>
            </a:r>
          </a:p>
          <a:p>
            <a:pPr lvl="1"/>
            <a:r>
              <a:rPr lang="fr-CH" dirty="0"/>
              <a:t>Texte 6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Vide</a:t>
            </a:r>
            <a:endParaRPr lang="fr-CH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CH"/>
          </a:p>
        </p:txBody>
      </p:sp>
      <p:pic>
        <p:nvPicPr>
          <p:cNvPr id="6" name="Image 5" descr="ING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7889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358775" y="962025"/>
            <a:ext cx="8048625" cy="39020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00" y="5050800"/>
            <a:ext cx="4827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Avec image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1800000" y="5410800"/>
            <a:ext cx="4827600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sz="9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</a:t>
            </a:r>
            <a:endParaRPr lang="fr-CH" dirty="0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1800000" y="961200"/>
            <a:ext cx="6624000" cy="37404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0"/>
            <a:ext cx="9144000" cy="686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3" r:id="rId5"/>
    <p:sldLayoutId id="2147483652" r:id="rId6"/>
    <p:sldLayoutId id="2147483656" r:id="rId7"/>
    <p:sldLayoutId id="2147483654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DA: Pattern Matching &amp; Model Finder </a:t>
            </a:r>
            <a:r>
              <a:rPr lang="fr-CH" dirty="0" err="1"/>
              <a:t>Steps</a:t>
            </a:r>
            <a:endParaRPr lang="fr-CH" dirty="0"/>
          </a:p>
        </p:txBody>
      </p:sp>
      <p:sp>
        <p:nvSpPr>
          <p:cNvPr id="3" name="ZoneTexte 2"/>
          <p:cNvSpPr txBox="1"/>
          <p:nvPr/>
        </p:nvSpPr>
        <p:spPr>
          <a:xfrm>
            <a:off x="546152" y="3471167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/>
              <a:t>3268.1 Vision Industrielle II </a:t>
            </a:r>
            <a:endParaRPr lang="en-US" sz="2400" dirty="0"/>
          </a:p>
        </p:txBody>
      </p:sp>
      <p:sp>
        <p:nvSpPr>
          <p:cNvPr id="4" name="ZoneTexte 3"/>
          <p:cNvSpPr txBox="1"/>
          <p:nvPr/>
        </p:nvSpPr>
        <p:spPr>
          <a:xfrm>
            <a:off x="539750" y="4581128"/>
            <a:ext cx="424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Yuri López de Meneses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Processing</a:t>
            </a:r>
            <a:r>
              <a:rPr lang="fr-CH" dirty="0"/>
              <a:t> </a:t>
            </a:r>
            <a:r>
              <a:rPr lang="fr-CH" dirty="0" err="1"/>
              <a:t>Steps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H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H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H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800" dirty="0"/>
              <a:t>Généraux:</a:t>
            </a:r>
          </a:p>
          <a:p>
            <a:pPr lvl="1"/>
            <a:r>
              <a:rPr lang="fr-CH" sz="1400" dirty="0" err="1"/>
              <a:t>ImageProcessing</a:t>
            </a:r>
            <a:r>
              <a:rPr lang="fr-CH" sz="1400" dirty="0"/>
              <a:t>: Filtrage, prétraitement (morphologie, lissage)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800" dirty="0"/>
              <a:t>Reconnaissance:</a:t>
            </a:r>
          </a:p>
          <a:p>
            <a:pPr lvl="1"/>
            <a:r>
              <a:rPr lang="fr-CH" sz="1400" dirty="0" err="1"/>
              <a:t>BlobAnalysis</a:t>
            </a:r>
            <a:r>
              <a:rPr lang="fr-CH" sz="1400" dirty="0"/>
              <a:t>: particules</a:t>
            </a:r>
          </a:p>
          <a:p>
            <a:pPr lvl="1"/>
            <a:r>
              <a:rPr lang="fr-CH" sz="1400" dirty="0" err="1"/>
              <a:t>IntensityChecker</a:t>
            </a:r>
            <a:r>
              <a:rPr lang="fr-CH" sz="1400" dirty="0"/>
              <a:t>: Mesure intensité dans une zone</a:t>
            </a:r>
          </a:p>
          <a:p>
            <a:pPr lvl="1"/>
            <a:r>
              <a:rPr lang="fr-CH" sz="1400" dirty="0" err="1"/>
              <a:t>PatternMatching</a:t>
            </a:r>
            <a:r>
              <a:rPr lang="fr-CH" sz="1400" dirty="0"/>
              <a:t>: modèle d’image (simple)</a:t>
            </a:r>
          </a:p>
          <a:p>
            <a:pPr lvl="1"/>
            <a:r>
              <a:rPr lang="fr-CH" sz="1400" dirty="0" err="1"/>
              <a:t>ModelFinder</a:t>
            </a:r>
            <a:r>
              <a:rPr lang="fr-CH" sz="1400" dirty="0"/>
              <a:t>: modèle d’image géométrique</a:t>
            </a:r>
            <a:endParaRPr lang="fr-CH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800" dirty="0"/>
              <a:t>Mesure:</a:t>
            </a:r>
          </a:p>
          <a:p>
            <a:pPr lvl="1"/>
            <a:r>
              <a:rPr lang="fr-CH" sz="1400" dirty="0" err="1"/>
              <a:t>EdgeLocator</a:t>
            </a:r>
            <a:r>
              <a:rPr lang="fr-CH" sz="1400" dirty="0"/>
              <a:t>: Détection transition droite</a:t>
            </a:r>
          </a:p>
          <a:p>
            <a:pPr lvl="1"/>
            <a:r>
              <a:rPr lang="fr-CH" sz="1400" dirty="0" err="1"/>
              <a:t>Measurement</a:t>
            </a:r>
            <a:r>
              <a:rPr lang="fr-CH" sz="1400" dirty="0"/>
              <a:t>: Détection droites, bandes, cercles</a:t>
            </a:r>
          </a:p>
          <a:p>
            <a:pPr lvl="1"/>
            <a:r>
              <a:rPr lang="fr-CH" sz="1400" dirty="0" err="1"/>
              <a:t>Metrology</a:t>
            </a:r>
            <a:r>
              <a:rPr lang="fr-CH" sz="1400" dirty="0"/>
              <a:t>: Attributs </a:t>
            </a:r>
            <a:r>
              <a:rPr lang="fr-CH" sz="1400" dirty="0" err="1"/>
              <a:t>géometriques</a:t>
            </a:r>
            <a:r>
              <a:rPr lang="fr-CH" sz="1400" dirty="0"/>
              <a:t> et leurs tolérances</a:t>
            </a:r>
          </a:p>
          <a:p>
            <a:endParaRPr lang="fr-CH" sz="1800" dirty="0"/>
          </a:p>
          <a:p>
            <a:endParaRPr lang="en-US" sz="24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059200"/>
            <a:ext cx="513397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22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Processing</a:t>
            </a:r>
            <a:r>
              <a:rPr lang="fr-CH" dirty="0"/>
              <a:t> </a:t>
            </a:r>
            <a:r>
              <a:rPr lang="fr-CH" dirty="0" err="1"/>
              <a:t>Steps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800" dirty="0"/>
              <a:t>Identification:</a:t>
            </a:r>
          </a:p>
          <a:p>
            <a:pPr lvl="1"/>
            <a:r>
              <a:rPr lang="fr-CH" sz="1400" dirty="0" err="1"/>
              <a:t>CodeReader</a:t>
            </a:r>
            <a:r>
              <a:rPr lang="fr-CH" sz="1400" dirty="0"/>
              <a:t>: Lecture code-barres et </a:t>
            </a:r>
            <a:r>
              <a:rPr lang="fr-CH" sz="1400" dirty="0" err="1"/>
              <a:t>datamatrix</a:t>
            </a:r>
            <a:endParaRPr lang="fr-CH" sz="1400" dirty="0"/>
          </a:p>
          <a:p>
            <a:pPr lvl="1"/>
            <a:r>
              <a:rPr lang="fr-CH" sz="1400" dirty="0" err="1"/>
              <a:t>StringReader</a:t>
            </a:r>
            <a:r>
              <a:rPr lang="fr-CH" sz="1400" dirty="0"/>
              <a:t>: Lecture </a:t>
            </a:r>
            <a:r>
              <a:rPr lang="fr-CH" sz="1400" dirty="0" err="1"/>
              <a:t>text</a:t>
            </a:r>
            <a:r>
              <a:rPr lang="fr-CH" sz="1400" dirty="0"/>
              <a:t> avancé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800" dirty="0"/>
              <a:t>Spécialisés:</a:t>
            </a:r>
          </a:p>
          <a:p>
            <a:pPr lvl="1"/>
            <a:r>
              <a:rPr lang="fr-CH" sz="1400" dirty="0" err="1"/>
              <a:t>ColorMatcher</a:t>
            </a:r>
            <a:r>
              <a:rPr lang="fr-CH" sz="1400" dirty="0"/>
              <a:t>: Reconnaissance couleurs </a:t>
            </a:r>
          </a:p>
          <a:p>
            <a:pPr lvl="1"/>
            <a:r>
              <a:rPr lang="fr-CH" sz="1400" dirty="0" err="1"/>
              <a:t>BeadInspection</a:t>
            </a:r>
            <a:r>
              <a:rPr lang="fr-CH" sz="1400" dirty="0"/>
              <a:t>: Inspection ruban (p.ex. colle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023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Processing</a:t>
            </a:r>
            <a:r>
              <a:rPr lang="fr-CH" dirty="0"/>
              <a:t> </a:t>
            </a:r>
            <a:r>
              <a:rPr lang="fr-CH" dirty="0" err="1"/>
              <a:t>Steps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400" dirty="0"/>
              <a:t>Eléments communs: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1800" dirty="0"/>
              <a:t>Input image: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1800" dirty="0" err="1"/>
              <a:t>Region</a:t>
            </a:r>
            <a:r>
              <a:rPr lang="fr-CH" sz="1800" dirty="0"/>
              <a:t> d’intérêt: </a:t>
            </a:r>
            <a:r>
              <a:rPr lang="fr-CH" sz="1800" dirty="0" err="1"/>
              <a:t>Step</a:t>
            </a:r>
            <a:r>
              <a:rPr lang="fr-CH" sz="1800" dirty="0"/>
              <a:t> </a:t>
            </a:r>
            <a:r>
              <a:rPr lang="fr-CH" sz="1800" dirty="0" err="1"/>
              <a:t>Region</a:t>
            </a:r>
            <a:r>
              <a:rPr lang="fr-CH" sz="1800" dirty="0"/>
              <a:t>/</a:t>
            </a:r>
            <a:r>
              <a:rPr lang="fr-CH" sz="1800" dirty="0" err="1"/>
              <a:t>Search</a:t>
            </a:r>
            <a:r>
              <a:rPr lang="fr-CH" sz="1800" dirty="0"/>
              <a:t> </a:t>
            </a:r>
            <a:r>
              <a:rPr lang="fr-CH" sz="1800" dirty="0" err="1"/>
              <a:t>Region</a:t>
            </a:r>
            <a:endParaRPr lang="fr-CH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1800" dirty="0"/>
              <a:t>Repère: </a:t>
            </a:r>
            <a:r>
              <a:rPr lang="fr-CH" sz="1800" dirty="0" err="1"/>
              <a:t>Fixture</a:t>
            </a:r>
            <a:endParaRPr lang="fr-CH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1800" dirty="0" err="1"/>
              <a:t>Status</a:t>
            </a:r>
            <a:r>
              <a:rPr lang="fr-CH" sz="1800" dirty="0"/>
              <a:t>: </a:t>
            </a:r>
            <a:endParaRPr lang="en-US" sz="1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183" y="2492896"/>
            <a:ext cx="5422106" cy="778669"/>
          </a:xfrm>
          <a:prstGeom prst="rect">
            <a:avLst/>
          </a:prstGeom>
        </p:spPr>
      </p:pic>
      <p:cxnSp>
        <p:nvCxnSpPr>
          <p:cNvPr id="7" name="Connecteur droit avec flèche 6"/>
          <p:cNvCxnSpPr/>
          <p:nvPr/>
        </p:nvCxnSpPr>
        <p:spPr>
          <a:xfrm flipV="1">
            <a:off x="5508104" y="2780928"/>
            <a:ext cx="2160240" cy="869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212" y="3893315"/>
            <a:ext cx="2057400" cy="435769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04" y="4587965"/>
            <a:ext cx="5614988" cy="176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845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05B2101-20B0-44A1-8646-00414668BA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Pattern Matching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C3F168-B238-403D-BE15-A89AD2EF24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Localise un ou des «modèles» dans l’image et retourne son repère (fixture=</a:t>
            </a:r>
            <a:r>
              <a:rPr lang="fr-CH" sz="2400" dirty="0" err="1"/>
              <a:t>position+angle</a:t>
            </a:r>
            <a:r>
              <a:rPr lang="fr-CH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Le modèle est crée en cliquant l’icone modèle</a:t>
            </a:r>
            <a:br>
              <a:rPr lang="fr-CH" sz="2400" dirty="0"/>
            </a:br>
            <a:r>
              <a:rPr lang="fr-CH" sz="2400" dirty="0"/>
              <a:t>et sélectionnant un zone de l’image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59F1B37-E0D0-4403-B26D-D48CF3BD3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960" y="3710581"/>
            <a:ext cx="3916232" cy="236396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E1E7CE4-441B-4302-BE68-9B7E613B1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789" y="3276323"/>
            <a:ext cx="22479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7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F930538-AF62-4818-8F2B-F5302AE4F0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Pattern Matching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EB3650-64B3-4971-BC21-DD7E37AE1F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Mesure de similarité par corrélation </a:t>
            </a:r>
            <a:r>
              <a:rPr lang="fr-CH" sz="2400" dirty="0">
                <a:sym typeface="Wingdings" panose="05000000000000000000" pitchFamily="2" charset="2"/>
              </a:rPr>
              <a:t> Score 0-100%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>
                <a:sym typeface="Wingdings" panose="05000000000000000000" pitchFamily="2" charset="2"/>
              </a:rPr>
              <a:t>Si le score dépasse ‘</a:t>
            </a:r>
            <a:r>
              <a:rPr lang="fr-CH" sz="2400" dirty="0">
                <a:solidFill>
                  <a:schemeClr val="tx1"/>
                </a:solidFill>
                <a:sym typeface="Wingdings" panose="05000000000000000000" pitchFamily="2" charset="2"/>
              </a:rPr>
              <a:t>Acceptance</a:t>
            </a:r>
            <a:r>
              <a:rPr lang="fr-CH" sz="2400" dirty="0">
                <a:sym typeface="Wingdings" panose="05000000000000000000" pitchFamily="2" charset="2"/>
              </a:rPr>
              <a:t>’, </a:t>
            </a:r>
            <a:br>
              <a:rPr lang="fr-CH" sz="2400" dirty="0">
                <a:sym typeface="Wingdings" panose="05000000000000000000" pitchFamily="2" charset="2"/>
              </a:rPr>
            </a:br>
            <a:r>
              <a:rPr lang="fr-CH" sz="2400" dirty="0">
                <a:sym typeface="Wingdings" panose="05000000000000000000" pitchFamily="2" charset="2"/>
              </a:rPr>
              <a:t>l’instance trouvée est </a:t>
            </a:r>
            <a:r>
              <a:rPr lang="fr-CH" sz="2400" dirty="0" err="1">
                <a:sym typeface="Wingdings" panose="05000000000000000000" pitchFamily="2" charset="2"/>
              </a:rPr>
              <a:t>rétenue</a:t>
            </a:r>
            <a:r>
              <a:rPr lang="fr-CH" sz="2400" dirty="0">
                <a:sym typeface="Wingdings" panose="05000000000000000000" pitchFamily="2" charset="2"/>
              </a:rPr>
              <a:t> et on</a:t>
            </a:r>
            <a:br>
              <a:rPr lang="fr-CH" sz="2400" dirty="0">
                <a:sym typeface="Wingdings" panose="05000000000000000000" pitchFamily="2" charset="2"/>
              </a:rPr>
            </a:br>
            <a:r>
              <a:rPr lang="fr-CH" sz="2400" dirty="0">
                <a:sym typeface="Wingdings" panose="05000000000000000000" pitchFamily="2" charset="2"/>
              </a:rPr>
              <a:t>sélectionnera les </a:t>
            </a:r>
            <a:r>
              <a:rPr lang="fr-CH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Number</a:t>
            </a:r>
            <a:r>
              <a:rPr lang="fr-CH" sz="2400" dirty="0">
                <a:sym typeface="Wingdings" panose="05000000000000000000" pitchFamily="2" charset="2"/>
              </a:rPr>
              <a:t> meilleures.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>
                <a:sym typeface="Wingdings" panose="05000000000000000000" pitchFamily="2" charset="2"/>
              </a:rPr>
              <a:t>Si score dépasse ‘</a:t>
            </a:r>
            <a:r>
              <a:rPr lang="fr-CH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Certainty</a:t>
            </a:r>
            <a:r>
              <a:rPr lang="fr-CH" sz="2400" dirty="0">
                <a:sym typeface="Wingdings" panose="05000000000000000000" pitchFamily="2" charset="2"/>
              </a:rPr>
              <a:t>’ l’instance</a:t>
            </a:r>
            <a:br>
              <a:rPr lang="fr-CH" sz="2400" dirty="0">
                <a:sym typeface="Wingdings" panose="05000000000000000000" pitchFamily="2" charset="2"/>
              </a:rPr>
            </a:br>
            <a:r>
              <a:rPr lang="fr-CH" sz="2400" dirty="0">
                <a:sym typeface="Wingdings" panose="05000000000000000000" pitchFamily="2" charset="2"/>
              </a:rPr>
              <a:t>est </a:t>
            </a:r>
            <a:r>
              <a:rPr lang="fr-CH" sz="2400" dirty="0" err="1">
                <a:sym typeface="Wingdings" panose="05000000000000000000" pitchFamily="2" charset="2"/>
              </a:rPr>
              <a:t>rétenue</a:t>
            </a:r>
            <a:r>
              <a:rPr lang="fr-CH" sz="2400" dirty="0">
                <a:sym typeface="Wingdings" panose="05000000000000000000" pitchFamily="2" charset="2"/>
              </a:rPr>
              <a:t> et on arrête la recherche</a:t>
            </a:r>
            <a:br>
              <a:rPr lang="fr-CH" sz="2400" dirty="0">
                <a:sym typeface="Wingdings" panose="05000000000000000000" pitchFamily="2" charset="2"/>
              </a:rPr>
            </a:br>
            <a:r>
              <a:rPr lang="fr-CH" sz="2400" dirty="0">
                <a:sym typeface="Wingdings" panose="05000000000000000000" pitchFamily="2" charset="2"/>
              </a:rPr>
              <a:t>dès qu’on a ‘</a:t>
            </a:r>
            <a:r>
              <a:rPr lang="fr-CH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Number</a:t>
            </a:r>
            <a:r>
              <a:rPr lang="fr-CH" sz="2400" dirty="0">
                <a:sym typeface="Wingdings" panose="05000000000000000000" pitchFamily="2" charset="2"/>
              </a:rPr>
              <a:t>’ trouvées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>
                <a:sym typeface="Wingdings" panose="05000000000000000000" pitchFamily="2" charset="2"/>
              </a:rPr>
              <a:t>Compromis Speed vs </a:t>
            </a:r>
            <a:r>
              <a:rPr lang="fr-CH" sz="2400" dirty="0" err="1">
                <a:sym typeface="Wingdings" panose="05000000000000000000" pitchFamily="2" charset="2"/>
              </a:rPr>
              <a:t>Accuracy</a:t>
            </a:r>
            <a:endParaRPr lang="fr-CH" sz="2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>
              <a:sym typeface="Wingdings" panose="05000000000000000000" pitchFamily="2" charset="2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C2D0C15-EACD-4229-9A0E-E6A2B7571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3212976"/>
            <a:ext cx="18192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1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0B04B2C-33C0-485E-A9AF-B4D1DB9F62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Pattern Matching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1CCC0E-48E3-458D-A45D-0563296B0C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>
                <a:sym typeface="Wingdings" panose="05000000000000000000" pitchFamily="2" charset="2"/>
              </a:rPr>
              <a:t>On peut définir l’origine du modèle (référence point)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>
                <a:sym typeface="Wingdings" panose="05000000000000000000" pitchFamily="2" charset="2"/>
              </a:rPr>
              <a:t>On peut masquer (ignorer) des zones du modèle</a:t>
            </a:r>
            <a:endParaRPr lang="fr-CH" sz="2400" dirty="0"/>
          </a:p>
          <a:p>
            <a:endParaRPr lang="fr-CH" sz="24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E9E9896-FB0A-41D2-8C42-3062257B8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2492896"/>
            <a:ext cx="4114800" cy="17907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DC03862-EDB2-4C4D-899C-8572D42A5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4717292"/>
            <a:ext cx="3076575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816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0B04B2C-33C0-485E-A9AF-B4D1DB9F62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Pattern Matching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1CCC0E-48E3-458D-A45D-0563296B0C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>
                <a:sym typeface="Wingdings" panose="05000000000000000000" pitchFamily="2" charset="2"/>
              </a:rPr>
              <a:t>Si le modèle peut apparaitre à des angles différents de celui appris, il faut explicitement le configurer: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>
              <a:sym typeface="Wingdings" panose="05000000000000000000" pitchFamily="2" charset="2"/>
            </a:endParaRPr>
          </a:p>
          <a:p>
            <a:endParaRPr lang="fr-CH" sz="24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C13ABA2-C63F-468A-9550-8EF92DE34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907754"/>
            <a:ext cx="518160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738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ADB4A4C-1722-4553-9550-BC7F388AA3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</a:t>
            </a:r>
            <a:r>
              <a:rPr lang="fr-CH" dirty="0" err="1"/>
              <a:t>ModelFinder</a:t>
            </a:r>
            <a:endParaRPr lang="fr-CH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5632C3-77A5-4780-89E2-F68A58736F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7848424" cy="4104000"/>
          </a:xfrm>
        </p:spPr>
        <p:txBody>
          <a:bodyPr/>
          <a:lstStyle/>
          <a:p>
            <a:r>
              <a:rPr lang="fr-CH" sz="2400" dirty="0"/>
              <a:t>Modèle image, à partir de géométrie contours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Définir modèle sur l’image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Définir origine et zones à masquer (ignorer)</a:t>
            </a:r>
          </a:p>
          <a:p>
            <a:endParaRPr lang="fr-CH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D2F9C47-4A96-4685-BF78-C69511065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2492896"/>
            <a:ext cx="21050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01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ADB4A4C-1722-4553-9550-BC7F388AA3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</a:t>
            </a:r>
            <a:r>
              <a:rPr lang="fr-CH" dirty="0" err="1"/>
              <a:t>ModelFinder</a:t>
            </a:r>
            <a:endParaRPr lang="fr-CH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5632C3-77A5-4780-89E2-F68A58736F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3671960" cy="4104000"/>
          </a:xfrm>
        </p:spPr>
        <p:txBody>
          <a:bodyPr/>
          <a:lstStyle/>
          <a:p>
            <a:r>
              <a:rPr lang="fr-CH" sz="2400" dirty="0"/>
              <a:t>Modèle DXF (</a:t>
            </a:r>
            <a:r>
              <a:rPr lang="fr-CH" sz="2400" dirty="0" err="1"/>
              <a:t>Autocad</a:t>
            </a:r>
            <a:r>
              <a:rPr lang="fr-CH" sz="2400" dirty="0"/>
              <a:t> 14)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Définir échelle</a:t>
            </a:r>
          </a:p>
          <a:p>
            <a:endParaRPr lang="fr-CH" sz="24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D8183E2-1C3D-4765-ADDA-13D2BC195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2103098"/>
            <a:ext cx="4033941" cy="340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963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03E9B34-68AD-4F0B-B5D3-3CB9D1F77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Reconfigure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022461-0673-4239-8D51-D2823476A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Permet de modifier, en runtime, des </a:t>
            </a:r>
            <a:r>
              <a:rPr lang="fr-CH" sz="2400" dirty="0" err="1"/>
              <a:t>steps</a:t>
            </a:r>
            <a:r>
              <a:rPr lang="fr-CH" sz="2400" dirty="0"/>
              <a:t> </a:t>
            </a:r>
            <a:r>
              <a:rPr lang="fr-CH" sz="2400" dirty="0" err="1"/>
              <a:t>PatternMatching</a:t>
            </a:r>
            <a:r>
              <a:rPr lang="fr-CH" sz="2400" dirty="0"/>
              <a:t> et </a:t>
            </a:r>
            <a:r>
              <a:rPr lang="fr-CH" sz="2400" dirty="0" err="1"/>
              <a:t>ModelFinder</a:t>
            </a:r>
            <a:endParaRPr lang="fr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Y compris création de </a:t>
            </a:r>
            <a:r>
              <a:rPr lang="fr-CH" sz="2400"/>
              <a:t>nouveaux modèles</a:t>
            </a:r>
            <a:endParaRPr lang="fr-CH" sz="2400" dirty="0"/>
          </a:p>
        </p:txBody>
      </p:sp>
    </p:spTree>
    <p:extLst>
      <p:ext uri="{BB962C8B-B14F-4D97-AF65-F5344CB8AC3E}">
        <p14:creationId xmlns:p14="http://schemas.microsoft.com/office/powerpoint/2010/main" val="973358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1DB60BD-D0A9-4823-8A89-E34164688B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Autres «</a:t>
            </a:r>
            <a:r>
              <a:rPr lang="fr-CH" dirty="0" err="1"/>
              <a:t>Finders</a:t>
            </a:r>
            <a:r>
              <a:rPr lang="fr-CH" dirty="0"/>
              <a:t>»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9EEC27-7327-4659-8BC7-CC702B6C98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dirty="0"/>
              <a:t>Modèles synthétiques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dirty="0" err="1"/>
              <a:t>CircleFinder</a:t>
            </a:r>
            <a:endParaRPr lang="fr-CH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dirty="0" err="1"/>
              <a:t>EllipseFinder</a:t>
            </a:r>
            <a:endParaRPr lang="fr-CH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dirty="0" err="1"/>
              <a:t>RectangleFinder</a:t>
            </a:r>
            <a:endParaRPr lang="fr-CH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dirty="0" err="1"/>
              <a:t>SegmentFinder</a:t>
            </a:r>
            <a:endParaRPr lang="fr-CH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fr-CH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dirty="0"/>
              <a:t>Similaires a </a:t>
            </a:r>
            <a:r>
              <a:rPr lang="fr-CH" dirty="0" err="1"/>
              <a:t>ModelFinder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608569445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Arc 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Arc ING</Template>
  <TotalTime>747</TotalTime>
  <Words>344</Words>
  <Application>Microsoft Office PowerPoint</Application>
  <PresentationFormat>Affichage à l'écran (4:3)</PresentationFormat>
  <Paragraphs>74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ＭＳ Ｐゴシック</vt:lpstr>
      <vt:lpstr>Arial</vt:lpstr>
      <vt:lpstr>Calibri</vt:lpstr>
      <vt:lpstr>Tahoma</vt:lpstr>
      <vt:lpstr>Wingdings</vt:lpstr>
      <vt:lpstr>Presentation Arc 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Haute Ecole Arc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Lopez De Meneses Yuri</dc:creator>
  <cp:lastModifiedBy>Lopez De Meneses Yuri</cp:lastModifiedBy>
  <cp:revision>31</cp:revision>
  <dcterms:created xsi:type="dcterms:W3CDTF">2016-06-07T06:14:41Z</dcterms:created>
  <dcterms:modified xsi:type="dcterms:W3CDTF">2020-09-29T12:17:34Z</dcterms:modified>
</cp:coreProperties>
</file>