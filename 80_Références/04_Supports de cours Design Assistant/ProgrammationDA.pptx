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74" r:id="rId3"/>
    <p:sldId id="260" r:id="rId4"/>
    <p:sldId id="262" r:id="rId5"/>
    <p:sldId id="263" r:id="rId6"/>
    <p:sldId id="264" r:id="rId7"/>
    <p:sldId id="288" r:id="rId8"/>
    <p:sldId id="289" r:id="rId9"/>
    <p:sldId id="261" r:id="rId10"/>
    <p:sldId id="265" r:id="rId11"/>
    <p:sldId id="266" r:id="rId12"/>
    <p:sldId id="270" r:id="rId13"/>
    <p:sldId id="267" r:id="rId14"/>
    <p:sldId id="268" r:id="rId15"/>
    <p:sldId id="269" r:id="rId16"/>
    <p:sldId id="271" r:id="rId17"/>
    <p:sldId id="259" r:id="rId18"/>
    <p:sldId id="273" r:id="rId19"/>
    <p:sldId id="275" r:id="rId20"/>
    <p:sldId id="276" r:id="rId21"/>
    <p:sldId id="277" r:id="rId22"/>
    <p:sldId id="278" r:id="rId23"/>
    <p:sldId id="272" r:id="rId24"/>
    <p:sldId id="279" r:id="rId25"/>
    <p:sldId id="280" r:id="rId26"/>
    <p:sldId id="282" r:id="rId27"/>
    <p:sldId id="281" r:id="rId28"/>
    <p:sldId id="283" r:id="rId29"/>
    <p:sldId id="284" r:id="rId30"/>
    <p:sldId id="285" r:id="rId31"/>
    <p:sldId id="290" r:id="rId32"/>
    <p:sldId id="286" r:id="rId33"/>
    <p:sldId id="287" r:id="rId34"/>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1F50"/>
    <a:srgbClr val="7071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1" autoAdjust="0"/>
    <p:restoredTop sz="81569" autoAdjust="0"/>
  </p:normalViewPr>
  <p:slideViewPr>
    <p:cSldViewPr>
      <p:cViewPr varScale="1">
        <p:scale>
          <a:sx n="67" d="100"/>
          <a:sy n="67" d="100"/>
        </p:scale>
        <p:origin x="1800"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2731"/>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H"/>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BE845-C377-4AD6-99AD-378D01E8C0A4}" type="datetimeFigureOut">
              <a:rPr lang="fr-CH" smtClean="0"/>
              <a:t>17.03.2023</a:t>
            </a:fld>
            <a:endParaRPr lang="fr-CH"/>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CH"/>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H"/>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74D18E-4DF3-4A21-9790-A3DD95C78B01}" type="slidenum">
              <a:rPr lang="fr-CH" smtClean="0"/>
              <a:t>‹N°›</a:t>
            </a:fld>
            <a:endParaRPr lang="fr-CH"/>
          </a:p>
        </p:txBody>
      </p:sp>
    </p:spTree>
    <p:extLst>
      <p:ext uri="{BB962C8B-B14F-4D97-AF65-F5344CB8AC3E}">
        <p14:creationId xmlns:p14="http://schemas.microsoft.com/office/powerpoint/2010/main" val="3583353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Les variables sont locales au </a:t>
            </a:r>
            <a:r>
              <a:rPr lang="fr-CH" dirty="0" err="1"/>
              <a:t>flowchart</a:t>
            </a:r>
            <a:r>
              <a:rPr lang="fr-CH" dirty="0"/>
              <a:t> dans lequel elles sont crées. Celles crées dans le </a:t>
            </a:r>
            <a:r>
              <a:rPr lang="fr-CH" dirty="0" err="1"/>
              <a:t>MainFlowchart</a:t>
            </a:r>
            <a:r>
              <a:rPr lang="fr-CH" dirty="0"/>
              <a:t> peuvent être considérées comme des variables globales et celles dans un </a:t>
            </a:r>
            <a:r>
              <a:rPr lang="fr-CH" dirty="0" err="1"/>
              <a:t>subflowchart</a:t>
            </a:r>
            <a:r>
              <a:rPr lang="fr-CH" dirty="0"/>
              <a:t> (cf. section suivante) comme locales à celui-ci.</a:t>
            </a:r>
          </a:p>
        </p:txBody>
      </p:sp>
      <p:sp>
        <p:nvSpPr>
          <p:cNvPr id="4" name="Espace réservé du numéro de diapositive 3"/>
          <p:cNvSpPr>
            <a:spLocks noGrp="1"/>
          </p:cNvSpPr>
          <p:nvPr>
            <p:ph type="sldNum" sz="quarter" idx="5"/>
          </p:nvPr>
        </p:nvSpPr>
        <p:spPr/>
        <p:txBody>
          <a:bodyPr/>
          <a:lstStyle/>
          <a:p>
            <a:fld id="{0B74D18E-4DF3-4A21-9790-A3DD95C78B01}" type="slidenum">
              <a:rPr lang="fr-CH" smtClean="0"/>
              <a:t>7</a:t>
            </a:fld>
            <a:endParaRPr lang="fr-CH"/>
          </a:p>
        </p:txBody>
      </p:sp>
    </p:spTree>
    <p:extLst>
      <p:ext uri="{BB962C8B-B14F-4D97-AF65-F5344CB8AC3E}">
        <p14:creationId xmlns:p14="http://schemas.microsoft.com/office/powerpoint/2010/main" val="2485159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H" dirty="0"/>
              <a:t>Les </a:t>
            </a:r>
            <a:r>
              <a:rPr lang="fr-CH" dirty="0" err="1"/>
              <a:t>arrays</a:t>
            </a:r>
            <a:r>
              <a:rPr lang="fr-CH" dirty="0"/>
              <a:t> sont des tableau 1D, ou plutôt des listes, dans le sens où ils ont une taille variable (on peut ajouter et enlever des éléments)</a:t>
            </a:r>
          </a:p>
          <a:p>
            <a:endParaRPr lang="fr-CH" dirty="0"/>
          </a:p>
          <a:p>
            <a:r>
              <a:rPr lang="fr-CH" dirty="0"/>
              <a:t>Les variables persistantes sont sauvegardés en disque. Ainsi au prochain démarrage on retrouve leur dernière valeur. On peut les persister par recette (cf. gestion de variantes plus loin dans le document)</a:t>
            </a:r>
          </a:p>
          <a:p>
            <a:endParaRPr lang="fr-CH" dirty="0"/>
          </a:p>
          <a:p>
            <a:r>
              <a:rPr lang="fr-CH" dirty="0"/>
              <a:t>Reset Point:</a:t>
            </a:r>
          </a:p>
          <a:p>
            <a:pPr marL="171450" indent="-171450">
              <a:buFont typeface="Arial" panose="020B0604020202020204" pitchFamily="34" charset="0"/>
              <a:buChar char="•"/>
            </a:pPr>
            <a:r>
              <a:rPr lang="fr-CH" dirty="0" err="1"/>
              <a:t>InspectionStart</a:t>
            </a:r>
            <a:r>
              <a:rPr lang="fr-CH" dirty="0"/>
              <a:t>: En début de la boucle principale (i.e. à chaque nouvelle pièce)</a:t>
            </a:r>
          </a:p>
          <a:p>
            <a:pPr marL="171450" indent="-171450">
              <a:buFont typeface="Arial" panose="020B0604020202020204" pitchFamily="34" charset="0"/>
              <a:buChar char="•"/>
            </a:pPr>
            <a:r>
              <a:rPr lang="fr-CH" dirty="0" err="1"/>
              <a:t>FlowchartStart</a:t>
            </a:r>
            <a:r>
              <a:rPr lang="fr-CH" dirty="0"/>
              <a:t>:  Au début du </a:t>
            </a:r>
            <a:r>
              <a:rPr lang="fr-CH" dirty="0" err="1"/>
              <a:t>flowchart</a:t>
            </a:r>
            <a:r>
              <a:rPr lang="fr-CH" dirty="0"/>
              <a:t>, i.e. la «boule» d’entrée.</a:t>
            </a:r>
          </a:p>
        </p:txBody>
      </p:sp>
      <p:sp>
        <p:nvSpPr>
          <p:cNvPr id="4" name="Espace réservé du numéro de diapositive 3"/>
          <p:cNvSpPr>
            <a:spLocks noGrp="1"/>
          </p:cNvSpPr>
          <p:nvPr>
            <p:ph type="sldNum" sz="quarter" idx="5"/>
          </p:nvPr>
        </p:nvSpPr>
        <p:spPr/>
        <p:txBody>
          <a:bodyPr/>
          <a:lstStyle/>
          <a:p>
            <a:fld id="{0B74D18E-4DF3-4A21-9790-A3DD95C78B01}" type="slidenum">
              <a:rPr lang="fr-CH" smtClean="0"/>
              <a:t>8</a:t>
            </a:fld>
            <a:endParaRPr lang="fr-CH"/>
          </a:p>
        </p:txBody>
      </p:sp>
    </p:spTree>
    <p:extLst>
      <p:ext uri="{BB962C8B-B14F-4D97-AF65-F5344CB8AC3E}">
        <p14:creationId xmlns:p14="http://schemas.microsoft.com/office/powerpoint/2010/main" val="26444945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cueil">
    <p:spTree>
      <p:nvGrpSpPr>
        <p:cNvPr id="1" name=""/>
        <p:cNvGrpSpPr/>
        <p:nvPr/>
      </p:nvGrpSpPr>
      <p:grpSpPr>
        <a:xfrm>
          <a:off x="0" y="0"/>
          <a:ext cx="0" cy="0"/>
          <a:chOff x="0" y="0"/>
          <a:chExt cx="0" cy="0"/>
        </a:xfrm>
      </p:grpSpPr>
      <p:pic>
        <p:nvPicPr>
          <p:cNvPr id="4" name="Image 3" descr="GrisBienvenue.pn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Espace réservé du texte 4"/>
          <p:cNvSpPr>
            <a:spLocks noGrp="1"/>
          </p:cNvSpPr>
          <p:nvPr>
            <p:ph type="body" sz="quarter" idx="10" hasCustomPrompt="1"/>
          </p:nvPr>
        </p:nvSpPr>
        <p:spPr>
          <a:xfrm>
            <a:off x="539750" y="2492375"/>
            <a:ext cx="7704138" cy="792163"/>
          </a:xfrm>
          <a:prstGeom prst="rect">
            <a:avLst/>
          </a:prstGeom>
        </p:spPr>
        <p:txBody>
          <a:bodyPr anchor="ctr" anchorCtr="0"/>
          <a:lstStyle>
            <a:lvl1pPr marL="0" indent="0">
              <a:buNone/>
              <a:defRPr sz="3500" b="1">
                <a:solidFill>
                  <a:srgbClr val="CB1F50"/>
                </a:solidFill>
                <a:latin typeface="Tahoma" pitchFamily="34" charset="0"/>
                <a:ea typeface="Tahoma" pitchFamily="34" charset="0"/>
                <a:cs typeface="Tahoma" pitchFamily="34" charset="0"/>
              </a:defRPr>
            </a:lvl1pPr>
          </a:lstStyle>
          <a:p>
            <a:pPr lvl="0"/>
            <a:r>
              <a:rPr lang="fr-FR" dirty="0"/>
              <a:t>Bienvenue!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7" name="Rectangle 6"/>
          <p:cNvSpPr/>
          <p:nvPr userDrawn="1"/>
        </p:nvSpPr>
        <p:spPr>
          <a:xfrm>
            <a:off x="358775" y="962025"/>
            <a:ext cx="8048625" cy="18192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6" name="Espace réservé du texte 5"/>
          <p:cNvSpPr>
            <a:spLocks noGrp="1"/>
          </p:cNvSpPr>
          <p:nvPr>
            <p:ph type="body" sz="quarter" idx="10" hasCustomPrompt="1"/>
          </p:nvPr>
        </p:nvSpPr>
        <p:spPr>
          <a:xfrm>
            <a:off x="539750" y="1916113"/>
            <a:ext cx="7704138" cy="720725"/>
          </a:xfrm>
          <a:prstGeom prst="rect">
            <a:avLst/>
          </a:prstGeom>
        </p:spPr>
        <p:txBody>
          <a:bodyPr anchor="ctr" anchorCtr="0"/>
          <a:lstStyle>
            <a:lvl1pPr marL="0" indent="0">
              <a:buNone/>
              <a:defRPr sz="2500" b="1">
                <a:solidFill>
                  <a:srgbClr val="CB1F50"/>
                </a:solidFill>
                <a:latin typeface="Tahoma" pitchFamily="34" charset="0"/>
                <a:ea typeface="Tahoma" pitchFamily="34" charset="0"/>
                <a:cs typeface="Tahoma" pitchFamily="34" charset="0"/>
              </a:defRPr>
            </a:lvl1pPr>
          </a:lstStyle>
          <a:p>
            <a:pPr lvl="0"/>
            <a:r>
              <a:rPr lang="fr-FR" dirty="0"/>
              <a:t>Titre de la présentation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7" name="Rectangle 6"/>
          <p:cNvSpPr/>
          <p:nvPr userDrawn="1"/>
        </p:nvSpPr>
        <p:spPr>
          <a:xfrm>
            <a:off x="358775" y="962025"/>
            <a:ext cx="8048625" cy="18192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9" name="Espace réservé du texte 8"/>
          <p:cNvSpPr>
            <a:spLocks noGrp="1"/>
          </p:cNvSpPr>
          <p:nvPr>
            <p:ph type="body" sz="quarter" idx="10" hasCustomPrompt="1"/>
          </p:nvPr>
        </p:nvSpPr>
        <p:spPr>
          <a:xfrm>
            <a:off x="540000" y="1915200"/>
            <a:ext cx="7704000" cy="720000"/>
          </a:xfrm>
          <a:prstGeom prst="rect">
            <a:avLst/>
          </a:prstGeom>
        </p:spPr>
        <p:txBody>
          <a:bodyPr anchor="ctr" anchorCtr="0"/>
          <a:lstStyle>
            <a:lvl1pPr marL="0" indent="0">
              <a:buNone/>
              <a:defRPr sz="2500" b="1">
                <a:solidFill>
                  <a:srgbClr val="CB1F50"/>
                </a:solidFill>
                <a:latin typeface="Tahoma" pitchFamily="34" charset="0"/>
                <a:ea typeface="Tahoma" pitchFamily="34" charset="0"/>
                <a:cs typeface="Tahoma" pitchFamily="34" charset="0"/>
              </a:defRPr>
            </a:lvl1pPr>
          </a:lstStyle>
          <a:p>
            <a:pPr lvl="0"/>
            <a:r>
              <a:rPr lang="fr-FR" dirty="0"/>
              <a:t>Sommaire</a:t>
            </a:r>
          </a:p>
        </p:txBody>
      </p:sp>
      <p:sp>
        <p:nvSpPr>
          <p:cNvPr id="13" name="Espace réservé du texte 12"/>
          <p:cNvSpPr>
            <a:spLocks noGrp="1"/>
          </p:cNvSpPr>
          <p:nvPr>
            <p:ph type="body" sz="quarter" idx="11" hasCustomPrompt="1"/>
          </p:nvPr>
        </p:nvSpPr>
        <p:spPr>
          <a:xfrm>
            <a:off x="2854800" y="3013200"/>
            <a:ext cx="2606400" cy="2541600"/>
          </a:xfrm>
          <a:prstGeom prst="rect">
            <a:avLst/>
          </a:prstGeom>
        </p:spPr>
        <p:txBody>
          <a:bodyPr/>
          <a:lstStyle>
            <a:lvl1pPr>
              <a:buFont typeface="Tahoma" pitchFamily="34" charset="0"/>
              <a:buChar char="—"/>
              <a:defRPr sz="1400" b="1">
                <a:solidFill>
                  <a:srgbClr val="CB1F50"/>
                </a:solidFill>
                <a:latin typeface="Tahoma" pitchFamily="34" charset="0"/>
                <a:ea typeface="Tahoma" pitchFamily="34" charset="0"/>
                <a:cs typeface="Tahoma" pitchFamily="34" charset="0"/>
              </a:defRPr>
            </a:lvl1pPr>
            <a:lvl2pPr marL="1188000">
              <a:buFontTx/>
              <a:buNone/>
              <a:defRPr sz="1100" b="1">
                <a:solidFill>
                  <a:srgbClr val="707173"/>
                </a:solidFill>
                <a:latin typeface="Tahoma" pitchFamily="34" charset="0"/>
                <a:ea typeface="Tahoma" pitchFamily="34" charset="0"/>
                <a:cs typeface="Tahoma" pitchFamily="34" charset="0"/>
              </a:defRPr>
            </a:lvl2pPr>
            <a:lvl3pPr>
              <a:buFontTx/>
              <a:buNone/>
              <a:defRPr sz="1100" b="1">
                <a:solidFill>
                  <a:srgbClr val="707173"/>
                </a:solidFill>
                <a:latin typeface="Tahoma" pitchFamily="34" charset="0"/>
                <a:ea typeface="Tahoma" pitchFamily="34" charset="0"/>
                <a:cs typeface="Tahoma" pitchFamily="34" charset="0"/>
              </a:defRPr>
            </a:lvl3pPr>
          </a:lstStyle>
          <a:p>
            <a:pPr lvl="0"/>
            <a:r>
              <a:rPr lang="fr-CH" dirty="0"/>
              <a:t>Thème 1</a:t>
            </a:r>
          </a:p>
          <a:p>
            <a:pPr lvl="1"/>
            <a:r>
              <a:rPr lang="fr-CH" dirty="0"/>
              <a:t>Sous-thème</a:t>
            </a:r>
          </a:p>
          <a:p>
            <a:pPr lvl="2"/>
            <a:endParaRPr lang="fr-CH" dirty="0"/>
          </a:p>
          <a:p>
            <a:pPr lvl="0"/>
            <a:r>
              <a:rPr lang="fr-CH" dirty="0"/>
              <a:t>Thème 2</a:t>
            </a:r>
          </a:p>
          <a:p>
            <a:pPr lvl="1"/>
            <a:r>
              <a:rPr lang="fr-CH" dirty="0"/>
              <a:t>Sous-thème</a:t>
            </a:r>
          </a:p>
          <a:p>
            <a:pPr lvl="1"/>
            <a:r>
              <a:rPr lang="fr-CH" dirty="0"/>
              <a:t>Sous-thème</a:t>
            </a:r>
          </a:p>
          <a:p>
            <a:pPr lvl="2"/>
            <a:endParaRPr lang="fr-CH" dirty="0"/>
          </a:p>
          <a:p>
            <a:pPr lvl="0"/>
            <a:r>
              <a:rPr lang="fr-CH" dirty="0"/>
              <a:t>Thème 3</a:t>
            </a:r>
          </a:p>
          <a:p>
            <a:pPr lvl="0"/>
            <a:r>
              <a:rPr lang="fr-CH" dirty="0"/>
              <a:t>Thème 4</a:t>
            </a:r>
          </a:p>
          <a:p>
            <a:pPr lvl="0"/>
            <a:r>
              <a:rPr lang="fr-CH" dirty="0"/>
              <a:t>Thème 5</a:t>
            </a:r>
          </a:p>
        </p:txBody>
      </p:sp>
      <p:sp>
        <p:nvSpPr>
          <p:cNvPr id="15" name="Espace réservé du texte 14"/>
          <p:cNvSpPr>
            <a:spLocks noGrp="1"/>
          </p:cNvSpPr>
          <p:nvPr>
            <p:ph type="body" sz="quarter" idx="12" hasCustomPrompt="1"/>
          </p:nvPr>
        </p:nvSpPr>
        <p:spPr>
          <a:xfrm>
            <a:off x="5461200" y="3013200"/>
            <a:ext cx="2606400" cy="2541600"/>
          </a:xfrm>
          <a:prstGeom prst="rect">
            <a:avLst/>
          </a:prstGeom>
        </p:spPr>
        <p:txBody>
          <a:bodyPr/>
          <a:lstStyle>
            <a:lvl1pPr>
              <a:buFont typeface="Tahoma" pitchFamily="34" charset="0"/>
              <a:buChar char="—"/>
              <a:defRPr sz="1400" b="1">
                <a:solidFill>
                  <a:srgbClr val="CB1F50"/>
                </a:solidFill>
                <a:latin typeface="Tahoma" pitchFamily="34" charset="0"/>
                <a:ea typeface="Tahoma" pitchFamily="34" charset="0"/>
                <a:cs typeface="Tahoma" pitchFamily="34" charset="0"/>
              </a:defRPr>
            </a:lvl1pPr>
            <a:lvl2pPr marL="1188000">
              <a:buNone/>
              <a:defRPr sz="1100" b="1">
                <a:solidFill>
                  <a:srgbClr val="707173"/>
                </a:solidFill>
                <a:latin typeface="Tahoma" pitchFamily="34" charset="0"/>
                <a:ea typeface="Tahoma" pitchFamily="34" charset="0"/>
                <a:cs typeface="Tahoma" pitchFamily="34" charset="0"/>
              </a:defRPr>
            </a:lvl2pPr>
            <a:lvl3pPr>
              <a:buFontTx/>
              <a:buNone/>
              <a:defRPr sz="1100" b="1">
                <a:solidFill>
                  <a:srgbClr val="707173"/>
                </a:solidFill>
                <a:latin typeface="Tahoma" pitchFamily="34" charset="0"/>
                <a:ea typeface="Tahoma" pitchFamily="34" charset="0"/>
                <a:cs typeface="Tahoma" pitchFamily="34" charset="0"/>
              </a:defRPr>
            </a:lvl3pPr>
          </a:lstStyle>
          <a:p>
            <a:pPr lvl="0"/>
            <a:r>
              <a:rPr lang="fr-FR" dirty="0"/>
              <a:t>Thème 6</a:t>
            </a:r>
          </a:p>
          <a:p>
            <a:pPr lvl="1"/>
            <a:r>
              <a:rPr lang="fr-CH" b="1" dirty="0">
                <a:solidFill>
                  <a:srgbClr val="707173"/>
                </a:solidFill>
              </a:rPr>
              <a:t>Sous-thème</a:t>
            </a:r>
          </a:p>
          <a:p>
            <a:pPr lvl="2"/>
            <a:endParaRPr lang="fr-CH" b="1" dirty="0">
              <a:solidFill>
                <a:srgbClr val="707173"/>
              </a:solidFill>
            </a:endParaRPr>
          </a:p>
          <a:p>
            <a:pPr lvl="0"/>
            <a:r>
              <a:rPr lang="fr-CH" dirty="0"/>
              <a:t>Thème 7</a:t>
            </a:r>
          </a:p>
          <a:p>
            <a:pPr lvl="1"/>
            <a:r>
              <a:rPr lang="fr-CH" dirty="0"/>
              <a:t>Sous-thème</a:t>
            </a:r>
          </a:p>
          <a:p>
            <a:pPr lvl="1"/>
            <a:r>
              <a:rPr lang="fr-CH" dirty="0"/>
              <a:t>Sous-thème</a:t>
            </a:r>
          </a:p>
          <a:p>
            <a:pPr lvl="2"/>
            <a:endParaRPr lang="fr-CH" dirty="0"/>
          </a:p>
          <a:p>
            <a:pPr lvl="0"/>
            <a:r>
              <a:rPr lang="fr-CH" dirty="0"/>
              <a:t>Thème 8</a:t>
            </a:r>
          </a:p>
          <a:p>
            <a:pPr lvl="0"/>
            <a:r>
              <a:rPr lang="fr-CH" dirty="0"/>
              <a:t>Thème 9</a:t>
            </a:r>
          </a:p>
          <a:p>
            <a:pPr lvl="0"/>
            <a:r>
              <a:rPr lang="fr-CH" dirty="0"/>
              <a:t>Thème 10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e simple">
    <p:spTree>
      <p:nvGrpSpPr>
        <p:cNvPr id="1" name=""/>
        <p:cNvGrpSpPr/>
        <p:nvPr/>
      </p:nvGrpSpPr>
      <p:grpSpPr>
        <a:xfrm>
          <a:off x="0" y="0"/>
          <a:ext cx="0" cy="0"/>
          <a:chOff x="0" y="0"/>
          <a:chExt cx="0" cy="0"/>
        </a:xfrm>
      </p:grpSpPr>
      <p:sp>
        <p:nvSpPr>
          <p:cNvPr id="3" name="Rectangle 2"/>
          <p:cNvSpPr/>
          <p:nvPr userDrawn="1"/>
        </p:nvSpPr>
        <p:spPr>
          <a:xfrm>
            <a:off x="358775" y="962025"/>
            <a:ext cx="8048625" cy="10064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4" name="Espace réservé du texte 4"/>
          <p:cNvSpPr>
            <a:spLocks noGrp="1"/>
          </p:cNvSpPr>
          <p:nvPr>
            <p:ph type="body" sz="quarter" idx="10" hasCustomPrompt="1"/>
          </p:nvPr>
        </p:nvSpPr>
        <p:spPr>
          <a:xfrm>
            <a:off x="539552" y="1124744"/>
            <a:ext cx="7704000" cy="720000"/>
          </a:xfrm>
          <a:prstGeom prst="rect">
            <a:avLst/>
          </a:prstGeom>
        </p:spPr>
        <p:txBody>
          <a:bodyPr anchor="ctr" anchorCtr="0"/>
          <a:lstStyle>
            <a:lvl1pPr marL="0" indent="0">
              <a:buNone/>
              <a:defRPr sz="2500" b="1">
                <a:solidFill>
                  <a:srgbClr val="CB1F50"/>
                </a:solidFill>
                <a:latin typeface="Tahoma" pitchFamily="34" charset="0"/>
                <a:ea typeface="Tahoma" pitchFamily="34" charset="0"/>
                <a:cs typeface="Tahoma" pitchFamily="34" charset="0"/>
              </a:defRPr>
            </a:lvl1pPr>
          </a:lstStyle>
          <a:p>
            <a:pPr lvl="0"/>
            <a:r>
              <a:rPr lang="fr-FR" dirty="0"/>
              <a:t>Titre</a:t>
            </a:r>
            <a:endParaRPr lang="fr-CH" dirty="0"/>
          </a:p>
        </p:txBody>
      </p:sp>
      <p:sp>
        <p:nvSpPr>
          <p:cNvPr id="6" name="Espace réservé du texte 5"/>
          <p:cNvSpPr>
            <a:spLocks noGrp="1"/>
          </p:cNvSpPr>
          <p:nvPr>
            <p:ph type="body" sz="quarter" idx="11" hasCustomPrompt="1"/>
          </p:nvPr>
        </p:nvSpPr>
        <p:spPr>
          <a:xfrm>
            <a:off x="540000" y="2059200"/>
            <a:ext cx="7704000" cy="4104000"/>
          </a:xfrm>
          <a:prstGeom prst="rect">
            <a:avLst/>
          </a:prstGeom>
        </p:spPr>
        <p:txBody>
          <a:bodyPr/>
          <a:lstStyle>
            <a:lvl1pPr marL="0" indent="0">
              <a:buNone/>
              <a:defRPr>
                <a:solidFill>
                  <a:srgbClr val="CB1F50"/>
                </a:solidFill>
                <a:latin typeface="Tahoma" pitchFamily="34" charset="0"/>
                <a:ea typeface="Tahoma" pitchFamily="34" charset="0"/>
                <a:cs typeface="Tahoma" pitchFamily="34" charset="0"/>
              </a:defRPr>
            </a:lvl1pPr>
          </a:lstStyle>
          <a:p>
            <a:pPr lvl="0"/>
            <a:r>
              <a:rPr lang="fr-CH" dirty="0"/>
              <a:t>Texte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ux colonnes">
    <p:spTree>
      <p:nvGrpSpPr>
        <p:cNvPr id="1" name=""/>
        <p:cNvGrpSpPr/>
        <p:nvPr/>
      </p:nvGrpSpPr>
      <p:grpSpPr>
        <a:xfrm>
          <a:off x="0" y="0"/>
          <a:ext cx="0" cy="0"/>
          <a:chOff x="0" y="0"/>
          <a:chExt cx="0" cy="0"/>
        </a:xfrm>
      </p:grpSpPr>
      <p:sp>
        <p:nvSpPr>
          <p:cNvPr id="10" name="Rectangle 9"/>
          <p:cNvSpPr/>
          <p:nvPr userDrawn="1"/>
        </p:nvSpPr>
        <p:spPr>
          <a:xfrm>
            <a:off x="358775" y="962025"/>
            <a:ext cx="8048625" cy="10064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7" name="Espace réservé du texte 6"/>
          <p:cNvSpPr>
            <a:spLocks noGrp="1"/>
          </p:cNvSpPr>
          <p:nvPr>
            <p:ph type="body" sz="quarter" idx="10" hasCustomPrompt="1"/>
          </p:nvPr>
        </p:nvSpPr>
        <p:spPr>
          <a:xfrm>
            <a:off x="540000" y="1123200"/>
            <a:ext cx="7704000" cy="720000"/>
          </a:xfrm>
          <a:prstGeom prst="rect">
            <a:avLst/>
          </a:prstGeom>
        </p:spPr>
        <p:txBody>
          <a:bodyPr anchor="ctr" anchorCtr="0"/>
          <a:lstStyle>
            <a:lvl1pPr marL="0" indent="0">
              <a:buNone/>
              <a:defRPr sz="2500" b="1">
                <a:solidFill>
                  <a:srgbClr val="CB1F50"/>
                </a:solidFill>
                <a:latin typeface="Tahoma" pitchFamily="34" charset="0"/>
                <a:ea typeface="Tahoma" pitchFamily="34" charset="0"/>
                <a:cs typeface="Tahoma" pitchFamily="34" charset="0"/>
              </a:defRPr>
            </a:lvl1pPr>
          </a:lstStyle>
          <a:p>
            <a:pPr lvl="0"/>
            <a:r>
              <a:rPr lang="fr-FR" dirty="0"/>
              <a:t>Deux colonnes</a:t>
            </a:r>
          </a:p>
        </p:txBody>
      </p:sp>
      <p:sp>
        <p:nvSpPr>
          <p:cNvPr id="9" name="Espace réservé du texte 8"/>
          <p:cNvSpPr>
            <a:spLocks noGrp="1"/>
          </p:cNvSpPr>
          <p:nvPr>
            <p:ph type="body" sz="quarter" idx="11" hasCustomPrompt="1"/>
          </p:nvPr>
        </p:nvSpPr>
        <p:spPr>
          <a:xfrm>
            <a:off x="1728000" y="2170800"/>
            <a:ext cx="3124800" cy="1656829"/>
          </a:xfrm>
          <a:prstGeom prst="rect">
            <a:avLst/>
          </a:prstGeom>
        </p:spPr>
        <p:txBody>
          <a:bodyPr/>
          <a:lstStyle>
            <a:lvl1pPr>
              <a:buFont typeface="Tahoma" pitchFamily="34" charset="0"/>
              <a:buChar char="—"/>
              <a:defRPr sz="1200" b="1" baseline="0">
                <a:solidFill>
                  <a:srgbClr val="CB1F50"/>
                </a:solidFill>
                <a:latin typeface="Tahoma" pitchFamily="34" charset="0"/>
                <a:ea typeface="Tahoma" pitchFamily="34" charset="0"/>
                <a:cs typeface="Tahoma" pitchFamily="34" charset="0"/>
              </a:defRPr>
            </a:lvl1pPr>
            <a:lvl2pPr marL="648000">
              <a:buNone/>
              <a:defRPr sz="1000">
                <a:solidFill>
                  <a:srgbClr val="707173"/>
                </a:solidFill>
                <a:latin typeface="Tahoma" pitchFamily="34" charset="0"/>
                <a:ea typeface="Tahoma" pitchFamily="34" charset="0"/>
                <a:cs typeface="Tahoma" pitchFamily="34" charset="0"/>
              </a:defRPr>
            </a:lvl2pPr>
          </a:lstStyle>
          <a:p>
            <a:pPr lvl="0"/>
            <a:r>
              <a:rPr lang="fr-FR" dirty="0"/>
              <a:t>Titre 1</a:t>
            </a:r>
          </a:p>
          <a:p>
            <a:pPr lvl="1"/>
            <a:r>
              <a:rPr lang="fr-FR" dirty="0"/>
              <a:t>Texte 1</a:t>
            </a:r>
          </a:p>
          <a:p>
            <a:pPr lvl="1"/>
            <a:endParaRPr lang="fr-FR" dirty="0"/>
          </a:p>
          <a:p>
            <a:pPr lvl="0"/>
            <a:r>
              <a:rPr lang="fr-CH" dirty="0"/>
              <a:t>Titre 2</a:t>
            </a:r>
          </a:p>
          <a:p>
            <a:pPr lvl="1"/>
            <a:r>
              <a:rPr lang="fr-CH" dirty="0"/>
              <a:t>Texte 2</a:t>
            </a:r>
          </a:p>
          <a:p>
            <a:pPr lvl="1"/>
            <a:endParaRPr lang="fr-CH" dirty="0"/>
          </a:p>
          <a:p>
            <a:pPr lvl="0"/>
            <a:r>
              <a:rPr lang="fr-CH" dirty="0"/>
              <a:t>Titre 3</a:t>
            </a:r>
          </a:p>
          <a:p>
            <a:pPr lvl="1"/>
            <a:r>
              <a:rPr lang="fr-CH" dirty="0"/>
              <a:t>Texte 3</a:t>
            </a:r>
          </a:p>
        </p:txBody>
      </p:sp>
      <p:sp>
        <p:nvSpPr>
          <p:cNvPr id="15" name="Espace réservé du texte 14"/>
          <p:cNvSpPr>
            <a:spLocks noGrp="1"/>
          </p:cNvSpPr>
          <p:nvPr>
            <p:ph type="body" sz="quarter" idx="12" hasCustomPrompt="1"/>
          </p:nvPr>
        </p:nvSpPr>
        <p:spPr>
          <a:xfrm>
            <a:off x="5068800" y="2170800"/>
            <a:ext cx="3124800" cy="1656000"/>
          </a:xfrm>
          <a:prstGeom prst="rect">
            <a:avLst/>
          </a:prstGeom>
        </p:spPr>
        <p:txBody>
          <a:bodyPr/>
          <a:lstStyle>
            <a:lvl1pPr>
              <a:buFont typeface="Tahoma" pitchFamily="34" charset="0"/>
              <a:buChar char="—"/>
              <a:defRPr sz="1200" b="1">
                <a:solidFill>
                  <a:srgbClr val="CB1F50"/>
                </a:solidFill>
                <a:latin typeface="Tahoma" pitchFamily="34" charset="0"/>
                <a:ea typeface="Tahoma" pitchFamily="34" charset="0"/>
                <a:cs typeface="Tahoma" pitchFamily="34" charset="0"/>
              </a:defRPr>
            </a:lvl1pPr>
            <a:lvl2pPr marL="648000">
              <a:buFontTx/>
              <a:buNone/>
              <a:defRPr sz="1000">
                <a:solidFill>
                  <a:srgbClr val="707173"/>
                </a:solidFill>
                <a:latin typeface="Tahoma" pitchFamily="34" charset="0"/>
                <a:ea typeface="Tahoma" pitchFamily="34" charset="0"/>
                <a:cs typeface="Tahoma" pitchFamily="34" charset="0"/>
              </a:defRPr>
            </a:lvl2pPr>
          </a:lstStyle>
          <a:p>
            <a:pPr lvl="0"/>
            <a:r>
              <a:rPr lang="fr-FR" dirty="0"/>
              <a:t>Titre 4</a:t>
            </a:r>
          </a:p>
          <a:p>
            <a:pPr lvl="1"/>
            <a:r>
              <a:rPr lang="fr-CH" sz="1000" dirty="0">
                <a:solidFill>
                  <a:srgbClr val="707173"/>
                </a:solidFill>
                <a:latin typeface="Tahoma" pitchFamily="34" charset="0"/>
                <a:ea typeface="Tahoma" pitchFamily="34" charset="0"/>
                <a:cs typeface="Tahoma" pitchFamily="34" charset="0"/>
              </a:rPr>
              <a:t>Texte 4</a:t>
            </a:r>
          </a:p>
          <a:p>
            <a:pPr lvl="1"/>
            <a:endParaRPr lang="fr-CH" sz="1000" dirty="0">
              <a:solidFill>
                <a:srgbClr val="707173"/>
              </a:solidFill>
              <a:latin typeface="Tahoma" pitchFamily="34" charset="0"/>
              <a:ea typeface="Tahoma" pitchFamily="34" charset="0"/>
              <a:cs typeface="Tahoma" pitchFamily="34" charset="0"/>
            </a:endParaRPr>
          </a:p>
          <a:p>
            <a:pPr lvl="0"/>
            <a:r>
              <a:rPr lang="fr-CH" dirty="0"/>
              <a:t>Titre 5</a:t>
            </a:r>
          </a:p>
          <a:p>
            <a:pPr lvl="1"/>
            <a:r>
              <a:rPr lang="fr-CH" dirty="0"/>
              <a:t>Texte 5</a:t>
            </a:r>
          </a:p>
          <a:p>
            <a:pPr lvl="1"/>
            <a:endParaRPr lang="fr-CH" dirty="0"/>
          </a:p>
          <a:p>
            <a:pPr lvl="0"/>
            <a:r>
              <a:rPr lang="fr-CH" dirty="0"/>
              <a:t>Titre 6</a:t>
            </a:r>
          </a:p>
          <a:p>
            <a:pPr lvl="1"/>
            <a:r>
              <a:rPr lang="fr-CH" dirty="0"/>
              <a:t>Texte 6</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ide I">
    <p:spTree>
      <p:nvGrpSpPr>
        <p:cNvPr id="1" name=""/>
        <p:cNvGrpSpPr/>
        <p:nvPr/>
      </p:nvGrpSpPr>
      <p:grpSpPr>
        <a:xfrm>
          <a:off x="0" y="0"/>
          <a:ext cx="0" cy="0"/>
          <a:chOff x="0" y="0"/>
          <a:chExt cx="0" cy="0"/>
        </a:xfrm>
      </p:grpSpPr>
      <p:sp>
        <p:nvSpPr>
          <p:cNvPr id="8" name="Rectangle 7"/>
          <p:cNvSpPr/>
          <p:nvPr userDrawn="1"/>
        </p:nvSpPr>
        <p:spPr>
          <a:xfrm>
            <a:off x="358775" y="962025"/>
            <a:ext cx="8048625" cy="10064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5" name="Espace réservé du texte 4"/>
          <p:cNvSpPr>
            <a:spLocks noGrp="1"/>
          </p:cNvSpPr>
          <p:nvPr>
            <p:ph type="body" sz="quarter" idx="10" hasCustomPrompt="1"/>
          </p:nvPr>
        </p:nvSpPr>
        <p:spPr>
          <a:xfrm>
            <a:off x="539552" y="1124744"/>
            <a:ext cx="7704000" cy="720000"/>
          </a:xfrm>
          <a:prstGeom prst="rect">
            <a:avLst/>
          </a:prstGeom>
        </p:spPr>
        <p:txBody>
          <a:bodyPr anchor="ctr" anchorCtr="0"/>
          <a:lstStyle>
            <a:lvl1pPr marL="0" indent="0">
              <a:buNone/>
              <a:defRPr sz="2500" b="1">
                <a:solidFill>
                  <a:srgbClr val="CB1F50"/>
                </a:solidFill>
                <a:latin typeface="Tahoma" pitchFamily="34" charset="0"/>
                <a:ea typeface="Tahoma" pitchFamily="34" charset="0"/>
                <a:cs typeface="Tahoma" pitchFamily="34" charset="0"/>
              </a:defRPr>
            </a:lvl1pPr>
          </a:lstStyle>
          <a:p>
            <a:pPr lvl="0"/>
            <a:r>
              <a:rPr lang="fr-FR" dirty="0"/>
              <a:t>Vide</a:t>
            </a:r>
            <a:endParaRPr lang="fr-CH"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ide II">
    <p:spTree>
      <p:nvGrpSpPr>
        <p:cNvPr id="1" name=""/>
        <p:cNvGrpSpPr/>
        <p:nvPr/>
      </p:nvGrpSpPr>
      <p:grpSpPr>
        <a:xfrm>
          <a:off x="0" y="0"/>
          <a:ext cx="0" cy="0"/>
          <a:chOff x="0" y="0"/>
          <a:chExt cx="0" cy="0"/>
        </a:xfrm>
      </p:grpSpPr>
      <p:sp>
        <p:nvSpPr>
          <p:cNvPr id="4" name="Rectangle 3"/>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CH"/>
          </a:p>
        </p:txBody>
      </p:sp>
      <p:pic>
        <p:nvPicPr>
          <p:cNvPr id="6" name="Image 5" descr="ING.gif"/>
          <p:cNvPicPr>
            <a:picLocks noChangeAspect="1"/>
          </p:cNvPicPr>
          <p:nvPr userDrawn="1"/>
        </p:nvPicPr>
        <p:blipFill>
          <a:blip r:embed="rId2" cstate="print"/>
          <a:stretch>
            <a:fillRect/>
          </a:stretch>
        </p:blipFill>
        <p:spPr>
          <a:xfrm>
            <a:off x="0" y="0"/>
            <a:ext cx="9144000" cy="78893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vec image">
    <p:spTree>
      <p:nvGrpSpPr>
        <p:cNvPr id="1" name=""/>
        <p:cNvGrpSpPr/>
        <p:nvPr/>
      </p:nvGrpSpPr>
      <p:grpSpPr>
        <a:xfrm>
          <a:off x="0" y="0"/>
          <a:ext cx="0" cy="0"/>
          <a:chOff x="0" y="0"/>
          <a:chExt cx="0" cy="0"/>
        </a:xfrm>
      </p:grpSpPr>
      <p:sp>
        <p:nvSpPr>
          <p:cNvPr id="6" name="Rectangle 5"/>
          <p:cNvSpPr/>
          <p:nvPr userDrawn="1"/>
        </p:nvSpPr>
        <p:spPr>
          <a:xfrm>
            <a:off x="358775" y="962025"/>
            <a:ext cx="8048625" cy="3902075"/>
          </a:xfrm>
          <a:prstGeom prst="rect">
            <a:avLst/>
          </a:prstGeom>
          <a:solidFill>
            <a:srgbClr val="EFEEE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lang="fr-FR">
              <a:solidFill>
                <a:srgbClr val="FFFFFF"/>
              </a:solidFill>
              <a:ea typeface="ＭＳ Ｐゴシック" charset="-128"/>
            </a:endParaRPr>
          </a:p>
        </p:txBody>
      </p:sp>
      <p:sp>
        <p:nvSpPr>
          <p:cNvPr id="9" name="Espace réservé du texte 8"/>
          <p:cNvSpPr>
            <a:spLocks noGrp="1"/>
          </p:cNvSpPr>
          <p:nvPr>
            <p:ph type="body" sz="quarter" idx="10" hasCustomPrompt="1"/>
          </p:nvPr>
        </p:nvSpPr>
        <p:spPr>
          <a:xfrm>
            <a:off x="1800000" y="5050800"/>
            <a:ext cx="4827600" cy="360040"/>
          </a:xfrm>
          <a:prstGeom prst="rect">
            <a:avLst/>
          </a:prstGeom>
        </p:spPr>
        <p:txBody>
          <a:bodyPr/>
          <a:lstStyle>
            <a:lvl1pPr marL="0" indent="0">
              <a:buNone/>
              <a:defRPr sz="2000" b="1" baseline="0">
                <a:solidFill>
                  <a:srgbClr val="CB1F50"/>
                </a:solidFill>
                <a:latin typeface="Tahoma" pitchFamily="34" charset="0"/>
                <a:ea typeface="Tahoma" pitchFamily="34" charset="0"/>
                <a:cs typeface="Tahoma" pitchFamily="34" charset="0"/>
              </a:defRPr>
            </a:lvl1pPr>
          </a:lstStyle>
          <a:p>
            <a:pPr lvl="0"/>
            <a:r>
              <a:rPr lang="fr-CH" dirty="0"/>
              <a:t>Avec image</a:t>
            </a:r>
          </a:p>
        </p:txBody>
      </p:sp>
      <p:sp>
        <p:nvSpPr>
          <p:cNvPr id="11" name="Espace réservé du texte 10"/>
          <p:cNvSpPr>
            <a:spLocks noGrp="1"/>
          </p:cNvSpPr>
          <p:nvPr>
            <p:ph type="body" sz="quarter" idx="11" hasCustomPrompt="1"/>
          </p:nvPr>
        </p:nvSpPr>
        <p:spPr>
          <a:xfrm>
            <a:off x="1800000" y="5410800"/>
            <a:ext cx="4827600" cy="360362"/>
          </a:xfrm>
          <a:prstGeom prst="rect">
            <a:avLst/>
          </a:prstGeom>
        </p:spPr>
        <p:txBody>
          <a:bodyPr/>
          <a:lstStyle>
            <a:lvl1pPr marL="0" indent="0">
              <a:buNone/>
              <a:defRPr sz="900">
                <a:solidFill>
                  <a:srgbClr val="707173"/>
                </a:solidFill>
                <a:latin typeface="Tahoma" pitchFamily="34" charset="0"/>
                <a:ea typeface="Tahoma" pitchFamily="34" charset="0"/>
                <a:cs typeface="Tahoma" pitchFamily="34" charset="0"/>
              </a:defRPr>
            </a:lvl1pPr>
            <a:lvl5pPr>
              <a:buNone/>
              <a:defRPr/>
            </a:lvl5pPr>
          </a:lstStyle>
          <a:p>
            <a:pPr lvl="0"/>
            <a:r>
              <a:rPr lang="fr-CH" sz="900" dirty="0">
                <a:solidFill>
                  <a:srgbClr val="707173"/>
                </a:solidFill>
                <a:latin typeface="Tahoma" pitchFamily="34" charset="0"/>
                <a:ea typeface="Tahoma" pitchFamily="34" charset="0"/>
                <a:cs typeface="Tahoma" pitchFamily="34" charset="0"/>
              </a:rPr>
              <a:t>Texte</a:t>
            </a:r>
            <a:endParaRPr lang="fr-CH" dirty="0"/>
          </a:p>
        </p:txBody>
      </p:sp>
      <p:sp>
        <p:nvSpPr>
          <p:cNvPr id="13" name="Espace réservé pour une image  12"/>
          <p:cNvSpPr>
            <a:spLocks noGrp="1"/>
          </p:cNvSpPr>
          <p:nvPr>
            <p:ph type="pic" sz="quarter" idx="12"/>
          </p:nvPr>
        </p:nvSpPr>
        <p:spPr>
          <a:xfrm>
            <a:off x="1800000" y="961200"/>
            <a:ext cx="6624000" cy="3740400"/>
          </a:xfrm>
          <a:prstGeom prst="rect">
            <a:avLst/>
          </a:prstGeom>
        </p:spPr>
        <p:txBody>
          <a:bodyPr/>
          <a:lstStyle>
            <a:lvl1pPr>
              <a:buNone/>
              <a:defRPr/>
            </a:lvl1pPr>
          </a:lstStyle>
          <a:p>
            <a:r>
              <a:rPr lang="fr-FR"/>
              <a:t>Cliquez sur l'icône pour ajouter une image</a:t>
            </a:r>
            <a:endParaRPr lang="fr-CH"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10" cstate="print"/>
          <a:srcRect/>
          <a:stretch>
            <a:fillRect/>
          </a:stretch>
        </p:blipFill>
        <p:spPr bwMode="auto">
          <a:xfrm>
            <a:off x="0" y="0"/>
            <a:ext cx="9144000" cy="6862474"/>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3" r:id="rId5"/>
    <p:sldLayoutId id="2147483652" r:id="rId6"/>
    <p:sldLayoutId id="2147483656" r:id="rId7"/>
    <p:sldLayoutId id="2147483654"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a:t>DA: Programmation</a:t>
            </a:r>
          </a:p>
        </p:txBody>
      </p:sp>
      <p:sp>
        <p:nvSpPr>
          <p:cNvPr id="3" name="ZoneTexte 2"/>
          <p:cNvSpPr txBox="1"/>
          <p:nvPr/>
        </p:nvSpPr>
        <p:spPr>
          <a:xfrm>
            <a:off x="546152" y="3471167"/>
            <a:ext cx="4536504" cy="461665"/>
          </a:xfrm>
          <a:prstGeom prst="rect">
            <a:avLst/>
          </a:prstGeom>
          <a:noFill/>
        </p:spPr>
        <p:txBody>
          <a:bodyPr wrap="square" rtlCol="0">
            <a:spAutoFit/>
          </a:bodyPr>
          <a:lstStyle/>
          <a:p>
            <a:r>
              <a:rPr lang="fr-CH" sz="2400" dirty="0"/>
              <a:t>Vision Industrielle I &amp; II </a:t>
            </a:r>
            <a:endParaRPr lang="en-US" sz="2400" dirty="0"/>
          </a:p>
        </p:txBody>
      </p:sp>
      <p:sp>
        <p:nvSpPr>
          <p:cNvPr id="4" name="ZoneTexte 3"/>
          <p:cNvSpPr txBox="1"/>
          <p:nvPr/>
        </p:nvSpPr>
        <p:spPr>
          <a:xfrm>
            <a:off x="539750" y="4581128"/>
            <a:ext cx="4248274" cy="646331"/>
          </a:xfrm>
          <a:prstGeom prst="rect">
            <a:avLst/>
          </a:prstGeom>
          <a:noFill/>
        </p:spPr>
        <p:txBody>
          <a:bodyPr wrap="square" rtlCol="0">
            <a:spAutoFit/>
          </a:bodyPr>
          <a:lstStyle/>
          <a:p>
            <a:r>
              <a:rPr lang="fr-CH" dirty="0"/>
              <a:t>Yuri López de Meneses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0F885F83-C9B4-4463-AD46-F52006CF38CB}"/>
              </a:ext>
            </a:extLst>
          </p:cNvPr>
          <p:cNvSpPr>
            <a:spLocks noGrp="1"/>
          </p:cNvSpPr>
          <p:nvPr>
            <p:ph type="body" sz="quarter" idx="10"/>
          </p:nvPr>
        </p:nvSpPr>
        <p:spPr/>
        <p:txBody>
          <a:bodyPr/>
          <a:lstStyle/>
          <a:p>
            <a:r>
              <a:rPr lang="en-US" dirty="0"/>
              <a:t>Steps de </a:t>
            </a:r>
            <a:r>
              <a:rPr lang="en-US" dirty="0" err="1"/>
              <a:t>Contrôle</a:t>
            </a:r>
            <a:r>
              <a:rPr lang="en-US" dirty="0"/>
              <a:t> de Flux</a:t>
            </a:r>
          </a:p>
        </p:txBody>
      </p:sp>
      <p:sp>
        <p:nvSpPr>
          <p:cNvPr id="3" name="Espace réservé du texte 2">
            <a:extLst>
              <a:ext uri="{FF2B5EF4-FFF2-40B4-BE49-F238E27FC236}">
                <a16:creationId xmlns:a16="http://schemas.microsoft.com/office/drawing/2014/main" id="{22FC0B9E-1F4B-4D71-9D16-24DCE43B420E}"/>
              </a:ext>
            </a:extLst>
          </p:cNvPr>
          <p:cNvSpPr>
            <a:spLocks noGrp="1"/>
          </p:cNvSpPr>
          <p:nvPr>
            <p:ph type="body" sz="quarter" idx="11"/>
          </p:nvPr>
        </p:nvSpPr>
        <p:spPr/>
        <p:txBody>
          <a:bodyPr/>
          <a:lstStyle/>
          <a:p>
            <a:endParaRPr lang="fr-CH" dirty="0"/>
          </a:p>
        </p:txBody>
      </p:sp>
      <p:pic>
        <p:nvPicPr>
          <p:cNvPr id="4" name="Image 3">
            <a:extLst>
              <a:ext uri="{FF2B5EF4-FFF2-40B4-BE49-F238E27FC236}">
                <a16:creationId xmlns:a16="http://schemas.microsoft.com/office/drawing/2014/main" id="{82590B1B-9ED4-44DD-8381-E4A4F25F9045}"/>
              </a:ext>
            </a:extLst>
          </p:cNvPr>
          <p:cNvPicPr>
            <a:picLocks noChangeAspect="1"/>
          </p:cNvPicPr>
          <p:nvPr/>
        </p:nvPicPr>
        <p:blipFill>
          <a:blip r:embed="rId2"/>
          <a:stretch>
            <a:fillRect/>
          </a:stretch>
        </p:blipFill>
        <p:spPr>
          <a:xfrm>
            <a:off x="2843808" y="1844990"/>
            <a:ext cx="2899965" cy="4598855"/>
          </a:xfrm>
          <a:prstGeom prst="rect">
            <a:avLst/>
          </a:prstGeom>
        </p:spPr>
      </p:pic>
    </p:spTree>
    <p:extLst>
      <p:ext uri="{BB962C8B-B14F-4D97-AF65-F5344CB8AC3E}">
        <p14:creationId xmlns:p14="http://schemas.microsoft.com/office/powerpoint/2010/main" val="3125666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sz="quarter" idx="10"/>
          </p:nvPr>
        </p:nvSpPr>
        <p:spPr/>
        <p:txBody>
          <a:bodyPr/>
          <a:lstStyle/>
          <a:p>
            <a:r>
              <a:rPr lang="en-US" dirty="0"/>
              <a:t>Steps de </a:t>
            </a:r>
            <a:r>
              <a:rPr lang="en-US" dirty="0" err="1"/>
              <a:t>Contrôle</a:t>
            </a:r>
            <a:r>
              <a:rPr lang="en-US" dirty="0"/>
              <a:t> de Flux</a:t>
            </a:r>
          </a:p>
        </p:txBody>
      </p:sp>
      <p:sp>
        <p:nvSpPr>
          <p:cNvPr id="4" name="Espace réservé du texte 3"/>
          <p:cNvSpPr>
            <a:spLocks noGrp="1"/>
          </p:cNvSpPr>
          <p:nvPr>
            <p:ph type="body" sz="quarter" idx="11"/>
          </p:nvPr>
        </p:nvSpPr>
        <p:spPr/>
        <p:txBody>
          <a:bodyPr/>
          <a:lstStyle/>
          <a:p>
            <a:endParaRPr lang="fr-CH" sz="2000" dirty="0"/>
          </a:p>
          <a:p>
            <a:endParaRPr lang="fr-CH" sz="2000" dirty="0"/>
          </a:p>
          <a:p>
            <a:pPr marL="342900" indent="-342900">
              <a:buFont typeface="Arial" panose="020B0604020202020204" pitchFamily="34" charset="0"/>
              <a:buChar char="•"/>
            </a:pPr>
            <a:r>
              <a:rPr lang="fr-CH" sz="2000" dirty="0" err="1"/>
              <a:t>Halt</a:t>
            </a:r>
            <a:r>
              <a:rPr lang="fr-CH" sz="2000" dirty="0"/>
              <a:t>:</a:t>
            </a:r>
          </a:p>
          <a:p>
            <a:pPr marL="1085850" lvl="1" indent="-342900">
              <a:buFont typeface="Arial" panose="020B0604020202020204" pitchFamily="34" charset="0"/>
              <a:buChar char="•"/>
            </a:pPr>
            <a:r>
              <a:rPr lang="fr-CH" sz="1600" dirty="0" err="1"/>
              <a:t>Wait</a:t>
            </a:r>
            <a:r>
              <a:rPr lang="fr-CH" sz="1600" dirty="0"/>
              <a:t>: Attente pendant un certain temps (en ms)</a:t>
            </a:r>
          </a:p>
          <a:p>
            <a:pPr marL="1085850" lvl="1" indent="-342900">
              <a:buFont typeface="Arial" panose="020B0604020202020204" pitchFamily="34" charset="0"/>
              <a:buChar char="•"/>
            </a:pPr>
            <a:r>
              <a:rPr lang="fr-CH" sz="1600" dirty="0"/>
              <a:t>Pause: Arrête le projet. La commande </a:t>
            </a:r>
            <a:r>
              <a:rPr lang="fr-CH" sz="1600" i="1" dirty="0" err="1"/>
              <a:t>Run</a:t>
            </a:r>
            <a:r>
              <a:rPr lang="fr-CH" sz="1600" dirty="0"/>
              <a:t> (associée à un bouton)  poursuit avec le </a:t>
            </a:r>
            <a:r>
              <a:rPr lang="fr-CH" sz="1600" dirty="0" err="1"/>
              <a:t>step</a:t>
            </a:r>
            <a:r>
              <a:rPr lang="fr-CH" sz="1600" dirty="0"/>
              <a:t> suivant</a:t>
            </a:r>
          </a:p>
          <a:p>
            <a:pPr marL="1085850" lvl="1" indent="-342900">
              <a:buFont typeface="Arial" panose="020B0604020202020204" pitchFamily="34" charset="0"/>
              <a:buChar char="•"/>
            </a:pPr>
            <a:r>
              <a:rPr lang="fr-CH" sz="1600" dirty="0"/>
              <a:t>Restart: Recommence le projet avec Reset</a:t>
            </a:r>
          </a:p>
          <a:p>
            <a:pPr marL="1085850" lvl="1" indent="-342900">
              <a:buFont typeface="Arial" panose="020B0604020202020204" pitchFamily="34" charset="0"/>
              <a:buChar char="•"/>
            </a:pPr>
            <a:r>
              <a:rPr lang="fr-CH" sz="1600" dirty="0" err="1"/>
              <a:t>Terminate</a:t>
            </a:r>
            <a:r>
              <a:rPr lang="fr-CH" sz="1600" dirty="0"/>
              <a:t>: Arrête le projet et l’exécution dans la plateforme.</a:t>
            </a:r>
          </a:p>
          <a:p>
            <a:pPr marL="342900" indent="-342900">
              <a:buFont typeface="Arial" panose="020B0604020202020204" pitchFamily="34" charset="0"/>
              <a:buChar char="•"/>
            </a:pPr>
            <a:r>
              <a:rPr lang="fr-CH" sz="2000" dirty="0"/>
              <a:t>Loop: </a:t>
            </a:r>
            <a:r>
              <a:rPr lang="fr-CH" sz="1600" dirty="0" err="1">
                <a:solidFill>
                  <a:schemeClr val="tx1"/>
                </a:solidFill>
                <a:latin typeface="+mj-lt"/>
              </a:rPr>
              <a:t>Repeat</a:t>
            </a:r>
            <a:r>
              <a:rPr lang="fr-CH" sz="1600" dirty="0">
                <a:solidFill>
                  <a:schemeClr val="tx1"/>
                </a:solidFill>
                <a:latin typeface="+mj-lt"/>
              </a:rPr>
              <a:t>…</a:t>
            </a:r>
            <a:r>
              <a:rPr lang="fr-CH" sz="1600" dirty="0" err="1">
                <a:solidFill>
                  <a:schemeClr val="tx1"/>
                </a:solidFill>
                <a:latin typeface="+mj-lt"/>
              </a:rPr>
              <a:t>until</a:t>
            </a:r>
            <a:endParaRPr lang="fr-CH" sz="1600" dirty="0">
              <a:solidFill>
                <a:schemeClr val="tx1"/>
              </a:solidFill>
              <a:latin typeface="+mj-lt"/>
            </a:endParaRPr>
          </a:p>
          <a:p>
            <a:pPr marL="342900" indent="-342900">
              <a:buFont typeface="Arial" panose="020B0604020202020204" pitchFamily="34" charset="0"/>
              <a:buChar char="•"/>
            </a:pPr>
            <a:endParaRPr lang="fr-CH" sz="1600" dirty="0">
              <a:solidFill>
                <a:schemeClr val="tx1"/>
              </a:solidFill>
            </a:endParaRPr>
          </a:p>
          <a:p>
            <a:pPr marL="342900" indent="-342900">
              <a:buFont typeface="Arial" panose="020B0604020202020204" pitchFamily="34" charset="0"/>
              <a:buChar char="•"/>
            </a:pPr>
            <a:endParaRPr lang="fr-CH" sz="1600" dirty="0">
              <a:solidFill>
                <a:schemeClr val="tx1"/>
              </a:solidFill>
            </a:endParaRPr>
          </a:p>
          <a:p>
            <a:pPr marL="342900" indent="-342900">
              <a:buFont typeface="Arial" panose="020B0604020202020204" pitchFamily="34" charset="0"/>
              <a:buChar char="•"/>
            </a:pPr>
            <a:r>
              <a:rPr lang="fr-CH" sz="2000" dirty="0"/>
              <a:t>Break: </a:t>
            </a:r>
            <a:r>
              <a:rPr lang="fr-CH" sz="1600" dirty="0">
                <a:solidFill>
                  <a:schemeClr val="tx1"/>
                </a:solidFill>
                <a:latin typeface="+mj-lt"/>
              </a:rPr>
              <a:t>end </a:t>
            </a:r>
            <a:r>
              <a:rPr lang="fr-CH" sz="1600" dirty="0" err="1">
                <a:solidFill>
                  <a:schemeClr val="tx1"/>
                </a:solidFill>
                <a:latin typeface="+mj-lt"/>
              </a:rPr>
              <a:t>loop</a:t>
            </a:r>
            <a:endParaRPr lang="fr-CH" sz="1600" dirty="0">
              <a:solidFill>
                <a:schemeClr val="tx1"/>
              </a:solidFill>
              <a:latin typeface="+mj-lt"/>
            </a:endParaRPr>
          </a:p>
          <a:p>
            <a:pPr marL="342900" indent="-342900">
              <a:buFont typeface="Arial" panose="020B0604020202020204" pitchFamily="34" charset="0"/>
              <a:buChar char="•"/>
            </a:pPr>
            <a:r>
              <a:rPr lang="fr-CH" sz="2000" dirty="0"/>
              <a:t>Continue: </a:t>
            </a:r>
            <a:r>
              <a:rPr lang="fr-CH" sz="1600" dirty="0">
                <a:solidFill>
                  <a:schemeClr val="tx1"/>
                </a:solidFill>
                <a:latin typeface="+mj-lt"/>
              </a:rPr>
              <a:t>saut au début du </a:t>
            </a:r>
            <a:r>
              <a:rPr lang="fr-CH" sz="1600" dirty="0" err="1">
                <a:solidFill>
                  <a:schemeClr val="tx1"/>
                </a:solidFill>
                <a:latin typeface="+mj-lt"/>
              </a:rPr>
              <a:t>loop</a:t>
            </a:r>
            <a:endParaRPr lang="fr-CH" sz="1600" dirty="0">
              <a:solidFill>
                <a:schemeClr val="tx1"/>
              </a:solidFill>
              <a:latin typeface="+mj-lt"/>
            </a:endParaRPr>
          </a:p>
          <a:p>
            <a:pPr marL="1085850" lvl="1" indent="-342900">
              <a:buFont typeface="Arial" panose="020B0604020202020204" pitchFamily="34" charset="0"/>
              <a:buChar char="•"/>
            </a:pPr>
            <a:endParaRPr lang="fr-CH" sz="1600" dirty="0"/>
          </a:p>
        </p:txBody>
      </p:sp>
      <p:pic>
        <p:nvPicPr>
          <p:cNvPr id="6" name="Image 5"/>
          <p:cNvPicPr>
            <a:picLocks noChangeAspect="1"/>
          </p:cNvPicPr>
          <p:nvPr/>
        </p:nvPicPr>
        <p:blipFill>
          <a:blip r:embed="rId2"/>
          <a:stretch>
            <a:fillRect/>
          </a:stretch>
        </p:blipFill>
        <p:spPr>
          <a:xfrm>
            <a:off x="2627784" y="2059200"/>
            <a:ext cx="4705350" cy="609600"/>
          </a:xfrm>
          <a:prstGeom prst="rect">
            <a:avLst/>
          </a:prstGeom>
        </p:spPr>
      </p:pic>
      <p:pic>
        <p:nvPicPr>
          <p:cNvPr id="8" name="Image 7"/>
          <p:cNvPicPr>
            <a:picLocks noChangeAspect="1"/>
          </p:cNvPicPr>
          <p:nvPr/>
        </p:nvPicPr>
        <p:blipFill>
          <a:blip r:embed="rId3"/>
          <a:stretch>
            <a:fillRect/>
          </a:stretch>
        </p:blipFill>
        <p:spPr>
          <a:xfrm>
            <a:off x="2919982" y="4644733"/>
            <a:ext cx="918075" cy="1011123"/>
          </a:xfrm>
          <a:prstGeom prst="rect">
            <a:avLst/>
          </a:prstGeom>
        </p:spPr>
      </p:pic>
      <p:pic>
        <p:nvPicPr>
          <p:cNvPr id="9" name="Image 8"/>
          <p:cNvPicPr>
            <a:picLocks noChangeAspect="1"/>
          </p:cNvPicPr>
          <p:nvPr/>
        </p:nvPicPr>
        <p:blipFill>
          <a:blip r:embed="rId4"/>
          <a:stretch>
            <a:fillRect/>
          </a:stretch>
        </p:blipFill>
        <p:spPr>
          <a:xfrm>
            <a:off x="4064237" y="4747269"/>
            <a:ext cx="916222" cy="608536"/>
          </a:xfrm>
          <a:prstGeom prst="rect">
            <a:avLst/>
          </a:prstGeom>
        </p:spPr>
      </p:pic>
      <p:sp>
        <p:nvSpPr>
          <p:cNvPr id="10" name="ZoneTexte 9"/>
          <p:cNvSpPr txBox="1"/>
          <p:nvPr/>
        </p:nvSpPr>
        <p:spPr>
          <a:xfrm>
            <a:off x="3930366" y="5334636"/>
            <a:ext cx="1584176" cy="338554"/>
          </a:xfrm>
          <a:prstGeom prst="rect">
            <a:avLst/>
          </a:prstGeom>
          <a:noFill/>
        </p:spPr>
        <p:txBody>
          <a:bodyPr wrap="square" rtlCol="0">
            <a:spAutoFit/>
          </a:bodyPr>
          <a:lstStyle/>
          <a:p>
            <a:r>
              <a:rPr lang="en-US" sz="1600" dirty="0"/>
              <a:t>Infinite loop</a:t>
            </a:r>
          </a:p>
        </p:txBody>
      </p:sp>
      <p:pic>
        <p:nvPicPr>
          <p:cNvPr id="11" name="Image 10"/>
          <p:cNvPicPr>
            <a:picLocks noChangeAspect="1"/>
          </p:cNvPicPr>
          <p:nvPr/>
        </p:nvPicPr>
        <p:blipFill>
          <a:blip r:embed="rId5"/>
          <a:stretch>
            <a:fillRect/>
          </a:stretch>
        </p:blipFill>
        <p:spPr>
          <a:xfrm>
            <a:off x="6015547" y="4712454"/>
            <a:ext cx="863724" cy="1886221"/>
          </a:xfrm>
          <a:prstGeom prst="rect">
            <a:avLst/>
          </a:prstGeom>
        </p:spPr>
      </p:pic>
    </p:spTree>
    <p:extLst>
      <p:ext uri="{BB962C8B-B14F-4D97-AF65-F5344CB8AC3E}">
        <p14:creationId xmlns:p14="http://schemas.microsoft.com/office/powerpoint/2010/main" val="503646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a:t>Steps de </a:t>
            </a:r>
            <a:r>
              <a:rPr lang="en-US" dirty="0" err="1"/>
              <a:t>Contrôle</a:t>
            </a:r>
            <a:r>
              <a:rPr lang="en-US" dirty="0"/>
              <a:t> de Flux</a:t>
            </a:r>
          </a:p>
        </p:txBody>
      </p:sp>
      <p:sp>
        <p:nvSpPr>
          <p:cNvPr id="3" name="Espace réservé du texte 2"/>
          <p:cNvSpPr>
            <a:spLocks noGrp="1"/>
          </p:cNvSpPr>
          <p:nvPr>
            <p:ph type="body" sz="quarter" idx="11"/>
          </p:nvPr>
        </p:nvSpPr>
        <p:spPr/>
        <p:txBody>
          <a:bodyPr/>
          <a:lstStyle/>
          <a:p>
            <a:pPr marL="342900" indent="-342900">
              <a:buFont typeface="Arial" panose="020B0604020202020204" pitchFamily="34" charset="0"/>
              <a:buChar char="•"/>
            </a:pPr>
            <a:r>
              <a:rPr lang="en-US" sz="2000" dirty="0"/>
              <a:t>Condition: IF</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Switch: Multiple branches</a:t>
            </a:r>
          </a:p>
          <a:p>
            <a:endParaRPr lang="en-US" sz="2000" dirty="0"/>
          </a:p>
        </p:txBody>
      </p:sp>
      <p:pic>
        <p:nvPicPr>
          <p:cNvPr id="4" name="Image 3"/>
          <p:cNvPicPr>
            <a:picLocks noChangeAspect="1"/>
          </p:cNvPicPr>
          <p:nvPr/>
        </p:nvPicPr>
        <p:blipFill>
          <a:blip r:embed="rId2"/>
          <a:stretch>
            <a:fillRect/>
          </a:stretch>
        </p:blipFill>
        <p:spPr>
          <a:xfrm>
            <a:off x="2771800" y="2059200"/>
            <a:ext cx="2209800" cy="1266825"/>
          </a:xfrm>
          <a:prstGeom prst="rect">
            <a:avLst/>
          </a:prstGeom>
        </p:spPr>
      </p:pic>
      <p:pic>
        <p:nvPicPr>
          <p:cNvPr id="5" name="Image 4"/>
          <p:cNvPicPr>
            <a:picLocks noChangeAspect="1"/>
          </p:cNvPicPr>
          <p:nvPr/>
        </p:nvPicPr>
        <p:blipFill>
          <a:blip r:embed="rId3"/>
          <a:stretch>
            <a:fillRect/>
          </a:stretch>
        </p:blipFill>
        <p:spPr>
          <a:xfrm>
            <a:off x="971600" y="4021812"/>
            <a:ext cx="2790825" cy="1314450"/>
          </a:xfrm>
          <a:prstGeom prst="rect">
            <a:avLst/>
          </a:prstGeom>
        </p:spPr>
      </p:pic>
      <p:pic>
        <p:nvPicPr>
          <p:cNvPr id="6" name="Image 5"/>
          <p:cNvPicPr>
            <a:picLocks noChangeAspect="1"/>
          </p:cNvPicPr>
          <p:nvPr/>
        </p:nvPicPr>
        <p:blipFill>
          <a:blip r:embed="rId4"/>
          <a:stretch>
            <a:fillRect/>
          </a:stretch>
        </p:blipFill>
        <p:spPr>
          <a:xfrm>
            <a:off x="3876700" y="4030940"/>
            <a:ext cx="4496792" cy="1510865"/>
          </a:xfrm>
          <a:prstGeom prst="rect">
            <a:avLst/>
          </a:prstGeom>
          <a:noFill/>
          <a:ln>
            <a:solidFill>
              <a:srgbClr val="FF0000"/>
            </a:solidFill>
          </a:ln>
        </p:spPr>
      </p:pic>
      <p:sp>
        <p:nvSpPr>
          <p:cNvPr id="7" name="Rectangle à coins arrondis 6"/>
          <p:cNvSpPr/>
          <p:nvPr/>
        </p:nvSpPr>
        <p:spPr>
          <a:xfrm>
            <a:off x="3779912" y="4365104"/>
            <a:ext cx="1104900" cy="24192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à coins arrondis 7"/>
          <p:cNvSpPr/>
          <p:nvPr/>
        </p:nvSpPr>
        <p:spPr>
          <a:xfrm>
            <a:off x="7748688" y="4437112"/>
            <a:ext cx="624804" cy="34926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6812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err="1"/>
              <a:t>Steps</a:t>
            </a:r>
            <a:r>
              <a:rPr lang="fr-CH" dirty="0"/>
              <a:t> Contrôle de Flux</a:t>
            </a:r>
          </a:p>
        </p:txBody>
      </p:sp>
      <p:sp>
        <p:nvSpPr>
          <p:cNvPr id="3" name="Espace réservé du texte 2"/>
          <p:cNvSpPr>
            <a:spLocks noGrp="1"/>
          </p:cNvSpPr>
          <p:nvPr>
            <p:ph type="body" sz="quarter" idx="11"/>
          </p:nvPr>
        </p:nvSpPr>
        <p:spPr/>
        <p:txBody>
          <a:bodyPr/>
          <a:lstStyle/>
          <a:p>
            <a:pPr marL="342900" indent="-342900">
              <a:buFont typeface="Arial" panose="020B0604020202020204" pitchFamily="34" charset="0"/>
              <a:buChar char="•"/>
            </a:pPr>
            <a:r>
              <a:rPr lang="fr-CH" sz="2000" dirty="0" err="1"/>
              <a:t>Status</a:t>
            </a:r>
            <a:r>
              <a:rPr lang="fr-CH" sz="2000" dirty="0"/>
              <a:t>: </a:t>
            </a:r>
          </a:p>
          <a:p>
            <a:pPr marL="1085850" lvl="1" indent="-342900">
              <a:buFont typeface="Arial" panose="020B0604020202020204" pitchFamily="34" charset="0"/>
              <a:buChar char="•"/>
            </a:pPr>
            <a:r>
              <a:rPr lang="fr-CH" sz="1600" dirty="0"/>
              <a:t>Collecte les résultats PASS/FAIL des différentes branches</a:t>
            </a:r>
          </a:p>
          <a:p>
            <a:pPr marL="1085850" lvl="1" indent="-342900">
              <a:buFont typeface="Arial" panose="020B0604020202020204" pitchFamily="34" charset="0"/>
              <a:buChar char="•"/>
            </a:pPr>
            <a:r>
              <a:rPr lang="fr-CH" sz="1600" dirty="0"/>
              <a:t>Il est recommandé de garder un </a:t>
            </a:r>
            <a:r>
              <a:rPr lang="fr-CH" sz="1600" dirty="0" err="1"/>
              <a:t>Status</a:t>
            </a:r>
            <a:r>
              <a:rPr lang="fr-CH" sz="1600" dirty="0"/>
              <a:t> à la fin du </a:t>
            </a:r>
            <a:r>
              <a:rPr lang="fr-CH" sz="1600" dirty="0" err="1"/>
              <a:t>loop</a:t>
            </a:r>
            <a:r>
              <a:rPr lang="fr-CH" sz="1600" dirty="0"/>
              <a:t> principal</a:t>
            </a:r>
          </a:p>
          <a:p>
            <a:pPr marL="1085850" lvl="1" indent="-342900">
              <a:buFont typeface="Arial" panose="020B0604020202020204" pitchFamily="34" charset="0"/>
              <a:buChar char="•"/>
            </a:pPr>
            <a:r>
              <a:rPr lang="fr-CH" sz="1600" dirty="0"/>
              <a:t>On peut y définir multiples conditions et les monitorer individuellement (p.ex. catégories de défaut)</a:t>
            </a:r>
          </a:p>
          <a:p>
            <a:pPr marL="1085850" lvl="1" indent="-342900">
              <a:buFont typeface="Arial" panose="020B0604020202020204" pitchFamily="34" charset="0"/>
              <a:buChar char="•"/>
            </a:pPr>
            <a:r>
              <a:rPr lang="fr-CH" sz="1600" dirty="0"/>
              <a:t>Catégories: </a:t>
            </a:r>
            <a:r>
              <a:rPr lang="fr-CH" sz="1400" dirty="0" err="1">
                <a:latin typeface="Courier New" panose="02070309020205020404" pitchFamily="49" charset="0"/>
                <a:cs typeface="Courier New" panose="02070309020205020404" pitchFamily="49" charset="0"/>
              </a:rPr>
              <a:t>True</a:t>
            </a:r>
            <a:r>
              <a:rPr lang="fr-CH" sz="1400" dirty="0">
                <a:latin typeface="Courier New" panose="02070309020205020404" pitchFamily="49" charset="0"/>
                <a:cs typeface="Courier New" panose="02070309020205020404" pitchFamily="49" charset="0"/>
              </a:rPr>
              <a:t>, False, No </a:t>
            </a:r>
            <a:r>
              <a:rPr lang="fr-CH" sz="1400" dirty="0" err="1">
                <a:latin typeface="Courier New" panose="02070309020205020404" pitchFamily="49" charset="0"/>
                <a:cs typeface="Courier New" panose="02070309020205020404" pitchFamily="49" charset="0"/>
              </a:rPr>
              <a:t>Result</a:t>
            </a:r>
            <a:r>
              <a:rPr lang="fr-CH" sz="1400" dirty="0">
                <a:latin typeface="Courier New" panose="02070309020205020404" pitchFamily="49" charset="0"/>
                <a:cs typeface="Courier New" panose="02070309020205020404" pitchFamily="49" charset="0"/>
              </a:rPr>
              <a:t> </a:t>
            </a:r>
            <a:r>
              <a:rPr lang="fr-CH" sz="1600" dirty="0"/>
              <a:t>(condition pas encore évaluée)</a:t>
            </a:r>
          </a:p>
        </p:txBody>
      </p:sp>
      <p:pic>
        <p:nvPicPr>
          <p:cNvPr id="4" name="Image 3"/>
          <p:cNvPicPr>
            <a:picLocks noChangeAspect="1"/>
          </p:cNvPicPr>
          <p:nvPr/>
        </p:nvPicPr>
        <p:blipFill>
          <a:blip r:embed="rId2"/>
          <a:stretch>
            <a:fillRect/>
          </a:stretch>
        </p:blipFill>
        <p:spPr>
          <a:xfrm>
            <a:off x="2699792" y="4091121"/>
            <a:ext cx="3657972" cy="2072079"/>
          </a:xfrm>
          <a:prstGeom prst="rect">
            <a:avLst/>
          </a:prstGeom>
        </p:spPr>
      </p:pic>
    </p:spTree>
    <p:extLst>
      <p:ext uri="{BB962C8B-B14F-4D97-AF65-F5344CB8AC3E}">
        <p14:creationId xmlns:p14="http://schemas.microsoft.com/office/powerpoint/2010/main" val="1323161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err="1"/>
              <a:t>Steps</a:t>
            </a:r>
            <a:r>
              <a:rPr lang="fr-CH" dirty="0"/>
              <a:t> de Contrôle de Flux</a:t>
            </a:r>
          </a:p>
        </p:txBody>
      </p:sp>
      <p:sp>
        <p:nvSpPr>
          <p:cNvPr id="3" name="Espace réservé du texte 2"/>
          <p:cNvSpPr>
            <a:spLocks noGrp="1"/>
          </p:cNvSpPr>
          <p:nvPr>
            <p:ph type="body" sz="quarter" idx="11"/>
          </p:nvPr>
        </p:nvSpPr>
        <p:spPr/>
        <p:txBody>
          <a:bodyPr/>
          <a:lstStyle/>
          <a:p>
            <a:pPr marL="457200" indent="-457200">
              <a:buFont typeface="Arial" panose="020B0604020202020204" pitchFamily="34" charset="0"/>
              <a:buChar char="•"/>
            </a:pPr>
            <a:r>
              <a:rPr lang="en-US" sz="2000" dirty="0"/>
              <a:t>Error:</a:t>
            </a:r>
          </a:p>
          <a:p>
            <a:pPr marL="1200150" lvl="1" indent="-457200">
              <a:buFont typeface="Arial" panose="020B0604020202020204" pitchFamily="34" charset="0"/>
              <a:buChar char="•"/>
            </a:pPr>
            <a:r>
              <a:rPr lang="en-US" sz="1600" dirty="0"/>
              <a:t>Throws an error message and jumps to Status step.</a:t>
            </a:r>
          </a:p>
        </p:txBody>
      </p:sp>
      <p:pic>
        <p:nvPicPr>
          <p:cNvPr id="4" name="Image 3"/>
          <p:cNvPicPr>
            <a:picLocks noChangeAspect="1"/>
          </p:cNvPicPr>
          <p:nvPr/>
        </p:nvPicPr>
        <p:blipFill>
          <a:blip r:embed="rId2"/>
          <a:stretch>
            <a:fillRect/>
          </a:stretch>
        </p:blipFill>
        <p:spPr>
          <a:xfrm>
            <a:off x="2195736" y="2924944"/>
            <a:ext cx="2968136" cy="720080"/>
          </a:xfrm>
          <a:prstGeom prst="rect">
            <a:avLst/>
          </a:prstGeom>
        </p:spPr>
      </p:pic>
    </p:spTree>
    <p:extLst>
      <p:ext uri="{BB962C8B-B14F-4D97-AF65-F5344CB8AC3E}">
        <p14:creationId xmlns:p14="http://schemas.microsoft.com/office/powerpoint/2010/main" val="2922725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55D774C-507C-4AB8-942D-C03AC1DD2DD8}"/>
              </a:ext>
            </a:extLst>
          </p:cNvPr>
          <p:cNvSpPr>
            <a:spLocks noGrp="1"/>
          </p:cNvSpPr>
          <p:nvPr>
            <p:ph type="body" sz="quarter" idx="10"/>
          </p:nvPr>
        </p:nvSpPr>
        <p:spPr/>
        <p:txBody>
          <a:bodyPr/>
          <a:lstStyle/>
          <a:p>
            <a:r>
              <a:rPr lang="fr-CH" dirty="0"/>
              <a:t>Variables</a:t>
            </a:r>
          </a:p>
        </p:txBody>
      </p:sp>
      <p:sp>
        <p:nvSpPr>
          <p:cNvPr id="3" name="Espace réservé du texte 2">
            <a:extLst>
              <a:ext uri="{FF2B5EF4-FFF2-40B4-BE49-F238E27FC236}">
                <a16:creationId xmlns:a16="http://schemas.microsoft.com/office/drawing/2014/main" id="{B7DF1388-3EC9-4FAA-91FE-3789D56CE42E}"/>
              </a:ext>
            </a:extLst>
          </p:cNvPr>
          <p:cNvSpPr>
            <a:spLocks noGrp="1"/>
          </p:cNvSpPr>
          <p:nvPr>
            <p:ph type="body" sz="quarter" idx="11"/>
          </p:nvPr>
        </p:nvSpPr>
        <p:spPr/>
        <p:txBody>
          <a:bodyPr/>
          <a:lstStyle/>
          <a:p>
            <a:endParaRPr lang="fr-CH" dirty="0"/>
          </a:p>
        </p:txBody>
      </p:sp>
      <p:pic>
        <p:nvPicPr>
          <p:cNvPr id="4" name="Image 3">
            <a:extLst>
              <a:ext uri="{FF2B5EF4-FFF2-40B4-BE49-F238E27FC236}">
                <a16:creationId xmlns:a16="http://schemas.microsoft.com/office/drawing/2014/main" id="{5EE26E04-C4A3-4CF6-89C1-13495645C62C}"/>
              </a:ext>
            </a:extLst>
          </p:cNvPr>
          <p:cNvPicPr>
            <a:picLocks noChangeAspect="1"/>
          </p:cNvPicPr>
          <p:nvPr/>
        </p:nvPicPr>
        <p:blipFill>
          <a:blip r:embed="rId3"/>
          <a:stretch>
            <a:fillRect/>
          </a:stretch>
        </p:blipFill>
        <p:spPr>
          <a:xfrm>
            <a:off x="531370" y="2086042"/>
            <a:ext cx="2028825" cy="1838325"/>
          </a:xfrm>
          <a:prstGeom prst="rect">
            <a:avLst/>
          </a:prstGeom>
        </p:spPr>
      </p:pic>
      <p:pic>
        <p:nvPicPr>
          <p:cNvPr id="5" name="Image 4">
            <a:extLst>
              <a:ext uri="{FF2B5EF4-FFF2-40B4-BE49-F238E27FC236}">
                <a16:creationId xmlns:a16="http://schemas.microsoft.com/office/drawing/2014/main" id="{8CC248BC-74CA-42C0-99B8-6ED1FD51E9C6}"/>
              </a:ext>
            </a:extLst>
          </p:cNvPr>
          <p:cNvPicPr>
            <a:picLocks noChangeAspect="1"/>
          </p:cNvPicPr>
          <p:nvPr/>
        </p:nvPicPr>
        <p:blipFill>
          <a:blip r:embed="rId4"/>
          <a:stretch>
            <a:fillRect/>
          </a:stretch>
        </p:blipFill>
        <p:spPr>
          <a:xfrm>
            <a:off x="2987824" y="2547985"/>
            <a:ext cx="5118093" cy="3604397"/>
          </a:xfrm>
          <a:prstGeom prst="rect">
            <a:avLst/>
          </a:prstGeom>
        </p:spPr>
      </p:pic>
    </p:spTree>
    <p:extLst>
      <p:ext uri="{BB962C8B-B14F-4D97-AF65-F5344CB8AC3E}">
        <p14:creationId xmlns:p14="http://schemas.microsoft.com/office/powerpoint/2010/main" val="3768917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94BD0939-989B-4E48-A25E-2A0499DD83DB}"/>
              </a:ext>
            </a:extLst>
          </p:cNvPr>
          <p:cNvSpPr>
            <a:spLocks noGrp="1"/>
          </p:cNvSpPr>
          <p:nvPr>
            <p:ph type="body" sz="quarter" idx="10"/>
          </p:nvPr>
        </p:nvSpPr>
        <p:spPr/>
        <p:txBody>
          <a:bodyPr/>
          <a:lstStyle/>
          <a:p>
            <a:r>
              <a:rPr lang="fr-CH" dirty="0"/>
              <a:t>Variables</a:t>
            </a:r>
          </a:p>
        </p:txBody>
      </p:sp>
      <p:pic>
        <p:nvPicPr>
          <p:cNvPr id="18" name="Image 17">
            <a:extLst>
              <a:ext uri="{FF2B5EF4-FFF2-40B4-BE49-F238E27FC236}">
                <a16:creationId xmlns:a16="http://schemas.microsoft.com/office/drawing/2014/main" id="{4196AD99-8986-4BFA-B14E-5138691AA010}"/>
              </a:ext>
            </a:extLst>
          </p:cNvPr>
          <p:cNvPicPr>
            <a:picLocks noChangeAspect="1"/>
          </p:cNvPicPr>
          <p:nvPr/>
        </p:nvPicPr>
        <p:blipFill>
          <a:blip r:embed="rId3"/>
          <a:stretch>
            <a:fillRect/>
          </a:stretch>
        </p:blipFill>
        <p:spPr>
          <a:xfrm>
            <a:off x="4486674" y="3036982"/>
            <a:ext cx="1181100" cy="590550"/>
          </a:xfrm>
          <a:prstGeom prst="rect">
            <a:avLst/>
          </a:prstGeom>
        </p:spPr>
      </p:pic>
      <p:sp>
        <p:nvSpPr>
          <p:cNvPr id="3" name="Espace réservé du texte 2">
            <a:extLst>
              <a:ext uri="{FF2B5EF4-FFF2-40B4-BE49-F238E27FC236}">
                <a16:creationId xmlns:a16="http://schemas.microsoft.com/office/drawing/2014/main" id="{6C43E0BE-7771-41FC-B688-FB7898CF21A7}"/>
              </a:ext>
            </a:extLst>
          </p:cNvPr>
          <p:cNvSpPr>
            <a:spLocks noGrp="1"/>
          </p:cNvSpPr>
          <p:nvPr>
            <p:ph type="body" sz="quarter" idx="11"/>
          </p:nvPr>
        </p:nvSpPr>
        <p:spPr/>
        <p:txBody>
          <a:bodyPr/>
          <a:lstStyle/>
          <a:p>
            <a:endParaRPr lang="fr-CH" dirty="0"/>
          </a:p>
        </p:txBody>
      </p:sp>
      <p:pic>
        <p:nvPicPr>
          <p:cNvPr id="9" name="Image 8">
            <a:extLst>
              <a:ext uri="{FF2B5EF4-FFF2-40B4-BE49-F238E27FC236}">
                <a16:creationId xmlns:a16="http://schemas.microsoft.com/office/drawing/2014/main" id="{9BE35155-F648-4989-ADF2-DFDAFFA5278F}"/>
              </a:ext>
            </a:extLst>
          </p:cNvPr>
          <p:cNvPicPr>
            <a:picLocks noChangeAspect="1"/>
          </p:cNvPicPr>
          <p:nvPr/>
        </p:nvPicPr>
        <p:blipFill>
          <a:blip r:embed="rId4"/>
          <a:stretch>
            <a:fillRect/>
          </a:stretch>
        </p:blipFill>
        <p:spPr>
          <a:xfrm>
            <a:off x="6667761" y="1517498"/>
            <a:ext cx="1419225" cy="3114675"/>
          </a:xfrm>
          <a:prstGeom prst="rect">
            <a:avLst/>
          </a:prstGeom>
        </p:spPr>
      </p:pic>
      <p:pic>
        <p:nvPicPr>
          <p:cNvPr id="6" name="Image 5">
            <a:extLst>
              <a:ext uri="{FF2B5EF4-FFF2-40B4-BE49-F238E27FC236}">
                <a16:creationId xmlns:a16="http://schemas.microsoft.com/office/drawing/2014/main" id="{F9532E6C-8EE1-4A1F-94E5-C0D01AE427B4}"/>
              </a:ext>
            </a:extLst>
          </p:cNvPr>
          <p:cNvPicPr>
            <a:picLocks noChangeAspect="1"/>
          </p:cNvPicPr>
          <p:nvPr/>
        </p:nvPicPr>
        <p:blipFill>
          <a:blip r:embed="rId5"/>
          <a:stretch>
            <a:fillRect/>
          </a:stretch>
        </p:blipFill>
        <p:spPr>
          <a:xfrm>
            <a:off x="1043608" y="2059200"/>
            <a:ext cx="2883421" cy="3904483"/>
          </a:xfrm>
          <a:prstGeom prst="rect">
            <a:avLst/>
          </a:prstGeom>
        </p:spPr>
      </p:pic>
      <p:cxnSp>
        <p:nvCxnSpPr>
          <p:cNvPr id="8" name="Connecteur droit avec flèche 7">
            <a:extLst>
              <a:ext uri="{FF2B5EF4-FFF2-40B4-BE49-F238E27FC236}">
                <a16:creationId xmlns:a16="http://schemas.microsoft.com/office/drawing/2014/main" id="{3F1E2163-EE85-4A59-9E07-9DC77810D45F}"/>
              </a:ext>
            </a:extLst>
          </p:cNvPr>
          <p:cNvCxnSpPr>
            <a:cxnSpLocks/>
          </p:cNvCxnSpPr>
          <p:nvPr/>
        </p:nvCxnSpPr>
        <p:spPr>
          <a:xfrm>
            <a:off x="3563888" y="3429000"/>
            <a:ext cx="1800200" cy="23042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3D375B9B-9A61-4853-A316-4A3BE0AEE6FE}"/>
              </a:ext>
            </a:extLst>
          </p:cNvPr>
          <p:cNvCxnSpPr>
            <a:cxnSpLocks/>
          </p:cNvCxnSpPr>
          <p:nvPr/>
        </p:nvCxnSpPr>
        <p:spPr>
          <a:xfrm flipV="1">
            <a:off x="3275856" y="2276872"/>
            <a:ext cx="3391497" cy="57606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3" name="Image 12">
            <a:extLst>
              <a:ext uri="{FF2B5EF4-FFF2-40B4-BE49-F238E27FC236}">
                <a16:creationId xmlns:a16="http://schemas.microsoft.com/office/drawing/2014/main" id="{3C82F3B2-A5B4-46C0-B320-35559F181E3D}"/>
              </a:ext>
            </a:extLst>
          </p:cNvPr>
          <p:cNvPicPr>
            <a:picLocks noChangeAspect="1"/>
          </p:cNvPicPr>
          <p:nvPr/>
        </p:nvPicPr>
        <p:blipFill>
          <a:blip r:embed="rId6"/>
          <a:stretch>
            <a:fillRect/>
          </a:stretch>
        </p:blipFill>
        <p:spPr>
          <a:xfrm>
            <a:off x="5380509" y="5327049"/>
            <a:ext cx="1066800" cy="590550"/>
          </a:xfrm>
          <a:prstGeom prst="rect">
            <a:avLst/>
          </a:prstGeom>
        </p:spPr>
      </p:pic>
      <p:sp>
        <p:nvSpPr>
          <p:cNvPr id="14" name="ZoneTexte 13">
            <a:extLst>
              <a:ext uri="{FF2B5EF4-FFF2-40B4-BE49-F238E27FC236}">
                <a16:creationId xmlns:a16="http://schemas.microsoft.com/office/drawing/2014/main" id="{06D3E51E-30B7-411A-8734-4E783AA44362}"/>
              </a:ext>
            </a:extLst>
          </p:cNvPr>
          <p:cNvSpPr txBox="1"/>
          <p:nvPr/>
        </p:nvSpPr>
        <p:spPr>
          <a:xfrm>
            <a:off x="6481564" y="5468435"/>
            <a:ext cx="1761988" cy="307777"/>
          </a:xfrm>
          <a:prstGeom prst="rect">
            <a:avLst/>
          </a:prstGeom>
          <a:noFill/>
        </p:spPr>
        <p:txBody>
          <a:bodyPr wrap="square" rtlCol="0">
            <a:spAutoFit/>
          </a:bodyPr>
          <a:lstStyle/>
          <a:p>
            <a:r>
              <a:rPr lang="fr-CH" sz="1400" dirty="0"/>
              <a:t>=début de boucle</a:t>
            </a:r>
            <a:endParaRPr lang="fr-CH" dirty="0"/>
          </a:p>
        </p:txBody>
      </p:sp>
      <p:sp>
        <p:nvSpPr>
          <p:cNvPr id="15" name="ZoneTexte 14">
            <a:extLst>
              <a:ext uri="{FF2B5EF4-FFF2-40B4-BE49-F238E27FC236}">
                <a16:creationId xmlns:a16="http://schemas.microsoft.com/office/drawing/2014/main" id="{A2701045-6FA9-4AC3-B698-2703AAC93B3C}"/>
              </a:ext>
            </a:extLst>
          </p:cNvPr>
          <p:cNvSpPr txBox="1"/>
          <p:nvPr/>
        </p:nvSpPr>
        <p:spPr>
          <a:xfrm>
            <a:off x="6482420" y="5661248"/>
            <a:ext cx="1761988" cy="523220"/>
          </a:xfrm>
          <a:prstGeom prst="rect">
            <a:avLst/>
          </a:prstGeom>
          <a:noFill/>
        </p:spPr>
        <p:txBody>
          <a:bodyPr wrap="square" rtlCol="0">
            <a:spAutoFit/>
          </a:bodyPr>
          <a:lstStyle/>
          <a:p>
            <a:r>
              <a:rPr lang="fr-CH" sz="1400" dirty="0"/>
              <a:t>=«boule» en début de </a:t>
            </a:r>
            <a:r>
              <a:rPr lang="fr-CH" sz="1400" dirty="0" err="1"/>
              <a:t>flowchart</a:t>
            </a:r>
            <a:endParaRPr lang="fr-CH" dirty="0"/>
          </a:p>
        </p:txBody>
      </p:sp>
      <p:cxnSp>
        <p:nvCxnSpPr>
          <p:cNvPr id="20" name="Connecteur droit avec flèche 19">
            <a:extLst>
              <a:ext uri="{FF2B5EF4-FFF2-40B4-BE49-F238E27FC236}">
                <a16:creationId xmlns:a16="http://schemas.microsoft.com/office/drawing/2014/main" id="{D6A0B9C6-8AC4-486E-9805-8AF057212561}"/>
              </a:ext>
            </a:extLst>
          </p:cNvPr>
          <p:cNvCxnSpPr/>
          <p:nvPr/>
        </p:nvCxnSpPr>
        <p:spPr>
          <a:xfrm>
            <a:off x="3547467" y="3198573"/>
            <a:ext cx="88317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7430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err="1"/>
              <a:t>Subflowcharts</a:t>
            </a:r>
            <a:endParaRPr lang="en-US" dirty="0"/>
          </a:p>
        </p:txBody>
      </p:sp>
      <p:sp>
        <p:nvSpPr>
          <p:cNvPr id="3" name="Espace réservé du texte 2"/>
          <p:cNvSpPr>
            <a:spLocks noGrp="1"/>
          </p:cNvSpPr>
          <p:nvPr>
            <p:ph type="body" sz="quarter" idx="11"/>
          </p:nvPr>
        </p:nvSpPr>
        <p:spPr/>
        <p:txBody>
          <a:bodyPr/>
          <a:lstStyle/>
          <a:p>
            <a:pPr marL="342900" indent="-342900">
              <a:buFont typeface="Arial" panose="020B0604020202020204" pitchFamily="34" charset="0"/>
              <a:buChar char="•"/>
            </a:pPr>
            <a:r>
              <a:rPr lang="fr-CH" sz="2000" dirty="0"/>
              <a:t>Vous pouvez créer des fonctions (blocs de code réutilisables) appelés </a:t>
            </a:r>
            <a:r>
              <a:rPr lang="fr-CH" sz="2000" i="1" dirty="0" err="1"/>
              <a:t>subflowcharts</a:t>
            </a:r>
            <a:endParaRPr lang="fr-CH" sz="2000" i="1" dirty="0"/>
          </a:p>
          <a:p>
            <a:pPr marL="342900" indent="-342900">
              <a:buFont typeface="Arial" panose="020B0604020202020204" pitchFamily="34" charset="0"/>
              <a:buChar char="•"/>
            </a:pPr>
            <a:r>
              <a:rPr lang="fr-CH" sz="2000" dirty="0"/>
              <a:t>Comme les fonctions des langages structurés, les </a:t>
            </a:r>
            <a:r>
              <a:rPr lang="fr-CH" sz="2000" dirty="0" err="1"/>
              <a:t>subflowcharts</a:t>
            </a:r>
            <a:r>
              <a:rPr lang="fr-CH" sz="2000" dirty="0"/>
              <a:t> possèdent:</a:t>
            </a:r>
          </a:p>
          <a:p>
            <a:pPr marL="1085850" lvl="1" indent="-342900">
              <a:buFont typeface="Arial" panose="020B0604020202020204" pitchFamily="34" charset="0"/>
              <a:buChar char="•"/>
            </a:pPr>
            <a:r>
              <a:rPr lang="fr-CH" sz="1600" dirty="0"/>
              <a:t>Des arguments (inputs) associés aux variables externes au </a:t>
            </a:r>
            <a:r>
              <a:rPr lang="fr-CH" sz="1600" dirty="0" err="1"/>
              <a:t>subflowchart</a:t>
            </a:r>
            <a:endParaRPr lang="fr-CH" sz="1600" dirty="0"/>
          </a:p>
          <a:p>
            <a:pPr marL="1085850" lvl="1" indent="-342900">
              <a:buFont typeface="Arial" panose="020B0604020202020204" pitchFamily="34" charset="0"/>
              <a:buChar char="•"/>
            </a:pPr>
            <a:r>
              <a:rPr lang="fr-CH" sz="1600" dirty="0"/>
              <a:t>Des </a:t>
            </a:r>
            <a:r>
              <a:rPr lang="fr-CH" sz="1600" dirty="0" err="1"/>
              <a:t>steps</a:t>
            </a:r>
            <a:r>
              <a:rPr lang="fr-CH" sz="1600" dirty="0"/>
              <a:t> </a:t>
            </a:r>
          </a:p>
          <a:p>
            <a:pPr marL="1085850" lvl="1" indent="-342900">
              <a:buFont typeface="Arial" panose="020B0604020202020204" pitchFamily="34" charset="0"/>
              <a:buChar char="•"/>
            </a:pPr>
            <a:r>
              <a:rPr lang="fr-CH" sz="1600" dirty="0"/>
              <a:t>Des </a:t>
            </a:r>
            <a:r>
              <a:rPr lang="fr-CH" sz="1600" dirty="0" err="1"/>
              <a:t>steps</a:t>
            </a:r>
            <a:r>
              <a:rPr lang="fr-CH" sz="1600" dirty="0"/>
              <a:t> de flux</a:t>
            </a:r>
          </a:p>
          <a:p>
            <a:pPr marL="1085850" lvl="1" indent="-342900">
              <a:buFont typeface="Arial" panose="020B0604020202020204" pitchFamily="34" charset="0"/>
              <a:buChar char="•"/>
            </a:pPr>
            <a:r>
              <a:rPr lang="fr-CH" sz="1600" dirty="0"/>
              <a:t>Des résultats (outputs) qui sont récupérables externement</a:t>
            </a:r>
          </a:p>
          <a:p>
            <a:pPr marL="342900" indent="-342900">
              <a:buFont typeface="Arial" panose="020B0604020202020204" pitchFamily="34" charset="0"/>
              <a:buChar char="•"/>
            </a:pPr>
            <a:r>
              <a:rPr lang="fr-CH" sz="2000" dirty="0"/>
              <a:t>Création:</a:t>
            </a:r>
          </a:p>
          <a:p>
            <a:pPr marL="1085850" lvl="1" indent="-342900">
              <a:buFont typeface="Arial" panose="020B0604020202020204" pitchFamily="34" charset="0"/>
              <a:buChar char="•"/>
            </a:pPr>
            <a:r>
              <a:rPr lang="fr-CH" sz="1600" dirty="0" err="1"/>
              <a:t>Right-Click</a:t>
            </a:r>
            <a:r>
              <a:rPr lang="fr-CH" sz="1600" dirty="0" err="1">
                <a:sym typeface="Wingdings" panose="05000000000000000000" pitchFamily="2" charset="2"/>
              </a:rPr>
              <a:t>Add</a:t>
            </a:r>
            <a:r>
              <a:rPr lang="fr-CH" sz="1600" dirty="0">
                <a:sym typeface="Wingdings" panose="05000000000000000000" pitchFamily="2" charset="2"/>
              </a:rPr>
              <a:t> </a:t>
            </a:r>
            <a:r>
              <a:rPr lang="fr-CH" sz="1600" dirty="0" err="1">
                <a:sym typeface="Wingdings" panose="05000000000000000000" pitchFamily="2" charset="2"/>
              </a:rPr>
              <a:t>StepFlowcharts</a:t>
            </a:r>
            <a:endParaRPr lang="fr-CH" sz="1600" dirty="0">
              <a:sym typeface="Wingdings" panose="05000000000000000000" pitchFamily="2" charset="2"/>
            </a:endParaRPr>
          </a:p>
          <a:p>
            <a:pPr marL="1085850" lvl="1" indent="-342900">
              <a:buFont typeface="Arial" panose="020B0604020202020204" pitchFamily="34" charset="0"/>
              <a:buChar char="•"/>
            </a:pPr>
            <a:r>
              <a:rPr lang="fr-CH" sz="1600" dirty="0">
                <a:sym typeface="Wingdings" panose="05000000000000000000" pitchFamily="2" charset="2"/>
              </a:rPr>
              <a:t>Ou </a:t>
            </a:r>
            <a:r>
              <a:rPr lang="fr-CH" sz="1600" dirty="0" err="1">
                <a:sym typeface="Wingdings" panose="05000000000000000000" pitchFamily="2" charset="2"/>
              </a:rPr>
              <a:t>MenuFlowchartManage</a:t>
            </a:r>
            <a:r>
              <a:rPr lang="fr-CH" sz="1600" dirty="0">
                <a:sym typeface="Wingdings" panose="05000000000000000000" pitchFamily="2" charset="2"/>
              </a:rPr>
              <a:t> </a:t>
            </a:r>
            <a:r>
              <a:rPr lang="fr-CH" sz="1600" dirty="0" err="1">
                <a:sym typeface="Wingdings" panose="05000000000000000000" pitchFamily="2" charset="2"/>
              </a:rPr>
              <a:t>Flowcharts</a:t>
            </a:r>
            <a:endParaRPr lang="fr-CH" sz="1600" dirty="0">
              <a:sym typeface="Wingdings" panose="05000000000000000000" pitchFamily="2" charset="2"/>
            </a:endParaRPr>
          </a:p>
          <a:p>
            <a:pPr marL="1085850" lvl="1" indent="-342900">
              <a:buFont typeface="Arial" panose="020B0604020202020204" pitchFamily="34" charset="0"/>
              <a:buChar char="•"/>
            </a:pPr>
            <a:endParaRPr lang="fr-CH" sz="1600" dirty="0">
              <a:sym typeface="Wingdings" panose="05000000000000000000" pitchFamily="2" charset="2"/>
            </a:endParaRPr>
          </a:p>
          <a:p>
            <a:pPr marL="342900" indent="-342900">
              <a:buFont typeface="Arial" panose="020B0604020202020204" pitchFamily="34" charset="0"/>
              <a:buChar char="•"/>
            </a:pPr>
            <a:r>
              <a:rPr lang="fr-CH" sz="2000" dirty="0">
                <a:sym typeface="Wingdings" panose="05000000000000000000" pitchFamily="2" charset="2"/>
              </a:rPr>
              <a:t>Icône avec barres</a:t>
            </a:r>
            <a:endParaRPr lang="fr-CH" sz="2000" dirty="0"/>
          </a:p>
          <a:p>
            <a:endParaRPr lang="fr-CH" sz="2000" dirty="0"/>
          </a:p>
        </p:txBody>
      </p:sp>
      <p:pic>
        <p:nvPicPr>
          <p:cNvPr id="6" name="Image 5"/>
          <p:cNvPicPr>
            <a:picLocks noChangeAspect="1"/>
          </p:cNvPicPr>
          <p:nvPr/>
        </p:nvPicPr>
        <p:blipFill>
          <a:blip r:embed="rId2"/>
          <a:stretch>
            <a:fillRect/>
          </a:stretch>
        </p:blipFill>
        <p:spPr>
          <a:xfrm>
            <a:off x="4932040" y="4581128"/>
            <a:ext cx="2448272" cy="689489"/>
          </a:xfrm>
          <a:prstGeom prst="rect">
            <a:avLst/>
          </a:prstGeom>
        </p:spPr>
      </p:pic>
      <p:pic>
        <p:nvPicPr>
          <p:cNvPr id="7" name="Image 6"/>
          <p:cNvPicPr>
            <a:picLocks noChangeAspect="1"/>
          </p:cNvPicPr>
          <p:nvPr/>
        </p:nvPicPr>
        <p:blipFill>
          <a:blip r:embed="rId3"/>
          <a:stretch>
            <a:fillRect/>
          </a:stretch>
        </p:blipFill>
        <p:spPr>
          <a:xfrm>
            <a:off x="3059832" y="5582175"/>
            <a:ext cx="1114425" cy="581025"/>
          </a:xfrm>
          <a:prstGeom prst="rect">
            <a:avLst/>
          </a:prstGeom>
        </p:spPr>
      </p:pic>
    </p:spTree>
    <p:extLst>
      <p:ext uri="{BB962C8B-B14F-4D97-AF65-F5344CB8AC3E}">
        <p14:creationId xmlns:p14="http://schemas.microsoft.com/office/powerpoint/2010/main" val="1418499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err="1"/>
              <a:t>Subflowcharts</a:t>
            </a:r>
            <a:endParaRPr lang="en-US" dirty="0"/>
          </a:p>
        </p:txBody>
      </p:sp>
      <p:sp>
        <p:nvSpPr>
          <p:cNvPr id="3" name="Espace réservé du texte 2"/>
          <p:cNvSpPr>
            <a:spLocks noGrp="1"/>
          </p:cNvSpPr>
          <p:nvPr>
            <p:ph type="body" sz="quarter" idx="11"/>
          </p:nvPr>
        </p:nvSpPr>
        <p:spPr/>
        <p:txBody>
          <a:bodyPr/>
          <a:lstStyle/>
          <a:p>
            <a:r>
              <a:rPr lang="fr-CH" sz="2000" dirty="0"/>
              <a:t>Éditer: </a:t>
            </a:r>
          </a:p>
          <a:p>
            <a:pPr lvl="1"/>
            <a:r>
              <a:rPr lang="fr-CH" sz="1600" dirty="0"/>
              <a:t>Double Click dans la boîte </a:t>
            </a:r>
          </a:p>
          <a:p>
            <a:pPr lvl="1"/>
            <a:r>
              <a:rPr lang="fr-CH" sz="1600" dirty="0"/>
              <a:t>ou right-click dans le panneau </a:t>
            </a:r>
            <a:r>
              <a:rPr lang="fr-CH" sz="1600" dirty="0" err="1"/>
              <a:t>flowchart</a:t>
            </a:r>
            <a:endParaRPr lang="fr-CH" sz="1600" dirty="0"/>
          </a:p>
        </p:txBody>
      </p:sp>
      <p:pic>
        <p:nvPicPr>
          <p:cNvPr id="4" name="Image 3"/>
          <p:cNvPicPr>
            <a:picLocks noChangeAspect="1"/>
          </p:cNvPicPr>
          <p:nvPr/>
        </p:nvPicPr>
        <p:blipFill>
          <a:blip r:embed="rId2"/>
          <a:stretch>
            <a:fillRect/>
          </a:stretch>
        </p:blipFill>
        <p:spPr>
          <a:xfrm>
            <a:off x="5076056" y="2059200"/>
            <a:ext cx="1847850" cy="1200150"/>
          </a:xfrm>
          <a:prstGeom prst="rect">
            <a:avLst/>
          </a:prstGeom>
        </p:spPr>
      </p:pic>
      <p:pic>
        <p:nvPicPr>
          <p:cNvPr id="5" name="Image 4"/>
          <p:cNvPicPr>
            <a:picLocks noChangeAspect="1"/>
          </p:cNvPicPr>
          <p:nvPr/>
        </p:nvPicPr>
        <p:blipFill>
          <a:blip r:embed="rId3"/>
          <a:stretch>
            <a:fillRect/>
          </a:stretch>
        </p:blipFill>
        <p:spPr>
          <a:xfrm>
            <a:off x="3635896" y="2112521"/>
            <a:ext cx="1114425" cy="581025"/>
          </a:xfrm>
          <a:prstGeom prst="rect">
            <a:avLst/>
          </a:prstGeom>
        </p:spPr>
      </p:pic>
      <p:pic>
        <p:nvPicPr>
          <p:cNvPr id="6" name="Image 5"/>
          <p:cNvPicPr>
            <a:picLocks noChangeAspect="1"/>
          </p:cNvPicPr>
          <p:nvPr/>
        </p:nvPicPr>
        <p:blipFill>
          <a:blip r:embed="rId4"/>
          <a:stretch>
            <a:fillRect/>
          </a:stretch>
        </p:blipFill>
        <p:spPr>
          <a:xfrm>
            <a:off x="539552" y="3714928"/>
            <a:ext cx="2092160" cy="2448272"/>
          </a:xfrm>
          <a:prstGeom prst="rect">
            <a:avLst/>
          </a:prstGeom>
          <a:noFill/>
          <a:ln>
            <a:solidFill>
              <a:srgbClr val="FF0000"/>
            </a:solidFill>
          </a:ln>
        </p:spPr>
      </p:pic>
      <p:sp>
        <p:nvSpPr>
          <p:cNvPr id="7" name="Rectangle à coins arrondis 6"/>
          <p:cNvSpPr/>
          <p:nvPr/>
        </p:nvSpPr>
        <p:spPr>
          <a:xfrm>
            <a:off x="395536" y="4005064"/>
            <a:ext cx="864096" cy="28803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ZoneTexte 7"/>
          <p:cNvSpPr txBox="1"/>
          <p:nvPr/>
        </p:nvSpPr>
        <p:spPr>
          <a:xfrm>
            <a:off x="179512" y="3323639"/>
            <a:ext cx="1944440" cy="246221"/>
          </a:xfrm>
          <a:prstGeom prst="rect">
            <a:avLst/>
          </a:prstGeom>
          <a:noFill/>
        </p:spPr>
        <p:txBody>
          <a:bodyPr wrap="square" rtlCol="0">
            <a:spAutoFit/>
          </a:bodyPr>
          <a:lstStyle/>
          <a:p>
            <a:r>
              <a:rPr lang="fr-CH" sz="1000" dirty="0"/>
              <a:t>Nom du </a:t>
            </a:r>
            <a:r>
              <a:rPr lang="fr-CH" sz="1000" dirty="0" err="1"/>
              <a:t>subflowchart</a:t>
            </a:r>
            <a:r>
              <a:rPr lang="fr-CH" sz="1000" dirty="0"/>
              <a:t> </a:t>
            </a:r>
            <a:r>
              <a:rPr lang="fr-CH" sz="1000" dirty="0" err="1"/>
              <a:t>edité</a:t>
            </a:r>
            <a:endParaRPr lang="fr-CH" sz="1000" dirty="0"/>
          </a:p>
        </p:txBody>
      </p:sp>
      <p:cxnSp>
        <p:nvCxnSpPr>
          <p:cNvPr id="10" name="Connecteur droit avec flèche 9"/>
          <p:cNvCxnSpPr/>
          <p:nvPr/>
        </p:nvCxnSpPr>
        <p:spPr>
          <a:xfrm>
            <a:off x="395536" y="3500472"/>
            <a:ext cx="0" cy="5045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ZoneTexte 10"/>
          <p:cNvSpPr txBox="1"/>
          <p:nvPr/>
        </p:nvSpPr>
        <p:spPr>
          <a:xfrm>
            <a:off x="3093556" y="4293096"/>
            <a:ext cx="1944440" cy="400110"/>
          </a:xfrm>
          <a:prstGeom prst="rect">
            <a:avLst/>
          </a:prstGeom>
          <a:noFill/>
        </p:spPr>
        <p:txBody>
          <a:bodyPr wrap="square" rtlCol="0">
            <a:spAutoFit/>
          </a:bodyPr>
          <a:lstStyle/>
          <a:p>
            <a:r>
              <a:rPr lang="fr-CH" sz="1000" dirty="0"/>
              <a:t>Définition des arguments (variables d’entrée)</a:t>
            </a:r>
          </a:p>
        </p:txBody>
      </p:sp>
      <p:sp>
        <p:nvSpPr>
          <p:cNvPr id="12" name="ZoneTexte 11"/>
          <p:cNvSpPr txBox="1"/>
          <p:nvPr/>
        </p:nvSpPr>
        <p:spPr>
          <a:xfrm>
            <a:off x="3052951" y="5661248"/>
            <a:ext cx="1944440" cy="400110"/>
          </a:xfrm>
          <a:prstGeom prst="rect">
            <a:avLst/>
          </a:prstGeom>
          <a:noFill/>
        </p:spPr>
        <p:txBody>
          <a:bodyPr wrap="square" rtlCol="0">
            <a:spAutoFit/>
          </a:bodyPr>
          <a:lstStyle/>
          <a:p>
            <a:r>
              <a:rPr lang="fr-CH" sz="1000" dirty="0"/>
              <a:t>Définition des résultats</a:t>
            </a:r>
          </a:p>
          <a:p>
            <a:r>
              <a:rPr lang="en-US" sz="1000" dirty="0"/>
              <a:t>(variables de sortie)</a:t>
            </a:r>
          </a:p>
        </p:txBody>
      </p:sp>
      <p:cxnSp>
        <p:nvCxnSpPr>
          <p:cNvPr id="14" name="Connecteur droit avec flèche 13"/>
          <p:cNvCxnSpPr>
            <a:stCxn id="11" idx="1"/>
          </p:cNvCxnSpPr>
          <p:nvPr/>
        </p:nvCxnSpPr>
        <p:spPr>
          <a:xfrm flipH="1" flipV="1">
            <a:off x="1475656" y="4365104"/>
            <a:ext cx="1617900" cy="1280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p:cNvCxnSpPr>
            <a:stCxn id="12" idx="1"/>
          </p:cNvCxnSpPr>
          <p:nvPr/>
        </p:nvCxnSpPr>
        <p:spPr>
          <a:xfrm flipH="1">
            <a:off x="1475656" y="5861303"/>
            <a:ext cx="157729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ZoneTexte 17"/>
          <p:cNvSpPr txBox="1"/>
          <p:nvPr/>
        </p:nvSpPr>
        <p:spPr>
          <a:xfrm>
            <a:off x="3093556" y="4977172"/>
            <a:ext cx="1944440" cy="246221"/>
          </a:xfrm>
          <a:prstGeom prst="rect">
            <a:avLst/>
          </a:prstGeom>
          <a:noFill/>
        </p:spPr>
        <p:txBody>
          <a:bodyPr wrap="square" rtlCol="0">
            <a:spAutoFit/>
          </a:bodyPr>
          <a:lstStyle/>
          <a:p>
            <a:r>
              <a:rPr lang="en-US" sz="1000" dirty="0"/>
              <a:t>Steps du </a:t>
            </a:r>
            <a:r>
              <a:rPr lang="en-US" sz="1000" dirty="0" err="1"/>
              <a:t>subflowchart</a:t>
            </a:r>
            <a:endParaRPr lang="en-US" sz="1000" dirty="0"/>
          </a:p>
        </p:txBody>
      </p:sp>
      <p:cxnSp>
        <p:nvCxnSpPr>
          <p:cNvPr id="19" name="Connecteur droit avec flèche 18"/>
          <p:cNvCxnSpPr>
            <a:stCxn id="18" idx="1"/>
          </p:cNvCxnSpPr>
          <p:nvPr/>
        </p:nvCxnSpPr>
        <p:spPr>
          <a:xfrm flipH="1" flipV="1">
            <a:off x="2123952" y="5100282"/>
            <a:ext cx="969604"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159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err="1"/>
              <a:t>Subflowchart</a:t>
            </a:r>
            <a:endParaRPr lang="en-US" dirty="0"/>
          </a:p>
        </p:txBody>
      </p:sp>
      <p:sp>
        <p:nvSpPr>
          <p:cNvPr id="3" name="Espace réservé du texte 2"/>
          <p:cNvSpPr>
            <a:spLocks noGrp="1"/>
          </p:cNvSpPr>
          <p:nvPr>
            <p:ph type="body" sz="quarter" idx="11"/>
          </p:nvPr>
        </p:nvSpPr>
        <p:spPr/>
        <p:txBody>
          <a:bodyPr/>
          <a:lstStyle/>
          <a:p>
            <a:r>
              <a:rPr lang="fr-CH" sz="2000" dirty="0"/>
              <a:t>Définir arguments:</a:t>
            </a:r>
          </a:p>
          <a:p>
            <a:endParaRPr lang="fr-CH" sz="2000" dirty="0"/>
          </a:p>
          <a:p>
            <a:pPr lvl="1"/>
            <a:r>
              <a:rPr lang="fr-CH" sz="1600" dirty="0"/>
              <a:t>Créer (</a:t>
            </a:r>
            <a:r>
              <a:rPr lang="fr-CH" sz="1600" dirty="0" err="1"/>
              <a:t>add</a:t>
            </a:r>
            <a:r>
              <a:rPr lang="fr-CH" sz="1600" dirty="0"/>
              <a:t>) des arguments, avec</a:t>
            </a:r>
          </a:p>
          <a:p>
            <a:pPr lvl="2"/>
            <a:r>
              <a:rPr lang="fr-CH" sz="1200" dirty="0"/>
              <a:t>Nom de l’argument</a:t>
            </a:r>
          </a:p>
          <a:p>
            <a:pPr lvl="2"/>
            <a:r>
              <a:rPr lang="fr-CH" sz="1200" dirty="0"/>
              <a:t>Type: </a:t>
            </a:r>
          </a:p>
          <a:p>
            <a:pPr lvl="2"/>
            <a:r>
              <a:rPr lang="fr-CH" sz="1200" dirty="0"/>
              <a:t>Valeur par défaut</a:t>
            </a:r>
          </a:p>
          <a:p>
            <a:pPr lvl="2"/>
            <a:r>
              <a:rPr lang="fr-CH" sz="1200" dirty="0"/>
              <a:t>Description: texte explicatif.</a:t>
            </a:r>
          </a:p>
        </p:txBody>
      </p:sp>
      <p:pic>
        <p:nvPicPr>
          <p:cNvPr id="4" name="Image 3"/>
          <p:cNvPicPr>
            <a:picLocks noChangeAspect="1"/>
          </p:cNvPicPr>
          <p:nvPr/>
        </p:nvPicPr>
        <p:blipFill>
          <a:blip r:embed="rId2"/>
          <a:stretch>
            <a:fillRect/>
          </a:stretch>
        </p:blipFill>
        <p:spPr>
          <a:xfrm>
            <a:off x="3635896" y="2059200"/>
            <a:ext cx="552450" cy="390525"/>
          </a:xfrm>
          <a:prstGeom prst="rect">
            <a:avLst/>
          </a:prstGeom>
        </p:spPr>
      </p:pic>
      <p:pic>
        <p:nvPicPr>
          <p:cNvPr id="5" name="Image 4"/>
          <p:cNvPicPr>
            <a:picLocks noChangeAspect="1"/>
          </p:cNvPicPr>
          <p:nvPr/>
        </p:nvPicPr>
        <p:blipFill>
          <a:blip r:embed="rId3"/>
          <a:stretch>
            <a:fillRect/>
          </a:stretch>
        </p:blipFill>
        <p:spPr>
          <a:xfrm>
            <a:off x="1395939" y="4221088"/>
            <a:ext cx="5991225" cy="1714500"/>
          </a:xfrm>
          <a:prstGeom prst="rect">
            <a:avLst/>
          </a:prstGeom>
        </p:spPr>
      </p:pic>
      <p:pic>
        <p:nvPicPr>
          <p:cNvPr id="6" name="Image 5"/>
          <p:cNvPicPr>
            <a:picLocks noChangeAspect="1"/>
          </p:cNvPicPr>
          <p:nvPr/>
        </p:nvPicPr>
        <p:blipFill>
          <a:blip r:embed="rId4"/>
          <a:stretch>
            <a:fillRect/>
          </a:stretch>
        </p:blipFill>
        <p:spPr>
          <a:xfrm>
            <a:off x="5004048" y="2509562"/>
            <a:ext cx="1153787" cy="1601638"/>
          </a:xfrm>
          <a:prstGeom prst="rect">
            <a:avLst/>
          </a:prstGeom>
        </p:spPr>
      </p:pic>
      <p:cxnSp>
        <p:nvCxnSpPr>
          <p:cNvPr id="8" name="Connecteur droit avec flèche 7"/>
          <p:cNvCxnSpPr>
            <a:endCxn id="6" idx="1"/>
          </p:cNvCxnSpPr>
          <p:nvPr/>
        </p:nvCxnSpPr>
        <p:spPr>
          <a:xfrm flipV="1">
            <a:off x="2195736" y="3310381"/>
            <a:ext cx="2808312" cy="1186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1947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err="1"/>
              <a:t>Subflowcharts</a:t>
            </a:r>
            <a:endParaRPr lang="en-US" dirty="0"/>
          </a:p>
        </p:txBody>
      </p:sp>
      <p:pic>
        <p:nvPicPr>
          <p:cNvPr id="4" name="Image 3"/>
          <p:cNvPicPr>
            <a:picLocks noChangeAspect="1"/>
          </p:cNvPicPr>
          <p:nvPr/>
        </p:nvPicPr>
        <p:blipFill>
          <a:blip r:embed="rId2"/>
          <a:stretch>
            <a:fillRect/>
          </a:stretch>
        </p:blipFill>
        <p:spPr>
          <a:xfrm>
            <a:off x="2771800" y="4264610"/>
            <a:ext cx="4991100" cy="1485900"/>
          </a:xfrm>
          <a:prstGeom prst="rect">
            <a:avLst/>
          </a:prstGeom>
        </p:spPr>
      </p:pic>
      <p:sp>
        <p:nvSpPr>
          <p:cNvPr id="3" name="Espace réservé du texte 2"/>
          <p:cNvSpPr>
            <a:spLocks noGrp="1"/>
          </p:cNvSpPr>
          <p:nvPr>
            <p:ph type="body" sz="quarter" idx="11"/>
          </p:nvPr>
        </p:nvSpPr>
        <p:spPr/>
        <p:txBody>
          <a:bodyPr/>
          <a:lstStyle/>
          <a:p>
            <a:r>
              <a:rPr lang="en-US" sz="2000" dirty="0"/>
              <a:t>Les steps internes </a:t>
            </a:r>
            <a:r>
              <a:rPr lang="en-US" sz="2000" dirty="0" err="1"/>
              <a:t>sont</a:t>
            </a:r>
            <a:r>
              <a:rPr lang="en-US" sz="2000" dirty="0"/>
              <a:t> </a:t>
            </a:r>
            <a:r>
              <a:rPr lang="en-US" sz="2000" dirty="0" err="1"/>
              <a:t>configurés</a:t>
            </a:r>
            <a:r>
              <a:rPr lang="en-US" sz="2000" dirty="0"/>
              <a:t> par rapport aux arguments</a:t>
            </a:r>
          </a:p>
          <a:p>
            <a:pPr lvl="1"/>
            <a:r>
              <a:rPr lang="en-US" sz="1600" dirty="0"/>
              <a:t>Ex.: </a:t>
            </a:r>
            <a:r>
              <a:rPr lang="en-US" sz="1600" dirty="0" err="1"/>
              <a:t>Flowchart.InputImage</a:t>
            </a:r>
            <a:endParaRPr lang="en-US" sz="1600" dirty="0"/>
          </a:p>
        </p:txBody>
      </p:sp>
      <p:pic>
        <p:nvPicPr>
          <p:cNvPr id="5" name="Image 4"/>
          <p:cNvPicPr>
            <a:picLocks noChangeAspect="1"/>
          </p:cNvPicPr>
          <p:nvPr/>
        </p:nvPicPr>
        <p:blipFill>
          <a:blip r:embed="rId3"/>
          <a:stretch>
            <a:fillRect/>
          </a:stretch>
        </p:blipFill>
        <p:spPr>
          <a:xfrm>
            <a:off x="899592" y="2953245"/>
            <a:ext cx="2971800" cy="1143000"/>
          </a:xfrm>
          <a:prstGeom prst="rect">
            <a:avLst/>
          </a:prstGeom>
        </p:spPr>
      </p:pic>
    </p:spTree>
    <p:extLst>
      <p:ext uri="{BB962C8B-B14F-4D97-AF65-F5344CB8AC3E}">
        <p14:creationId xmlns:p14="http://schemas.microsoft.com/office/powerpoint/2010/main" val="838581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err="1"/>
              <a:t>Subflowchart</a:t>
            </a:r>
            <a:endParaRPr lang="en-US" dirty="0"/>
          </a:p>
        </p:txBody>
      </p:sp>
      <p:sp>
        <p:nvSpPr>
          <p:cNvPr id="3" name="Espace réservé du texte 2"/>
          <p:cNvSpPr>
            <a:spLocks noGrp="1"/>
          </p:cNvSpPr>
          <p:nvPr>
            <p:ph type="body" sz="quarter" idx="11"/>
          </p:nvPr>
        </p:nvSpPr>
        <p:spPr/>
        <p:txBody>
          <a:bodyPr/>
          <a:lstStyle/>
          <a:p>
            <a:r>
              <a:rPr lang="fr-CH" sz="2000" dirty="0"/>
              <a:t>Définir résultats:</a:t>
            </a:r>
          </a:p>
          <a:p>
            <a:endParaRPr lang="fr-CH" sz="2000" dirty="0"/>
          </a:p>
          <a:p>
            <a:pPr lvl="1"/>
            <a:r>
              <a:rPr lang="fr-CH" sz="1600" dirty="0"/>
              <a:t>Similaire aux arguments</a:t>
            </a:r>
          </a:p>
          <a:p>
            <a:pPr lvl="1"/>
            <a:r>
              <a:rPr lang="fr-CH" sz="1600" dirty="0"/>
              <a:t>Définition des résultats en fonction des variables internes</a:t>
            </a:r>
          </a:p>
          <a:p>
            <a:pPr lvl="1"/>
            <a:endParaRPr lang="fr-CH" sz="1600" dirty="0"/>
          </a:p>
          <a:p>
            <a:endParaRPr lang="fr-CH" sz="2000" dirty="0"/>
          </a:p>
          <a:p>
            <a:endParaRPr lang="fr-CH" sz="2000" dirty="0"/>
          </a:p>
        </p:txBody>
      </p:sp>
      <p:pic>
        <p:nvPicPr>
          <p:cNvPr id="4" name="Image 3"/>
          <p:cNvPicPr>
            <a:picLocks noChangeAspect="1"/>
          </p:cNvPicPr>
          <p:nvPr/>
        </p:nvPicPr>
        <p:blipFill>
          <a:blip r:embed="rId2"/>
          <a:stretch>
            <a:fillRect/>
          </a:stretch>
        </p:blipFill>
        <p:spPr>
          <a:xfrm>
            <a:off x="4167714" y="2204864"/>
            <a:ext cx="447675" cy="457200"/>
          </a:xfrm>
          <a:prstGeom prst="rect">
            <a:avLst/>
          </a:prstGeom>
        </p:spPr>
      </p:pic>
      <p:pic>
        <p:nvPicPr>
          <p:cNvPr id="6" name="Image 5"/>
          <p:cNvPicPr>
            <a:picLocks noChangeAspect="1"/>
          </p:cNvPicPr>
          <p:nvPr/>
        </p:nvPicPr>
        <p:blipFill>
          <a:blip r:embed="rId3"/>
          <a:stretch>
            <a:fillRect/>
          </a:stretch>
        </p:blipFill>
        <p:spPr>
          <a:xfrm>
            <a:off x="4499992" y="3501008"/>
            <a:ext cx="3390373" cy="1319380"/>
          </a:xfrm>
          <a:prstGeom prst="rect">
            <a:avLst/>
          </a:prstGeom>
          <a:ln>
            <a:solidFill>
              <a:srgbClr val="FF0000"/>
            </a:solidFill>
          </a:ln>
        </p:spPr>
      </p:pic>
      <p:sp>
        <p:nvSpPr>
          <p:cNvPr id="7" name="Rectangle à coins arrondis 6"/>
          <p:cNvSpPr/>
          <p:nvPr/>
        </p:nvSpPr>
        <p:spPr>
          <a:xfrm>
            <a:off x="4860032" y="4293096"/>
            <a:ext cx="864096" cy="43204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 7"/>
          <p:cNvPicPr>
            <a:picLocks noChangeAspect="1"/>
          </p:cNvPicPr>
          <p:nvPr/>
        </p:nvPicPr>
        <p:blipFill>
          <a:blip r:embed="rId4"/>
          <a:stretch>
            <a:fillRect/>
          </a:stretch>
        </p:blipFill>
        <p:spPr>
          <a:xfrm>
            <a:off x="971600" y="4842899"/>
            <a:ext cx="4896544" cy="1367923"/>
          </a:xfrm>
          <a:prstGeom prst="rect">
            <a:avLst/>
          </a:prstGeom>
        </p:spPr>
      </p:pic>
    </p:spTree>
    <p:extLst>
      <p:ext uri="{BB962C8B-B14F-4D97-AF65-F5344CB8AC3E}">
        <p14:creationId xmlns:p14="http://schemas.microsoft.com/office/powerpoint/2010/main" val="3717893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err="1"/>
              <a:t>Subflowcharts</a:t>
            </a:r>
            <a:endParaRPr lang="en-US" dirty="0"/>
          </a:p>
        </p:txBody>
      </p:sp>
      <p:sp>
        <p:nvSpPr>
          <p:cNvPr id="3" name="Espace réservé du texte 2"/>
          <p:cNvSpPr>
            <a:spLocks noGrp="1"/>
          </p:cNvSpPr>
          <p:nvPr>
            <p:ph type="body" sz="quarter" idx="11"/>
          </p:nvPr>
        </p:nvSpPr>
        <p:spPr/>
        <p:txBody>
          <a:bodyPr/>
          <a:lstStyle/>
          <a:p>
            <a:r>
              <a:rPr lang="fr-CH" sz="2000" dirty="0"/>
              <a:t>Appel dans main </a:t>
            </a:r>
            <a:r>
              <a:rPr lang="fr-CH" sz="2000" dirty="0" err="1"/>
              <a:t>flowchart</a:t>
            </a:r>
            <a:r>
              <a:rPr lang="fr-CH" sz="2000" dirty="0"/>
              <a:t> (connexion arguments et résultats)</a:t>
            </a:r>
          </a:p>
          <a:p>
            <a:endParaRPr lang="fr-CH" sz="2000" dirty="0"/>
          </a:p>
          <a:p>
            <a:pPr lvl="1"/>
            <a:r>
              <a:rPr lang="fr-CH" sz="1600" dirty="0"/>
              <a:t>Associer à chaque argument une variable ou valeur</a:t>
            </a:r>
          </a:p>
          <a:p>
            <a:pPr marL="457200" lvl="1" indent="0">
              <a:buNone/>
            </a:pPr>
            <a:endParaRPr lang="fr-CH" sz="1600" dirty="0"/>
          </a:p>
          <a:p>
            <a:endParaRPr lang="fr-CH" sz="2000" dirty="0"/>
          </a:p>
        </p:txBody>
      </p:sp>
      <p:pic>
        <p:nvPicPr>
          <p:cNvPr id="4" name="Image 3"/>
          <p:cNvPicPr>
            <a:picLocks noChangeAspect="1"/>
          </p:cNvPicPr>
          <p:nvPr/>
        </p:nvPicPr>
        <p:blipFill>
          <a:blip r:embed="rId2"/>
          <a:stretch>
            <a:fillRect/>
          </a:stretch>
        </p:blipFill>
        <p:spPr>
          <a:xfrm>
            <a:off x="1405464" y="4437112"/>
            <a:ext cx="5972175" cy="1600200"/>
          </a:xfrm>
          <a:prstGeom prst="rect">
            <a:avLst/>
          </a:prstGeom>
        </p:spPr>
      </p:pic>
      <p:pic>
        <p:nvPicPr>
          <p:cNvPr id="5" name="Image 4"/>
          <p:cNvPicPr>
            <a:picLocks noChangeAspect="1"/>
          </p:cNvPicPr>
          <p:nvPr/>
        </p:nvPicPr>
        <p:blipFill>
          <a:blip r:embed="rId3"/>
          <a:stretch>
            <a:fillRect/>
          </a:stretch>
        </p:blipFill>
        <p:spPr>
          <a:xfrm>
            <a:off x="6343970" y="2425669"/>
            <a:ext cx="1466850" cy="2533650"/>
          </a:xfrm>
          <a:prstGeom prst="rect">
            <a:avLst/>
          </a:prstGeom>
        </p:spPr>
      </p:pic>
    </p:spTree>
    <p:extLst>
      <p:ext uri="{BB962C8B-B14F-4D97-AF65-F5344CB8AC3E}">
        <p14:creationId xmlns:p14="http://schemas.microsoft.com/office/powerpoint/2010/main" val="2987050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err="1"/>
              <a:t>Subflowcharts</a:t>
            </a:r>
            <a:endParaRPr lang="en-US" dirty="0"/>
          </a:p>
        </p:txBody>
      </p:sp>
      <p:sp>
        <p:nvSpPr>
          <p:cNvPr id="3" name="Espace réservé du texte 2"/>
          <p:cNvSpPr>
            <a:spLocks noGrp="1"/>
          </p:cNvSpPr>
          <p:nvPr>
            <p:ph type="body" sz="quarter" idx="11"/>
          </p:nvPr>
        </p:nvSpPr>
        <p:spPr/>
        <p:txBody>
          <a:bodyPr/>
          <a:lstStyle/>
          <a:p>
            <a:r>
              <a:rPr lang="fr-CH" sz="2000" dirty="0"/>
              <a:t>Appel dans main </a:t>
            </a:r>
            <a:r>
              <a:rPr lang="fr-CH" sz="2000" dirty="0" err="1"/>
              <a:t>flowchart</a:t>
            </a:r>
            <a:r>
              <a:rPr lang="fr-CH" sz="2000" dirty="0"/>
              <a:t> (connexion arguments et résultats)</a:t>
            </a:r>
          </a:p>
          <a:p>
            <a:pPr lvl="1"/>
            <a:r>
              <a:rPr lang="fr-CH" sz="1600" dirty="0"/>
              <a:t>Les résultats sont appelables comme </a:t>
            </a:r>
            <a:r>
              <a:rPr lang="fr-CH" sz="1600" dirty="0" err="1"/>
              <a:t>MyFunction</a:t>
            </a:r>
            <a:r>
              <a:rPr lang="fr-CH" sz="1600" dirty="0"/>
              <a:t>.&lt;</a:t>
            </a:r>
            <a:r>
              <a:rPr lang="fr-CH" sz="1600" dirty="0" err="1"/>
              <a:t>NomduResultat</a:t>
            </a:r>
            <a:r>
              <a:rPr lang="fr-CH" sz="1600" dirty="0"/>
              <a:t>&gt;</a:t>
            </a:r>
          </a:p>
          <a:p>
            <a:pPr marL="457200" lvl="1" indent="0">
              <a:buNone/>
            </a:pPr>
            <a:endParaRPr lang="fr-CH" sz="1600" dirty="0"/>
          </a:p>
          <a:p>
            <a:endParaRPr lang="en-US" sz="2000" dirty="0"/>
          </a:p>
        </p:txBody>
      </p:sp>
      <p:pic>
        <p:nvPicPr>
          <p:cNvPr id="4" name="Image 3"/>
          <p:cNvPicPr>
            <a:picLocks noChangeAspect="1"/>
          </p:cNvPicPr>
          <p:nvPr/>
        </p:nvPicPr>
        <p:blipFill>
          <a:blip r:embed="rId2"/>
          <a:stretch>
            <a:fillRect/>
          </a:stretch>
        </p:blipFill>
        <p:spPr>
          <a:xfrm>
            <a:off x="1715139" y="2751958"/>
            <a:ext cx="5352826" cy="3425809"/>
          </a:xfrm>
          <a:prstGeom prst="rect">
            <a:avLst/>
          </a:prstGeom>
        </p:spPr>
      </p:pic>
    </p:spTree>
    <p:extLst>
      <p:ext uri="{BB962C8B-B14F-4D97-AF65-F5344CB8AC3E}">
        <p14:creationId xmlns:p14="http://schemas.microsoft.com/office/powerpoint/2010/main" val="1064223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err="1"/>
              <a:t>Subflowchart</a:t>
            </a:r>
            <a:endParaRPr lang="en-US" dirty="0"/>
          </a:p>
        </p:txBody>
      </p:sp>
      <p:sp>
        <p:nvSpPr>
          <p:cNvPr id="3" name="Espace réservé du texte 2"/>
          <p:cNvSpPr>
            <a:spLocks noGrp="1"/>
          </p:cNvSpPr>
          <p:nvPr>
            <p:ph type="body" sz="quarter" idx="11"/>
          </p:nvPr>
        </p:nvSpPr>
        <p:spPr/>
        <p:txBody>
          <a:bodyPr/>
          <a:lstStyle/>
          <a:p>
            <a:r>
              <a:rPr lang="fr-CH" sz="2000" dirty="0"/>
              <a:t>Réutilisation: Manage </a:t>
            </a:r>
            <a:r>
              <a:rPr lang="fr-CH" sz="2000" dirty="0" err="1"/>
              <a:t>flowcharts</a:t>
            </a:r>
            <a:r>
              <a:rPr lang="fr-CH" sz="2000" dirty="0"/>
              <a:t> </a:t>
            </a:r>
          </a:p>
          <a:p>
            <a:pPr lvl="1"/>
            <a:r>
              <a:rPr lang="fr-CH" sz="1600" dirty="0"/>
              <a:t>Ajouter multiples fois dans le projet</a:t>
            </a:r>
          </a:p>
          <a:p>
            <a:pPr lvl="1"/>
            <a:r>
              <a:rPr lang="fr-CH" sz="1600" dirty="0"/>
              <a:t>Move to </a:t>
            </a:r>
            <a:r>
              <a:rPr lang="fr-CH" sz="1600" dirty="0" err="1"/>
              <a:t>library</a:t>
            </a:r>
            <a:r>
              <a:rPr lang="fr-CH" sz="1600" dirty="0"/>
              <a:t>: Sauver dans votre installation; disponible pour d’autres projets.</a:t>
            </a:r>
          </a:p>
          <a:p>
            <a:pPr lvl="1"/>
            <a:r>
              <a:rPr lang="fr-CH" sz="1600" dirty="0"/>
              <a:t>Export/Import: Transférer d’un PC à un autre</a:t>
            </a:r>
          </a:p>
          <a:p>
            <a:pPr lvl="1"/>
            <a:endParaRPr lang="fr-CH" sz="1600" dirty="0"/>
          </a:p>
          <a:p>
            <a:pPr lvl="1"/>
            <a:endParaRPr lang="fr-CH" sz="1600" dirty="0"/>
          </a:p>
          <a:p>
            <a:pPr lvl="1"/>
            <a:endParaRPr lang="fr-CH" sz="1600" dirty="0"/>
          </a:p>
          <a:p>
            <a:pPr lvl="1"/>
            <a:endParaRPr lang="fr-CH" sz="1600" dirty="0"/>
          </a:p>
          <a:p>
            <a:pPr lvl="1"/>
            <a:endParaRPr lang="fr-CH" sz="1600" dirty="0"/>
          </a:p>
          <a:p>
            <a:pPr marL="457200" lvl="1" indent="0">
              <a:buNone/>
            </a:pPr>
            <a:r>
              <a:rPr lang="fr-CH" sz="1600" dirty="0"/>
              <a:t>	Vous pouvez créer votre propre librairie de fonctions</a:t>
            </a:r>
            <a:r>
              <a:rPr lang="en-US" sz="1600" dirty="0"/>
              <a:t>!</a:t>
            </a:r>
          </a:p>
        </p:txBody>
      </p:sp>
      <p:pic>
        <p:nvPicPr>
          <p:cNvPr id="4" name="Image 3"/>
          <p:cNvPicPr>
            <a:picLocks noChangeAspect="1"/>
          </p:cNvPicPr>
          <p:nvPr/>
        </p:nvPicPr>
        <p:blipFill>
          <a:blip r:embed="rId2"/>
          <a:stretch>
            <a:fillRect/>
          </a:stretch>
        </p:blipFill>
        <p:spPr>
          <a:xfrm>
            <a:off x="2411760" y="3356993"/>
            <a:ext cx="3969317" cy="1440160"/>
          </a:xfrm>
          <a:prstGeom prst="rect">
            <a:avLst/>
          </a:prstGeom>
        </p:spPr>
      </p:pic>
      <p:pic>
        <p:nvPicPr>
          <p:cNvPr id="5" name="Image 4"/>
          <p:cNvPicPr>
            <a:picLocks noChangeAspect="1"/>
          </p:cNvPicPr>
          <p:nvPr/>
        </p:nvPicPr>
        <p:blipFill>
          <a:blip r:embed="rId3"/>
          <a:stretch>
            <a:fillRect/>
          </a:stretch>
        </p:blipFill>
        <p:spPr>
          <a:xfrm>
            <a:off x="2411760" y="5210484"/>
            <a:ext cx="5664696" cy="882299"/>
          </a:xfrm>
          <a:prstGeom prst="rect">
            <a:avLst/>
          </a:prstGeom>
        </p:spPr>
      </p:pic>
    </p:spTree>
    <p:extLst>
      <p:ext uri="{BB962C8B-B14F-4D97-AF65-F5344CB8AC3E}">
        <p14:creationId xmlns:p14="http://schemas.microsoft.com/office/powerpoint/2010/main" val="2363445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err="1"/>
              <a:t>Fonctions</a:t>
            </a:r>
            <a:endParaRPr lang="en-US" dirty="0"/>
          </a:p>
        </p:txBody>
      </p:sp>
      <p:sp>
        <p:nvSpPr>
          <p:cNvPr id="3" name="Espace réservé du texte 2"/>
          <p:cNvSpPr>
            <a:spLocks noGrp="1"/>
          </p:cNvSpPr>
          <p:nvPr>
            <p:ph type="body" sz="quarter" idx="11"/>
          </p:nvPr>
        </p:nvSpPr>
        <p:spPr/>
        <p:txBody>
          <a:bodyPr/>
          <a:lstStyle/>
          <a:p>
            <a:pPr marL="457200" indent="-457200">
              <a:buFont typeface="Arial" panose="020B0604020202020204" pitchFamily="34" charset="0"/>
              <a:buChar char="•"/>
            </a:pPr>
            <a:r>
              <a:rPr lang="fr-CH" sz="2000" dirty="0"/>
              <a:t>Dans les formules</a:t>
            </a:r>
          </a:p>
          <a:p>
            <a:pPr marL="1200150" lvl="1" indent="-457200">
              <a:buFont typeface="Arial" panose="020B0604020202020204" pitchFamily="34" charset="0"/>
              <a:buChar char="•"/>
            </a:pPr>
            <a:r>
              <a:rPr lang="fr-CH" dirty="0"/>
              <a:t>Ex: Calcul de l’aire totale des blobs</a:t>
            </a:r>
          </a:p>
          <a:p>
            <a:pPr marL="1600200" lvl="2" indent="-457200"/>
            <a:r>
              <a:rPr lang="en-US" dirty="0"/>
              <a:t>SUM(SELECT(</a:t>
            </a:r>
            <a:r>
              <a:rPr lang="en-US" dirty="0" err="1"/>
              <a:t>Blobs.BlobFound,Item.Area</a:t>
            </a:r>
            <a:r>
              <a:rPr lang="en-US" dirty="0"/>
              <a:t>))</a:t>
            </a:r>
          </a:p>
          <a:p>
            <a:pPr marL="457200" indent="-457200">
              <a:buFont typeface="Arial" panose="020B0604020202020204" pitchFamily="34" charset="0"/>
              <a:buChar char="•"/>
            </a:pPr>
            <a:r>
              <a:rPr lang="en-US" sz="2000" dirty="0" err="1"/>
              <a:t>Fonctions</a:t>
            </a:r>
            <a:r>
              <a:rPr lang="en-US" sz="2000" dirty="0"/>
              <a:t> </a:t>
            </a:r>
            <a:r>
              <a:rPr lang="en-US" sz="2000" dirty="0" err="1"/>
              <a:t>disponibles</a:t>
            </a:r>
            <a:endParaRPr lang="en-US" sz="2000" dirty="0"/>
          </a:p>
        </p:txBody>
      </p:sp>
      <p:pic>
        <p:nvPicPr>
          <p:cNvPr id="5" name="Image 4"/>
          <p:cNvPicPr>
            <a:picLocks noChangeAspect="1"/>
          </p:cNvPicPr>
          <p:nvPr/>
        </p:nvPicPr>
        <p:blipFill>
          <a:blip r:embed="rId2"/>
          <a:stretch>
            <a:fillRect/>
          </a:stretch>
        </p:blipFill>
        <p:spPr>
          <a:xfrm>
            <a:off x="755576" y="3829819"/>
            <a:ext cx="1333500" cy="2343150"/>
          </a:xfrm>
          <a:prstGeom prst="rect">
            <a:avLst/>
          </a:prstGeom>
        </p:spPr>
      </p:pic>
      <p:sp>
        <p:nvSpPr>
          <p:cNvPr id="6" name="ZoneTexte 5"/>
          <p:cNvSpPr txBox="1"/>
          <p:nvPr/>
        </p:nvSpPr>
        <p:spPr>
          <a:xfrm>
            <a:off x="2114334" y="4365104"/>
            <a:ext cx="5121961" cy="1815882"/>
          </a:xfrm>
          <a:prstGeom prst="rect">
            <a:avLst/>
          </a:prstGeom>
          <a:noFill/>
        </p:spPr>
        <p:txBody>
          <a:bodyPr wrap="square" rtlCol="0">
            <a:spAutoFit/>
          </a:bodyPr>
          <a:lstStyle/>
          <a:p>
            <a:pPr marL="171450" indent="-171450">
              <a:buFont typeface="Arial" panose="020B0604020202020204" pitchFamily="34" charset="0"/>
              <a:buChar char="•"/>
            </a:pPr>
            <a:r>
              <a:rPr lang="fr-CH" sz="1600" dirty="0" err="1"/>
              <a:t>Exp</a:t>
            </a:r>
            <a:r>
              <a:rPr lang="fr-CH" sz="1600" dirty="0"/>
              <a:t>, Log, Min, Max…</a:t>
            </a:r>
          </a:p>
          <a:p>
            <a:pPr marL="171450" indent="-171450">
              <a:buFont typeface="Arial" panose="020B0604020202020204" pitchFamily="34" charset="0"/>
              <a:buChar char="•"/>
            </a:pPr>
            <a:r>
              <a:rPr lang="fr-CH" sz="1600" dirty="0" err="1"/>
              <a:t>Contains</a:t>
            </a:r>
            <a:r>
              <a:rPr lang="fr-CH" sz="1600" dirty="0"/>
              <a:t>, </a:t>
            </a:r>
            <a:r>
              <a:rPr lang="fr-CH" sz="1600" dirty="0" err="1"/>
              <a:t>ElementAt</a:t>
            </a:r>
            <a:r>
              <a:rPr lang="fr-CH" sz="1600" dirty="0"/>
              <a:t>, </a:t>
            </a:r>
            <a:r>
              <a:rPr lang="fr-CH" sz="1600" dirty="0" err="1"/>
              <a:t>IndexOf</a:t>
            </a:r>
            <a:r>
              <a:rPr lang="fr-CH" sz="1600" dirty="0"/>
              <a:t>, </a:t>
            </a:r>
            <a:r>
              <a:rPr lang="fr-CH" sz="1600" dirty="0" err="1"/>
              <a:t>Average</a:t>
            </a:r>
            <a:r>
              <a:rPr lang="fr-CH" sz="1600" dirty="0"/>
              <a:t>, Min, Max…</a:t>
            </a:r>
          </a:p>
          <a:p>
            <a:pPr marL="171450" indent="-171450">
              <a:buFont typeface="Arial" panose="020B0604020202020204" pitchFamily="34" charset="0"/>
              <a:buChar char="•"/>
            </a:pPr>
            <a:r>
              <a:rPr lang="fr-CH" sz="1600" dirty="0"/>
              <a:t>BAND, BNOT, BOR, BXOR</a:t>
            </a:r>
          </a:p>
          <a:p>
            <a:pPr marL="171450" indent="-171450">
              <a:buFont typeface="Arial" panose="020B0604020202020204" pitchFamily="34" charset="0"/>
              <a:buChar char="•"/>
            </a:pPr>
            <a:r>
              <a:rPr lang="fr-CH" sz="1600" dirty="0"/>
              <a:t>AND, INRANGE, NOT, XOR, …</a:t>
            </a:r>
          </a:p>
          <a:p>
            <a:pPr marL="171450" indent="-171450">
              <a:buFont typeface="Arial" panose="020B0604020202020204" pitchFamily="34" charset="0"/>
              <a:buChar char="•"/>
            </a:pPr>
            <a:r>
              <a:rPr lang="fr-CH" sz="1600" dirty="0"/>
              <a:t>IF, POINT(), FIXTURE(), IMAGE(),…</a:t>
            </a:r>
          </a:p>
          <a:p>
            <a:pPr marL="171450" indent="-171450">
              <a:buFont typeface="Arial" panose="020B0604020202020204" pitchFamily="34" charset="0"/>
              <a:buChar char="•"/>
            </a:pPr>
            <a:r>
              <a:rPr lang="fr-CH" sz="1600" dirty="0"/>
              <a:t>CONCAT, SUBSTRING, LENGTH, INDEXOF…</a:t>
            </a:r>
          </a:p>
          <a:p>
            <a:pPr marL="171450" indent="-171450">
              <a:buFont typeface="Arial" panose="020B0604020202020204" pitchFamily="34" charset="0"/>
              <a:buChar char="•"/>
            </a:pPr>
            <a:r>
              <a:rPr lang="fr-CH" sz="1600" dirty="0"/>
              <a:t>ANGLE, DISTANCE, TRANSFORMCOORD, PI, COS, SIN…</a:t>
            </a:r>
          </a:p>
        </p:txBody>
      </p:sp>
    </p:spTree>
    <p:extLst>
      <p:ext uri="{BB962C8B-B14F-4D97-AF65-F5344CB8AC3E}">
        <p14:creationId xmlns:p14="http://schemas.microsoft.com/office/powerpoint/2010/main" val="2669444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en-US" dirty="0" err="1"/>
              <a:t>Fonctions</a:t>
            </a:r>
            <a:endParaRPr lang="en-US" dirty="0"/>
          </a:p>
        </p:txBody>
      </p:sp>
      <p:sp>
        <p:nvSpPr>
          <p:cNvPr id="3" name="Espace réservé du texte 2"/>
          <p:cNvSpPr>
            <a:spLocks noGrp="1"/>
          </p:cNvSpPr>
          <p:nvPr>
            <p:ph type="body" sz="quarter" idx="11"/>
          </p:nvPr>
        </p:nvSpPr>
        <p:spPr/>
        <p:txBody>
          <a:bodyPr/>
          <a:lstStyle/>
          <a:p>
            <a:r>
              <a:rPr lang="fr-CH" sz="2400" dirty="0"/>
              <a:t>Exemple:</a:t>
            </a:r>
          </a:p>
          <a:p>
            <a:pPr marL="342900" indent="-342900">
              <a:buFont typeface="Arial" panose="020B0604020202020204" pitchFamily="34" charset="0"/>
              <a:buChar char="•"/>
            </a:pPr>
            <a:r>
              <a:rPr lang="fr-CH" sz="2000" dirty="0"/>
              <a:t>Soit une liste de points: (ici crée </a:t>
            </a:r>
            <a:r>
              <a:rPr lang="fr-CH" sz="2000" dirty="0" err="1"/>
              <a:t>programmatiquement</a:t>
            </a:r>
            <a:r>
              <a:rPr lang="fr-CH" sz="2000" dirty="0"/>
              <a:t>)</a:t>
            </a:r>
            <a:r>
              <a:rPr lang="fr-CH" sz="2400" dirty="0"/>
              <a:t> </a:t>
            </a:r>
          </a:p>
          <a:p>
            <a:r>
              <a:rPr lang="fr-CH" sz="1600" dirty="0">
                <a:solidFill>
                  <a:schemeClr val="tx1"/>
                </a:solidFill>
              </a:rPr>
              <a:t>liste=[ POINT(1.1,2.2), POINT(3.3,4.4), POINT(5.5,6.6) ]</a:t>
            </a:r>
            <a:r>
              <a:rPr lang="fr-CH" sz="1600" dirty="0"/>
              <a:t> </a:t>
            </a:r>
          </a:p>
          <a:p>
            <a:pPr marL="342900" indent="-342900">
              <a:buFont typeface="Arial" panose="020B0604020202020204" pitchFamily="34" charset="0"/>
              <a:buChar char="•"/>
            </a:pPr>
            <a:r>
              <a:rPr lang="fr-CH" sz="2000" dirty="0"/>
              <a:t>Crée une liste de strings avec les données de chaque point:</a:t>
            </a:r>
          </a:p>
          <a:p>
            <a:r>
              <a:rPr lang="fr-CH" sz="1600" dirty="0" err="1">
                <a:solidFill>
                  <a:schemeClr val="tx1"/>
                </a:solidFill>
              </a:rPr>
              <a:t>Stringarray</a:t>
            </a:r>
            <a:r>
              <a:rPr lang="fr-CH" sz="1600" dirty="0">
                <a:solidFill>
                  <a:schemeClr val="tx1"/>
                </a:solidFill>
              </a:rPr>
              <a:t> = {SELECT(</a:t>
            </a:r>
            <a:r>
              <a:rPr lang="fr-CH" sz="1600" dirty="0" err="1">
                <a:solidFill>
                  <a:schemeClr val="tx1"/>
                </a:solidFill>
              </a:rPr>
              <a:t>Variables.liste.Points</a:t>
            </a:r>
            <a:r>
              <a:rPr lang="fr-CH" sz="1600" dirty="0">
                <a:solidFill>
                  <a:schemeClr val="tx1"/>
                </a:solidFill>
              </a:rPr>
              <a:t>, CONCAT("X=", </a:t>
            </a:r>
            <a:r>
              <a:rPr lang="fr-CH" sz="1600" dirty="0" err="1">
                <a:solidFill>
                  <a:schemeClr val="tx1"/>
                </a:solidFill>
              </a:rPr>
              <a:t>Item.X</a:t>
            </a:r>
            <a:r>
              <a:rPr lang="fr-CH" sz="1600" dirty="0">
                <a:solidFill>
                  <a:schemeClr val="tx1"/>
                </a:solidFill>
              </a:rPr>
              <a:t>, ",","Y=",</a:t>
            </a:r>
            <a:r>
              <a:rPr lang="fr-CH" sz="1600" dirty="0" err="1">
                <a:solidFill>
                  <a:schemeClr val="tx1"/>
                </a:solidFill>
              </a:rPr>
              <a:t>Item.Y</a:t>
            </a:r>
            <a:r>
              <a:rPr lang="fr-CH" sz="1600" dirty="0">
                <a:solidFill>
                  <a:schemeClr val="tx1"/>
                </a:solidFill>
              </a:rPr>
              <a:t>,";"))}</a:t>
            </a:r>
          </a:p>
          <a:p>
            <a:endParaRPr lang="es-ES" sz="1200" dirty="0">
              <a:solidFill>
                <a:schemeClr val="tx1"/>
              </a:solidFill>
              <a:latin typeface="Courier New" panose="02070309020205020404" pitchFamily="49" charset="0"/>
              <a:cs typeface="Courier New" panose="02070309020205020404" pitchFamily="49" charset="0"/>
            </a:endParaRPr>
          </a:p>
          <a:p>
            <a:r>
              <a:rPr lang="es-ES" sz="1200" dirty="0">
                <a:solidFill>
                  <a:schemeClr val="tx1"/>
                </a:solidFill>
                <a:latin typeface="Courier New" panose="02070309020205020404" pitchFamily="49" charset="0"/>
                <a:cs typeface="Courier New" panose="02070309020205020404" pitchFamily="49" charset="0"/>
              </a:rPr>
              <a:t>			</a:t>
            </a:r>
            <a:endParaRPr lang="fr-CH" sz="1600" dirty="0">
              <a:solidFill>
                <a:schemeClr val="tx1"/>
              </a:solidFill>
            </a:endParaRPr>
          </a:p>
          <a:p>
            <a:pPr marL="342900" indent="-342900">
              <a:buFont typeface="Arial" panose="020B0604020202020204" pitchFamily="34" charset="0"/>
              <a:buChar char="•"/>
            </a:pPr>
            <a:r>
              <a:rPr lang="fr-CH" sz="2000" dirty="0"/>
              <a:t>Cree un string concaténant la liste de strings précédente:</a:t>
            </a:r>
          </a:p>
          <a:p>
            <a:r>
              <a:rPr lang="fr-CH" sz="1600" dirty="0">
                <a:solidFill>
                  <a:schemeClr val="tx1"/>
                </a:solidFill>
              </a:rPr>
              <a:t>Message = {ARRAYTOSTRING(</a:t>
            </a:r>
            <a:r>
              <a:rPr lang="fr-CH" sz="1600" dirty="0" err="1">
                <a:solidFill>
                  <a:schemeClr val="tx1"/>
                </a:solidFill>
              </a:rPr>
              <a:t>Variables.Stringarray</a:t>
            </a:r>
            <a:r>
              <a:rPr lang="fr-CH" sz="1600" dirty="0">
                <a:solidFill>
                  <a:schemeClr val="tx1"/>
                </a:solidFill>
              </a:rPr>
              <a:t>)}</a:t>
            </a:r>
          </a:p>
          <a:p>
            <a:endParaRPr lang="fr-CH" sz="1600" dirty="0"/>
          </a:p>
          <a:p>
            <a:endParaRPr lang="fr-CH" sz="1600" dirty="0"/>
          </a:p>
        </p:txBody>
      </p:sp>
      <p:sp>
        <p:nvSpPr>
          <p:cNvPr id="5" name="ZoneTexte 4">
            <a:extLst>
              <a:ext uri="{FF2B5EF4-FFF2-40B4-BE49-F238E27FC236}">
                <a16:creationId xmlns:a16="http://schemas.microsoft.com/office/drawing/2014/main" id="{95E1DDC4-A2F2-4F77-8E3C-FB576733BB81}"/>
              </a:ext>
            </a:extLst>
          </p:cNvPr>
          <p:cNvSpPr txBox="1"/>
          <p:nvPr/>
        </p:nvSpPr>
        <p:spPr>
          <a:xfrm>
            <a:off x="7042504" y="3789040"/>
            <a:ext cx="1345920" cy="707886"/>
          </a:xfrm>
          <a:prstGeom prst="rect">
            <a:avLst/>
          </a:prstGeom>
          <a:noFill/>
          <a:ln>
            <a:solidFill>
              <a:schemeClr val="tx1"/>
            </a:solidFill>
          </a:ln>
        </p:spPr>
        <p:txBody>
          <a:bodyPr wrap="square" rtlCol="0">
            <a:spAutoFit/>
          </a:bodyPr>
          <a:lstStyle/>
          <a:p>
            <a:r>
              <a:rPr lang="es-ES" sz="1000" dirty="0" err="1">
                <a:latin typeface="Courier New" panose="02070309020205020404" pitchFamily="49" charset="0"/>
                <a:cs typeface="Courier New" panose="02070309020205020404" pitchFamily="49" charset="0"/>
              </a:rPr>
              <a:t>Stringarray</a:t>
            </a:r>
            <a:r>
              <a:rPr lang="es-ES" sz="1000" dirty="0">
                <a:latin typeface="Courier New" panose="02070309020205020404" pitchFamily="49" charset="0"/>
                <a:cs typeface="Courier New" panose="02070309020205020404" pitchFamily="49" charset="0"/>
              </a:rPr>
              <a:t>	</a:t>
            </a:r>
          </a:p>
          <a:p>
            <a:pPr marL="228600" indent="-228600">
              <a:buAutoNum type="arabicPlain"/>
            </a:pPr>
            <a:r>
              <a:rPr lang="es-ES" sz="1000" dirty="0">
                <a:latin typeface="Courier New" panose="02070309020205020404" pitchFamily="49" charset="0"/>
                <a:cs typeface="Courier New" panose="02070309020205020404" pitchFamily="49" charset="0"/>
              </a:rPr>
              <a:t>X=1.1,Y=2.2;</a:t>
            </a:r>
          </a:p>
          <a:p>
            <a:pPr marL="228600" indent="-228600">
              <a:buAutoNum type="arabicPlain"/>
            </a:pPr>
            <a:r>
              <a:rPr lang="es-ES" sz="1000" dirty="0">
                <a:latin typeface="Courier New" panose="02070309020205020404" pitchFamily="49" charset="0"/>
                <a:cs typeface="Courier New" panose="02070309020205020404" pitchFamily="49" charset="0"/>
              </a:rPr>
              <a:t>X=3.3,Y=4.4;</a:t>
            </a:r>
          </a:p>
          <a:p>
            <a:r>
              <a:rPr lang="es-ES" sz="1000" dirty="0">
                <a:latin typeface="Courier New" panose="02070309020205020404" pitchFamily="49" charset="0"/>
                <a:cs typeface="Courier New" panose="02070309020205020404" pitchFamily="49" charset="0"/>
              </a:rPr>
              <a:t>3  X=5.5,Y=6.6;</a:t>
            </a:r>
          </a:p>
        </p:txBody>
      </p:sp>
      <p:sp>
        <p:nvSpPr>
          <p:cNvPr id="7" name="ZoneTexte 6">
            <a:extLst>
              <a:ext uri="{FF2B5EF4-FFF2-40B4-BE49-F238E27FC236}">
                <a16:creationId xmlns:a16="http://schemas.microsoft.com/office/drawing/2014/main" id="{34860E2F-9A24-43F2-8BEA-50437269D522}"/>
              </a:ext>
            </a:extLst>
          </p:cNvPr>
          <p:cNvSpPr txBox="1"/>
          <p:nvPr/>
        </p:nvSpPr>
        <p:spPr>
          <a:xfrm>
            <a:off x="5292080" y="5717726"/>
            <a:ext cx="3096344" cy="400110"/>
          </a:xfrm>
          <a:prstGeom prst="rect">
            <a:avLst/>
          </a:prstGeom>
          <a:noFill/>
          <a:ln>
            <a:solidFill>
              <a:schemeClr val="tx1"/>
            </a:solidFill>
          </a:ln>
        </p:spPr>
        <p:txBody>
          <a:bodyPr wrap="square" rtlCol="0">
            <a:spAutoFit/>
          </a:bodyPr>
          <a:lstStyle/>
          <a:p>
            <a:r>
              <a:rPr lang="es-ES" sz="1000" dirty="0" err="1">
                <a:latin typeface="Courier New" panose="02070309020205020404" pitchFamily="49" charset="0"/>
                <a:cs typeface="Courier New" panose="02070309020205020404" pitchFamily="49" charset="0"/>
              </a:rPr>
              <a:t>Variables.message</a:t>
            </a:r>
            <a:endParaRPr lang="es-ES" sz="1000" dirty="0">
              <a:latin typeface="Courier New" panose="02070309020205020404" pitchFamily="49" charset="0"/>
              <a:cs typeface="Courier New" panose="02070309020205020404" pitchFamily="49" charset="0"/>
            </a:endParaRPr>
          </a:p>
          <a:p>
            <a:r>
              <a:rPr lang="es-ES" sz="1000" dirty="0">
                <a:latin typeface="Courier New" panose="02070309020205020404" pitchFamily="49" charset="0"/>
                <a:cs typeface="Courier New" panose="02070309020205020404" pitchFamily="49" charset="0"/>
              </a:rPr>
              <a:t>"X=1.1,Y=2.2;X=3.3,Y=4.4;X=5.5,Y=6.6;"</a:t>
            </a:r>
          </a:p>
        </p:txBody>
      </p:sp>
    </p:spTree>
    <p:extLst>
      <p:ext uri="{BB962C8B-B14F-4D97-AF65-F5344CB8AC3E}">
        <p14:creationId xmlns:p14="http://schemas.microsoft.com/office/powerpoint/2010/main" val="4078110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00744E6-FB6D-488B-B83A-B239B50AF83C}"/>
              </a:ext>
            </a:extLst>
          </p:cNvPr>
          <p:cNvSpPr>
            <a:spLocks noGrp="1"/>
          </p:cNvSpPr>
          <p:nvPr>
            <p:ph type="body" sz="quarter" idx="10"/>
          </p:nvPr>
        </p:nvSpPr>
        <p:spPr/>
        <p:txBody>
          <a:bodyPr/>
          <a:lstStyle/>
          <a:p>
            <a:r>
              <a:rPr lang="en-US" dirty="0" err="1"/>
              <a:t>Fonctions</a:t>
            </a:r>
            <a:endParaRPr lang="en-US" dirty="0"/>
          </a:p>
        </p:txBody>
      </p:sp>
      <p:sp>
        <p:nvSpPr>
          <p:cNvPr id="3" name="Espace réservé du texte 2">
            <a:extLst>
              <a:ext uri="{FF2B5EF4-FFF2-40B4-BE49-F238E27FC236}">
                <a16:creationId xmlns:a16="http://schemas.microsoft.com/office/drawing/2014/main" id="{F0A2CB4C-AD5C-4D4D-AA86-9D453A8FA8E0}"/>
              </a:ext>
            </a:extLst>
          </p:cNvPr>
          <p:cNvSpPr>
            <a:spLocks noGrp="1"/>
          </p:cNvSpPr>
          <p:nvPr>
            <p:ph type="body" sz="quarter" idx="11"/>
          </p:nvPr>
        </p:nvSpPr>
        <p:spPr/>
        <p:txBody>
          <a:bodyPr/>
          <a:lstStyle/>
          <a:p>
            <a:r>
              <a:rPr lang="fr-CH" sz="2800" dirty="0" err="1"/>
              <a:t>Array</a:t>
            </a:r>
            <a:endParaRPr lang="fr-CH" sz="2800" dirty="0"/>
          </a:p>
          <a:p>
            <a:pPr marL="342900" indent="-342900">
              <a:buFont typeface="Arial" panose="020B0604020202020204" pitchFamily="34" charset="0"/>
              <a:buChar char="•"/>
            </a:pPr>
            <a:r>
              <a:rPr lang="fr-CH" sz="2000" dirty="0"/>
              <a:t>[ ] : Création d’</a:t>
            </a:r>
            <a:r>
              <a:rPr lang="fr-CH" sz="2000" dirty="0" err="1"/>
              <a:t>array</a:t>
            </a:r>
            <a:r>
              <a:rPr lang="fr-CH" sz="2000" dirty="0"/>
              <a:t>. </a:t>
            </a:r>
            <a:r>
              <a:rPr lang="fr-CH" sz="2000" dirty="0" err="1"/>
              <a:t>Separateur</a:t>
            </a:r>
            <a:r>
              <a:rPr lang="fr-CH" sz="2000" dirty="0"/>
              <a:t> virgule</a:t>
            </a:r>
          </a:p>
          <a:p>
            <a:pPr marL="342900" indent="-342900">
              <a:buFont typeface="Arial" panose="020B0604020202020204" pitchFamily="34" charset="0"/>
              <a:buChar char="•"/>
            </a:pPr>
            <a:r>
              <a:rPr lang="fr-CH" sz="2000" dirty="0"/>
              <a:t>COUNT(</a:t>
            </a:r>
            <a:r>
              <a:rPr lang="fr-CH" sz="2000" dirty="0" err="1"/>
              <a:t>SourceArray</a:t>
            </a:r>
            <a:r>
              <a:rPr lang="fr-CH" sz="2000" dirty="0"/>
              <a:t>)</a:t>
            </a:r>
          </a:p>
          <a:p>
            <a:pPr marL="342900" indent="-342900">
              <a:buFont typeface="Arial" panose="020B0604020202020204" pitchFamily="34" charset="0"/>
              <a:buChar char="•"/>
            </a:pPr>
            <a:r>
              <a:rPr lang="fr-CH" sz="2000" dirty="0"/>
              <a:t>AVERAGE(</a:t>
            </a:r>
            <a:r>
              <a:rPr lang="fr-CH" sz="2000" dirty="0" err="1"/>
              <a:t>SourceArray</a:t>
            </a:r>
            <a:r>
              <a:rPr lang="fr-CH" sz="2000" dirty="0"/>
              <a:t>)     </a:t>
            </a:r>
            <a:r>
              <a:rPr lang="fr-CH" sz="1600" dirty="0"/>
              <a:t>… SUM(),MIN(),MAX()</a:t>
            </a:r>
            <a:endParaRPr lang="fr-CH" sz="2000" dirty="0"/>
          </a:p>
          <a:p>
            <a:pPr marL="342900" indent="-342900">
              <a:buFont typeface="Arial" panose="020B0604020202020204" pitchFamily="34" charset="0"/>
              <a:buChar char="•"/>
            </a:pPr>
            <a:r>
              <a:rPr lang="fr-CH" sz="2000" dirty="0"/>
              <a:t>AVERAGE(</a:t>
            </a:r>
            <a:r>
              <a:rPr lang="fr-CH" sz="2000" dirty="0" err="1"/>
              <a:t>SourceArray</a:t>
            </a:r>
            <a:r>
              <a:rPr lang="fr-CH" sz="2000" dirty="0"/>
              <a:t>, Expression)</a:t>
            </a:r>
          </a:p>
          <a:p>
            <a:pPr marL="342900" indent="-342900">
              <a:buFont typeface="Arial" panose="020B0604020202020204" pitchFamily="34" charset="0"/>
              <a:buChar char="•"/>
            </a:pPr>
            <a:r>
              <a:rPr lang="fr-CH" sz="2000" dirty="0"/>
              <a:t>SELECT(</a:t>
            </a:r>
            <a:r>
              <a:rPr lang="fr-CH" sz="2000" dirty="0" err="1"/>
              <a:t>SourceArray</a:t>
            </a:r>
            <a:r>
              <a:rPr lang="fr-CH" sz="2000" dirty="0"/>
              <a:t>, Expression): </a:t>
            </a:r>
            <a:r>
              <a:rPr lang="fr-CH" sz="1600" dirty="0">
                <a:solidFill>
                  <a:schemeClr val="tx1"/>
                </a:solidFill>
              </a:rPr>
              <a:t>retourne liste appliquant expression à chaque élément de source</a:t>
            </a:r>
          </a:p>
          <a:p>
            <a:pPr marL="342900" indent="-342900">
              <a:buFont typeface="Arial" panose="020B0604020202020204" pitchFamily="34" charset="0"/>
              <a:buChar char="•"/>
            </a:pPr>
            <a:r>
              <a:rPr lang="fr-CH" sz="2000" dirty="0"/>
              <a:t>FILTER(</a:t>
            </a:r>
            <a:r>
              <a:rPr lang="fr-CH" sz="2000" dirty="0" err="1"/>
              <a:t>SourceArray,Condition,Expression</a:t>
            </a:r>
            <a:r>
              <a:rPr lang="fr-CH" sz="2000" dirty="0"/>
              <a:t>)</a:t>
            </a:r>
          </a:p>
          <a:p>
            <a:pPr marL="342900" indent="-342900">
              <a:buFont typeface="Arial" panose="020B0604020202020204" pitchFamily="34" charset="0"/>
              <a:buChar char="•"/>
            </a:pPr>
            <a:r>
              <a:rPr lang="fr-CH" sz="2000" dirty="0"/>
              <a:t>ORDERBY(</a:t>
            </a:r>
            <a:r>
              <a:rPr lang="fr-CH" sz="2000" dirty="0" err="1"/>
              <a:t>SourceArray,Expression</a:t>
            </a:r>
            <a:r>
              <a:rPr lang="fr-CH" sz="2000" dirty="0"/>
              <a:t>)</a:t>
            </a:r>
          </a:p>
          <a:p>
            <a:pPr marL="342900" indent="-342900">
              <a:buFont typeface="Arial" panose="020B0604020202020204" pitchFamily="34" charset="0"/>
              <a:buChar char="•"/>
            </a:pPr>
            <a:r>
              <a:rPr lang="fr-CH" sz="2000" dirty="0"/>
              <a:t>DISTINCT(</a:t>
            </a:r>
            <a:r>
              <a:rPr lang="fr-CH" sz="2000" dirty="0" err="1"/>
              <a:t>SourceArray</a:t>
            </a:r>
            <a:r>
              <a:rPr lang="fr-CH" sz="2000" dirty="0"/>
              <a:t>): </a:t>
            </a:r>
            <a:r>
              <a:rPr lang="fr-CH" sz="1600" dirty="0">
                <a:solidFill>
                  <a:prstClr val="black"/>
                </a:solidFill>
              </a:rPr>
              <a:t>élimine doublons</a:t>
            </a:r>
            <a:endParaRPr lang="fr-CH" sz="2000" dirty="0"/>
          </a:p>
          <a:p>
            <a:pPr marL="342900" indent="-342900">
              <a:buFont typeface="Arial" panose="020B0604020202020204" pitchFamily="34" charset="0"/>
              <a:buChar char="•"/>
            </a:pPr>
            <a:r>
              <a:rPr lang="fr-CH" sz="2000" dirty="0"/>
              <a:t>ALL(</a:t>
            </a:r>
            <a:r>
              <a:rPr lang="fr-CH" sz="2000" dirty="0" err="1"/>
              <a:t>SourceArray,Condition</a:t>
            </a:r>
            <a:r>
              <a:rPr lang="fr-CH" sz="2000" dirty="0"/>
              <a:t>): </a:t>
            </a:r>
            <a:r>
              <a:rPr lang="fr-CH" sz="1600" dirty="0">
                <a:solidFill>
                  <a:schemeClr val="tx1"/>
                </a:solidFill>
              </a:rPr>
              <a:t>retourne </a:t>
            </a:r>
            <a:r>
              <a:rPr lang="fr-CH" sz="1600" dirty="0" err="1">
                <a:solidFill>
                  <a:schemeClr val="tx1"/>
                </a:solidFill>
              </a:rPr>
              <a:t>true</a:t>
            </a:r>
            <a:r>
              <a:rPr lang="fr-CH" sz="1600" dirty="0">
                <a:solidFill>
                  <a:schemeClr val="tx1"/>
                </a:solidFill>
              </a:rPr>
              <a:t> si vrai pour tous éléments</a:t>
            </a:r>
          </a:p>
          <a:p>
            <a:pPr marL="342900" indent="-342900">
              <a:buFont typeface="Arial" panose="020B0604020202020204" pitchFamily="34" charset="0"/>
              <a:buChar char="•"/>
            </a:pPr>
            <a:endParaRPr lang="fr-CH" sz="1600" dirty="0">
              <a:solidFill>
                <a:schemeClr val="tx1"/>
              </a:solidFill>
            </a:endParaRPr>
          </a:p>
        </p:txBody>
      </p:sp>
    </p:spTree>
    <p:extLst>
      <p:ext uri="{BB962C8B-B14F-4D97-AF65-F5344CB8AC3E}">
        <p14:creationId xmlns:p14="http://schemas.microsoft.com/office/powerpoint/2010/main" val="655456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2BEC226E-DD72-4674-B6F6-0F1C1829DB18}"/>
              </a:ext>
            </a:extLst>
          </p:cNvPr>
          <p:cNvSpPr>
            <a:spLocks noGrp="1"/>
          </p:cNvSpPr>
          <p:nvPr>
            <p:ph type="body" sz="quarter" idx="10"/>
          </p:nvPr>
        </p:nvSpPr>
        <p:spPr/>
        <p:txBody>
          <a:bodyPr/>
          <a:lstStyle/>
          <a:p>
            <a:r>
              <a:rPr lang="en-US" dirty="0" err="1"/>
              <a:t>Fonctions</a:t>
            </a:r>
            <a:endParaRPr lang="en-US" dirty="0"/>
          </a:p>
        </p:txBody>
      </p:sp>
      <p:sp>
        <p:nvSpPr>
          <p:cNvPr id="3" name="Espace réservé du texte 2">
            <a:extLst>
              <a:ext uri="{FF2B5EF4-FFF2-40B4-BE49-F238E27FC236}">
                <a16:creationId xmlns:a16="http://schemas.microsoft.com/office/drawing/2014/main" id="{8FF0614D-7518-4C26-86DB-0F2D37B99DAF}"/>
              </a:ext>
            </a:extLst>
          </p:cNvPr>
          <p:cNvSpPr>
            <a:spLocks noGrp="1"/>
          </p:cNvSpPr>
          <p:nvPr>
            <p:ph type="body" sz="quarter" idx="11"/>
          </p:nvPr>
        </p:nvSpPr>
        <p:spPr/>
        <p:txBody>
          <a:bodyPr/>
          <a:lstStyle/>
          <a:p>
            <a:r>
              <a:rPr lang="fr-CH" sz="2400" dirty="0" err="1"/>
              <a:t>Array</a:t>
            </a:r>
            <a:r>
              <a:rPr lang="fr-CH" sz="2400" dirty="0"/>
              <a:t> Keywords</a:t>
            </a:r>
          </a:p>
          <a:p>
            <a:pPr marL="342900" indent="-342900">
              <a:buFont typeface="Arial" panose="020B0604020202020204" pitchFamily="34" charset="0"/>
              <a:buChar char="•"/>
            </a:pPr>
            <a:r>
              <a:rPr lang="fr-CH" sz="2400" dirty="0"/>
              <a:t>Index: Se réfère à l’index de l’élément</a:t>
            </a:r>
          </a:p>
          <a:p>
            <a:pPr lvl="1" indent="0">
              <a:buNone/>
            </a:pPr>
            <a:r>
              <a:rPr lang="fr-CH" sz="1200" dirty="0">
                <a:latin typeface="Courier New" panose="02070309020205020404" pitchFamily="49" charset="0"/>
                <a:cs typeface="Courier New" panose="02070309020205020404" pitchFamily="49" charset="0"/>
              </a:rPr>
              <a:t>{FILTER(</a:t>
            </a:r>
            <a:r>
              <a:rPr lang="fr-CH" sz="1200" dirty="0" err="1">
                <a:latin typeface="Courier New" panose="02070309020205020404" pitchFamily="49" charset="0"/>
                <a:cs typeface="Courier New" panose="02070309020205020404" pitchFamily="49" charset="0"/>
              </a:rPr>
              <a:t>Variables.ArrayData</a:t>
            </a:r>
            <a:r>
              <a:rPr lang="fr-CH" sz="1200" dirty="0">
                <a:latin typeface="Courier New" panose="02070309020205020404" pitchFamily="49" charset="0"/>
                <a:cs typeface="Courier New" panose="02070309020205020404" pitchFamily="49" charset="0"/>
              </a:rPr>
              <a:t>, Index MOD 2)}</a:t>
            </a:r>
            <a:r>
              <a:rPr lang="fr-CH" sz="2000" dirty="0"/>
              <a:t> retourne éléments 1,3,5..</a:t>
            </a:r>
          </a:p>
          <a:p>
            <a:pPr marL="342900" indent="-342900">
              <a:buFont typeface="Arial" panose="020B0604020202020204" pitchFamily="34" charset="0"/>
              <a:buChar char="•"/>
            </a:pPr>
            <a:r>
              <a:rPr lang="fr-CH" sz="2400" dirty="0"/>
              <a:t>Item: Se réfère à la valeur de l’élément</a:t>
            </a:r>
          </a:p>
          <a:p>
            <a:pPr lvl="1" indent="0">
              <a:buNone/>
            </a:pPr>
            <a:r>
              <a:rPr lang="fr-CH" sz="1200" dirty="0">
                <a:latin typeface="Courier New" panose="02070309020205020404" pitchFamily="49" charset="0"/>
                <a:cs typeface="Courier New" panose="02070309020205020404" pitchFamily="49" charset="0"/>
              </a:rPr>
              <a:t>{SELECT(</a:t>
            </a:r>
            <a:r>
              <a:rPr lang="fr-CH" sz="1200" dirty="0" err="1">
                <a:latin typeface="Courier New" panose="02070309020205020404" pitchFamily="49" charset="0"/>
                <a:cs typeface="Courier New" panose="02070309020205020404" pitchFamily="49" charset="0"/>
              </a:rPr>
              <a:t>BlobAnalysis.BlobFound</a:t>
            </a:r>
            <a:r>
              <a:rPr lang="fr-CH" sz="1200" dirty="0">
                <a:latin typeface="Courier New" panose="02070309020205020404" pitchFamily="49" charset="0"/>
                <a:cs typeface="Courier New" panose="02070309020205020404" pitchFamily="49" charset="0"/>
              </a:rPr>
              <a:t>, </a:t>
            </a:r>
            <a:r>
              <a:rPr lang="fr-CH" sz="1200" dirty="0" err="1">
                <a:latin typeface="Courier New" panose="02070309020205020404" pitchFamily="49" charset="0"/>
                <a:cs typeface="Courier New" panose="02070309020205020404" pitchFamily="49" charset="0"/>
              </a:rPr>
              <a:t>Item.Area</a:t>
            </a:r>
            <a:r>
              <a:rPr lang="fr-CH" sz="1200" dirty="0">
                <a:latin typeface="Courier New" panose="02070309020205020404" pitchFamily="49" charset="0"/>
                <a:cs typeface="Courier New" panose="02070309020205020404" pitchFamily="49" charset="0"/>
              </a:rPr>
              <a:t>)}</a:t>
            </a:r>
          </a:p>
          <a:p>
            <a:pPr marL="342900" indent="-342900">
              <a:buFont typeface="Arial" panose="020B0604020202020204" pitchFamily="34" charset="0"/>
              <a:buChar char="•"/>
            </a:pPr>
            <a:r>
              <a:rPr lang="fr-CH" sz="2400" dirty="0" err="1"/>
              <a:t>ItemCount</a:t>
            </a:r>
            <a:r>
              <a:rPr lang="fr-CH" sz="2400" dirty="0"/>
              <a:t>: Se réfère au nombre d’éléments</a:t>
            </a:r>
          </a:p>
          <a:p>
            <a:pPr lvl="1" indent="0">
              <a:buNone/>
            </a:pPr>
            <a:r>
              <a:rPr lang="en-US" sz="1200" dirty="0">
                <a:latin typeface="Courier New" panose="02070309020205020404" pitchFamily="49" charset="0"/>
                <a:cs typeface="Courier New" panose="02070309020205020404" pitchFamily="49" charset="0"/>
              </a:rPr>
              <a:t>{SUM(</a:t>
            </a:r>
            <a:r>
              <a:rPr lang="en-US" sz="1200" dirty="0" err="1">
                <a:latin typeface="Courier New" panose="02070309020205020404" pitchFamily="49" charset="0"/>
                <a:cs typeface="Courier New" panose="02070309020205020404" pitchFamily="49" charset="0"/>
              </a:rPr>
              <a:t>Variables.NumericArray</a:t>
            </a:r>
            <a:r>
              <a:rPr lang="en-US" sz="1200" dirty="0">
                <a:latin typeface="Courier New" panose="02070309020205020404" pitchFamily="49" charset="0"/>
                <a:cs typeface="Courier New" panose="02070309020205020404" pitchFamily="49" charset="0"/>
              </a:rPr>
              <a:t>, 1, </a:t>
            </a:r>
            <a:r>
              <a:rPr lang="en-US" sz="1200" dirty="0" err="1">
                <a:latin typeface="Courier New" panose="02070309020205020404" pitchFamily="49" charset="0"/>
                <a:cs typeface="Courier New" panose="02070309020205020404" pitchFamily="49" charset="0"/>
              </a:rPr>
              <a:t>ItemCount</a:t>
            </a:r>
            <a:r>
              <a:rPr lang="en-US" sz="1200" dirty="0">
                <a:latin typeface="Courier New" panose="02070309020205020404" pitchFamily="49" charset="0"/>
                <a:cs typeface="Courier New" panose="02070309020205020404" pitchFamily="49" charset="0"/>
              </a:rPr>
              <a:t> - 5)}</a:t>
            </a:r>
          </a:p>
          <a:p>
            <a:endParaRPr lang="fr-CH" sz="2400" dirty="0"/>
          </a:p>
          <a:p>
            <a:pPr lvl="1" indent="0">
              <a:buNone/>
            </a:pPr>
            <a:endParaRPr lang="fr-CH" sz="2000" dirty="0"/>
          </a:p>
        </p:txBody>
      </p:sp>
    </p:spTree>
    <p:extLst>
      <p:ext uri="{BB962C8B-B14F-4D97-AF65-F5344CB8AC3E}">
        <p14:creationId xmlns:p14="http://schemas.microsoft.com/office/powerpoint/2010/main" val="3591614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CB6F6B2C-798B-4F79-8297-93EB175F6FC5}"/>
              </a:ext>
            </a:extLst>
          </p:cNvPr>
          <p:cNvSpPr>
            <a:spLocks noGrp="1"/>
          </p:cNvSpPr>
          <p:nvPr>
            <p:ph type="body" sz="quarter" idx="10"/>
          </p:nvPr>
        </p:nvSpPr>
        <p:spPr/>
        <p:txBody>
          <a:bodyPr/>
          <a:lstStyle/>
          <a:p>
            <a:r>
              <a:rPr lang="fr-CH" dirty="0"/>
              <a:t>Fonctions</a:t>
            </a:r>
          </a:p>
        </p:txBody>
      </p:sp>
      <p:sp>
        <p:nvSpPr>
          <p:cNvPr id="3" name="Espace réservé du texte 2">
            <a:extLst>
              <a:ext uri="{FF2B5EF4-FFF2-40B4-BE49-F238E27FC236}">
                <a16:creationId xmlns:a16="http://schemas.microsoft.com/office/drawing/2014/main" id="{FD1D5927-3BE9-4734-81ED-2D65EB7683CE}"/>
              </a:ext>
            </a:extLst>
          </p:cNvPr>
          <p:cNvSpPr>
            <a:spLocks noGrp="1"/>
          </p:cNvSpPr>
          <p:nvPr>
            <p:ph type="body" sz="quarter" idx="11"/>
          </p:nvPr>
        </p:nvSpPr>
        <p:spPr/>
        <p:txBody>
          <a:bodyPr/>
          <a:lstStyle/>
          <a:p>
            <a:r>
              <a:rPr lang="fr-CH" sz="2400" dirty="0" err="1"/>
              <a:t>Miscellaneous</a:t>
            </a:r>
            <a:endParaRPr lang="fr-CH" sz="2400" dirty="0"/>
          </a:p>
          <a:p>
            <a:pPr marL="342900" indent="-342900">
              <a:buFont typeface="Arial" panose="020B0604020202020204" pitchFamily="34" charset="0"/>
              <a:buChar char="•"/>
            </a:pPr>
            <a:r>
              <a:rPr lang="fr-CH" sz="2400" dirty="0"/>
              <a:t>IF(«Condition», «</a:t>
            </a:r>
            <a:r>
              <a:rPr lang="fr-CH" sz="2400" dirty="0" err="1"/>
              <a:t>TrueValue</a:t>
            </a:r>
            <a:r>
              <a:rPr lang="fr-CH" sz="2400" dirty="0"/>
              <a:t>», «</a:t>
            </a:r>
            <a:r>
              <a:rPr lang="fr-CH" sz="2400" dirty="0" err="1"/>
              <a:t>FalseValue</a:t>
            </a:r>
            <a:r>
              <a:rPr lang="fr-CH" sz="2400" dirty="0"/>
              <a:t>»)</a:t>
            </a:r>
          </a:p>
          <a:p>
            <a:pPr marL="342900" indent="-342900">
              <a:buFont typeface="Arial" panose="020B0604020202020204" pitchFamily="34" charset="0"/>
              <a:buChar char="•"/>
            </a:pPr>
            <a:r>
              <a:rPr lang="fr-CH" sz="2400" dirty="0"/>
              <a:t>CHECKVALID(«</a:t>
            </a:r>
            <a:r>
              <a:rPr lang="fr-CH" sz="2400" i="1" dirty="0"/>
              <a:t>Value</a:t>
            </a:r>
            <a:r>
              <a:rPr lang="fr-CH" sz="2400" dirty="0"/>
              <a:t>», «</a:t>
            </a:r>
            <a:r>
              <a:rPr lang="fr-CH" sz="2400" i="1" dirty="0" err="1"/>
              <a:t>DefaultValue</a:t>
            </a:r>
            <a:r>
              <a:rPr lang="fr-CH" sz="2400" dirty="0"/>
              <a:t>»)</a:t>
            </a:r>
          </a:p>
          <a:p>
            <a:pPr marL="342900" indent="-342900">
              <a:buFont typeface="Arial" panose="020B0604020202020204" pitchFamily="34" charset="0"/>
              <a:buChar char="•"/>
            </a:pPr>
            <a:r>
              <a:rPr lang="fr-CH" sz="2400" dirty="0"/>
              <a:t>IMAGE(</a:t>
            </a:r>
            <a:r>
              <a:rPr lang="fr-CH" sz="2400" dirty="0" err="1"/>
              <a:t>ImageName</a:t>
            </a:r>
            <a:r>
              <a:rPr lang="fr-CH" sz="2400" dirty="0"/>
              <a:t>)</a:t>
            </a:r>
          </a:p>
          <a:p>
            <a:pPr lvl="1" indent="0">
              <a:buNone/>
            </a:pPr>
            <a:r>
              <a:rPr lang="fr-CH" sz="1800" dirty="0">
                <a:latin typeface="Courier New" panose="02070309020205020404" pitchFamily="49" charset="0"/>
                <a:cs typeface="Courier New" panose="02070309020205020404" pitchFamily="49" charset="0"/>
              </a:rPr>
              <a:t>IMAGE("Image001.bmp") </a:t>
            </a:r>
          </a:p>
          <a:p>
            <a:pPr marL="342900" indent="-342900">
              <a:buFont typeface="Arial" panose="020B0604020202020204" pitchFamily="34" charset="0"/>
              <a:buChar char="•"/>
            </a:pPr>
            <a:r>
              <a:rPr lang="fr-CH" sz="2400" dirty="0"/>
              <a:t>POINT(X,Y) or POINT(Fixture)</a:t>
            </a:r>
          </a:p>
          <a:p>
            <a:pPr marL="342900" indent="-342900">
              <a:buFont typeface="Arial" panose="020B0604020202020204" pitchFamily="34" charset="0"/>
              <a:buChar char="•"/>
            </a:pPr>
            <a:r>
              <a:rPr lang="fr-CH" sz="2400" dirty="0"/>
              <a:t>FIXTURE(</a:t>
            </a:r>
            <a:r>
              <a:rPr lang="fr-CH" sz="2400" dirty="0" err="1"/>
              <a:t>X,Y,Angle</a:t>
            </a:r>
            <a:r>
              <a:rPr lang="fr-CH" sz="2400" dirty="0"/>
              <a:t>) or FIXTURE(</a:t>
            </a:r>
            <a:r>
              <a:rPr lang="fr-CH" sz="2400" dirty="0" err="1"/>
              <a:t>Point,Angle</a:t>
            </a:r>
            <a:r>
              <a:rPr lang="fr-CH" sz="2400" dirty="0"/>
              <a:t>)</a:t>
            </a:r>
          </a:p>
          <a:p>
            <a:pPr marL="342900" indent="-342900">
              <a:buFont typeface="Arial" panose="020B0604020202020204" pitchFamily="34" charset="0"/>
              <a:buChar char="•"/>
            </a:pPr>
            <a:r>
              <a:rPr lang="fr-CH" sz="2400" dirty="0"/>
              <a:t>CURRENTPROJECT()</a:t>
            </a:r>
          </a:p>
        </p:txBody>
      </p:sp>
    </p:spTree>
    <p:extLst>
      <p:ext uri="{BB962C8B-B14F-4D97-AF65-F5344CB8AC3E}">
        <p14:creationId xmlns:p14="http://schemas.microsoft.com/office/powerpoint/2010/main" val="348459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7E19540-1AB9-4663-AE32-149275D77DF2}"/>
              </a:ext>
            </a:extLst>
          </p:cNvPr>
          <p:cNvSpPr>
            <a:spLocks noGrp="1"/>
          </p:cNvSpPr>
          <p:nvPr>
            <p:ph type="body" sz="quarter" idx="10"/>
          </p:nvPr>
        </p:nvSpPr>
        <p:spPr/>
        <p:txBody>
          <a:bodyPr/>
          <a:lstStyle/>
          <a:p>
            <a:r>
              <a:rPr lang="fr-CH" dirty="0"/>
              <a:t>Fonctions</a:t>
            </a:r>
          </a:p>
        </p:txBody>
      </p:sp>
      <p:sp>
        <p:nvSpPr>
          <p:cNvPr id="3" name="Espace réservé du texte 2">
            <a:extLst>
              <a:ext uri="{FF2B5EF4-FFF2-40B4-BE49-F238E27FC236}">
                <a16:creationId xmlns:a16="http://schemas.microsoft.com/office/drawing/2014/main" id="{EE5ADEF0-54C6-42EE-95D4-18951A7B8C16}"/>
              </a:ext>
            </a:extLst>
          </p:cNvPr>
          <p:cNvSpPr>
            <a:spLocks noGrp="1"/>
          </p:cNvSpPr>
          <p:nvPr>
            <p:ph type="body" sz="quarter" idx="11"/>
          </p:nvPr>
        </p:nvSpPr>
        <p:spPr/>
        <p:txBody>
          <a:bodyPr/>
          <a:lstStyle/>
          <a:p>
            <a:r>
              <a:rPr lang="fr-CH" sz="2400" dirty="0" err="1"/>
              <a:t>Trigonometric</a:t>
            </a:r>
            <a:endParaRPr lang="fr-CH" sz="2400" dirty="0"/>
          </a:p>
          <a:p>
            <a:pPr marL="342900" indent="-342900">
              <a:buFont typeface="Arial" panose="020B0604020202020204" pitchFamily="34" charset="0"/>
              <a:buChar char="•"/>
            </a:pPr>
            <a:r>
              <a:rPr lang="fr-CH" sz="2400" dirty="0"/>
              <a:t>ANGLE(</a:t>
            </a:r>
            <a:r>
              <a:rPr lang="fr-CH" sz="2400" dirty="0" err="1"/>
              <a:t>StartPoint,EndPoint</a:t>
            </a:r>
            <a:r>
              <a:rPr lang="fr-CH" sz="2400" dirty="0"/>
              <a:t>)</a:t>
            </a:r>
          </a:p>
          <a:p>
            <a:pPr marL="342900" indent="-342900">
              <a:buFont typeface="Arial" panose="020B0604020202020204" pitchFamily="34" charset="0"/>
              <a:buChar char="•"/>
            </a:pPr>
            <a:r>
              <a:rPr lang="fr-CH" sz="2400" dirty="0"/>
              <a:t>DISTANCE(</a:t>
            </a:r>
            <a:r>
              <a:rPr lang="fr-CH" sz="2400" dirty="0" err="1"/>
              <a:t>StartPoint,EndPoint</a:t>
            </a:r>
            <a:r>
              <a:rPr lang="fr-CH" sz="2400" dirty="0"/>
              <a:t>)</a:t>
            </a:r>
          </a:p>
          <a:p>
            <a:pPr marL="342900" indent="-342900">
              <a:buFont typeface="Arial" panose="020B0604020202020204" pitchFamily="34" charset="0"/>
              <a:buChar char="•"/>
            </a:pPr>
            <a:r>
              <a:rPr lang="fr-CH" sz="2400" dirty="0"/>
              <a:t>TRANSFORMCOORDINATES(…)</a:t>
            </a:r>
          </a:p>
          <a:p>
            <a:pPr lvl="1" indent="0">
              <a:buNone/>
            </a:pPr>
            <a:r>
              <a:rPr lang="fr-CH" sz="1200" dirty="0">
                <a:latin typeface="Courier New" panose="02070309020205020404" pitchFamily="49" charset="0"/>
                <a:cs typeface="Courier New" panose="02070309020205020404" pitchFamily="49" charset="0"/>
              </a:rPr>
              <a:t>TRANSFORMCOORDINATES(POINT(</a:t>
            </a:r>
            <a:r>
              <a:rPr lang="fr-CH" sz="1200" dirty="0" err="1">
                <a:latin typeface="Courier New" panose="02070309020205020404" pitchFamily="49" charset="0"/>
                <a:cs typeface="Courier New" panose="02070309020205020404" pitchFamily="49" charset="0"/>
              </a:rPr>
              <a:t>Camera.Image.SizeX</a:t>
            </a:r>
            <a:r>
              <a:rPr lang="fr-CH" sz="1200" dirty="0">
                <a:latin typeface="Courier New" panose="02070309020205020404" pitchFamily="49" charset="0"/>
                <a:cs typeface="Courier New" panose="02070309020205020404" pitchFamily="49" charset="0"/>
              </a:rPr>
              <a:t>/2, </a:t>
            </a:r>
            <a:r>
              <a:rPr lang="fr-CH" sz="1200" dirty="0" err="1">
                <a:latin typeface="Courier New" panose="02070309020205020404" pitchFamily="49" charset="0"/>
                <a:cs typeface="Courier New" panose="02070309020205020404" pitchFamily="49" charset="0"/>
              </a:rPr>
              <a:t>Camera.Image.SizeY</a:t>
            </a:r>
            <a:r>
              <a:rPr lang="fr-CH" sz="1200" dirty="0">
                <a:latin typeface="Courier New" panose="02070309020205020404" pitchFamily="49" charset="0"/>
                <a:cs typeface="Courier New" panose="02070309020205020404" pitchFamily="49" charset="0"/>
              </a:rPr>
              <a:t>/2), </a:t>
            </a:r>
            <a:r>
              <a:rPr lang="fr-CH" sz="1200" dirty="0" err="1">
                <a:latin typeface="Courier New" panose="02070309020205020404" pitchFamily="49" charset="0"/>
                <a:cs typeface="Courier New" panose="02070309020205020404" pitchFamily="49" charset="0"/>
              </a:rPr>
              <a:t>PixelToAbsolute</a:t>
            </a:r>
            <a:r>
              <a:rPr lang="fr-CH" sz="1200" dirty="0">
                <a:latin typeface="Courier New" panose="02070309020205020404" pitchFamily="49" charset="0"/>
                <a:cs typeface="Courier New" panose="02070309020205020404" pitchFamily="49" charset="0"/>
              </a:rPr>
              <a:t>, </a:t>
            </a:r>
            <a:r>
              <a:rPr lang="fr-CH" sz="1200" dirty="0" err="1">
                <a:latin typeface="Courier New" panose="02070309020205020404" pitchFamily="49" charset="0"/>
                <a:cs typeface="Courier New" panose="02070309020205020404" pitchFamily="49" charset="0"/>
              </a:rPr>
              <a:t>Camera.Image</a:t>
            </a:r>
            <a:r>
              <a:rPr lang="fr-CH" sz="1200" dirty="0">
                <a:latin typeface="Courier New" panose="02070309020205020404" pitchFamily="49" charset="0"/>
                <a:cs typeface="Courier New" panose="02070309020205020404" pitchFamily="49" charset="0"/>
              </a:rPr>
              <a:t>) </a:t>
            </a:r>
          </a:p>
          <a:p>
            <a:pPr lvl="1" indent="0">
              <a:buNone/>
            </a:pPr>
            <a:r>
              <a:rPr lang="fr-CH" sz="2000" dirty="0">
                <a:cs typeface="Courier New" panose="02070309020205020404" pitchFamily="49" charset="0"/>
              </a:rPr>
              <a:t>retourne coordonnées world du pixel central de l’image</a:t>
            </a:r>
            <a:endParaRPr lang="fr-CH" sz="2000" dirty="0">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fr-CH" sz="2400" dirty="0"/>
              <a:t>TRANSFORMZ(): </a:t>
            </a:r>
            <a:r>
              <a:rPr lang="fr-CH" sz="2000" dirty="0">
                <a:solidFill>
                  <a:schemeClr val="tx1"/>
                </a:solidFill>
                <a:latin typeface="+mn-lt"/>
              </a:rPr>
              <a:t>convertit intensité en </a:t>
            </a:r>
            <a:r>
              <a:rPr lang="fr-CH" sz="2000" dirty="0" err="1">
                <a:solidFill>
                  <a:schemeClr val="tx1"/>
                </a:solidFill>
                <a:latin typeface="+mn-lt"/>
              </a:rPr>
              <a:t>coordonée</a:t>
            </a:r>
            <a:r>
              <a:rPr lang="fr-CH" sz="2000" dirty="0">
                <a:solidFill>
                  <a:schemeClr val="tx1"/>
                </a:solidFill>
                <a:latin typeface="+mn-lt"/>
              </a:rPr>
              <a:t> Z (3D)</a:t>
            </a:r>
          </a:p>
          <a:p>
            <a:pPr marL="342900" indent="-342900">
              <a:buFont typeface="Arial" panose="020B0604020202020204" pitchFamily="34" charset="0"/>
              <a:buChar char="•"/>
            </a:pPr>
            <a:r>
              <a:rPr lang="fr-CH" sz="2400" dirty="0"/>
              <a:t>ATAN2(Y,X)</a:t>
            </a:r>
          </a:p>
          <a:p>
            <a:pPr marL="1085850" lvl="1" indent="-342900">
              <a:buFont typeface="Arial" panose="020B0604020202020204" pitchFamily="34" charset="0"/>
              <a:buChar char="•"/>
            </a:pPr>
            <a:endParaRPr lang="fr-CH" sz="2000" dirty="0"/>
          </a:p>
          <a:p>
            <a:pPr lvl="1" indent="0">
              <a:buNone/>
            </a:pPr>
            <a:endParaRPr lang="fr-CH" sz="2000" dirty="0"/>
          </a:p>
        </p:txBody>
      </p:sp>
    </p:spTree>
    <p:extLst>
      <p:ext uri="{BB962C8B-B14F-4D97-AF65-F5344CB8AC3E}">
        <p14:creationId xmlns:p14="http://schemas.microsoft.com/office/powerpoint/2010/main" val="3889418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sz="quarter" idx="10"/>
          </p:nvPr>
        </p:nvSpPr>
        <p:spPr/>
        <p:txBody>
          <a:bodyPr/>
          <a:lstStyle/>
          <a:p>
            <a:r>
              <a:rPr lang="fr-CH" dirty="0" err="1"/>
              <a:t>CustomSteps</a:t>
            </a:r>
            <a:endParaRPr lang="fr-CH" dirty="0"/>
          </a:p>
        </p:txBody>
      </p:sp>
      <p:sp>
        <p:nvSpPr>
          <p:cNvPr id="3" name="Espace réservé du texte 2"/>
          <p:cNvSpPr>
            <a:spLocks noGrp="1"/>
          </p:cNvSpPr>
          <p:nvPr>
            <p:ph type="body" sz="quarter" idx="11"/>
          </p:nvPr>
        </p:nvSpPr>
        <p:spPr/>
        <p:txBody>
          <a:bodyPr/>
          <a:lstStyle/>
          <a:p>
            <a:pPr marL="342900" indent="-342900">
              <a:buFont typeface="Arial" panose="020B0604020202020204" pitchFamily="34" charset="0"/>
              <a:buChar char="•"/>
            </a:pPr>
            <a:r>
              <a:rPr lang="fr-CH" sz="2000" dirty="0"/>
              <a:t>Possibilité d’intégrer des </a:t>
            </a:r>
            <a:r>
              <a:rPr lang="fr-CH" sz="2000" dirty="0" err="1"/>
              <a:t>DLLs</a:t>
            </a:r>
            <a:r>
              <a:rPr lang="fr-CH" sz="2000" dirty="0"/>
              <a:t> en C#</a:t>
            </a:r>
          </a:p>
          <a:p>
            <a:pPr marL="342900" indent="-342900">
              <a:buFont typeface="Arial" panose="020B0604020202020204" pitchFamily="34" charset="0"/>
              <a:buChar char="•"/>
            </a:pPr>
            <a:r>
              <a:rPr lang="fr-CH" sz="2000" dirty="0"/>
              <a:t>Appel à fonctionnalités externes (p.ex. autres librairies)</a:t>
            </a:r>
          </a:p>
        </p:txBody>
      </p:sp>
    </p:spTree>
    <p:extLst>
      <p:ext uri="{BB962C8B-B14F-4D97-AF65-F5344CB8AC3E}">
        <p14:creationId xmlns:p14="http://schemas.microsoft.com/office/powerpoint/2010/main" val="3968235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258B26C5-BE75-4AB9-AD9D-FFF9FF1BC9B6}"/>
              </a:ext>
            </a:extLst>
          </p:cNvPr>
          <p:cNvSpPr>
            <a:spLocks noGrp="1"/>
          </p:cNvSpPr>
          <p:nvPr>
            <p:ph type="body" sz="quarter" idx="10"/>
          </p:nvPr>
        </p:nvSpPr>
        <p:spPr/>
        <p:txBody>
          <a:bodyPr/>
          <a:lstStyle/>
          <a:p>
            <a:r>
              <a:rPr lang="fr-CH" dirty="0" err="1"/>
              <a:t>CustomSteps</a:t>
            </a:r>
            <a:endParaRPr lang="fr-CH" dirty="0"/>
          </a:p>
        </p:txBody>
      </p:sp>
      <p:sp>
        <p:nvSpPr>
          <p:cNvPr id="3" name="Espace réservé du texte 2">
            <a:extLst>
              <a:ext uri="{FF2B5EF4-FFF2-40B4-BE49-F238E27FC236}">
                <a16:creationId xmlns:a16="http://schemas.microsoft.com/office/drawing/2014/main" id="{3C02E96C-311A-40C2-8D2B-D89264D01BF9}"/>
              </a:ext>
            </a:extLst>
          </p:cNvPr>
          <p:cNvSpPr>
            <a:spLocks noGrp="1"/>
          </p:cNvSpPr>
          <p:nvPr>
            <p:ph type="body" sz="quarter" idx="11"/>
          </p:nvPr>
        </p:nvSpPr>
        <p:spPr/>
        <p:txBody>
          <a:bodyPr/>
          <a:lstStyle/>
          <a:p>
            <a:r>
              <a:rPr lang="fr-CH" dirty="0"/>
              <a:t>Importation</a:t>
            </a:r>
          </a:p>
          <a:p>
            <a:r>
              <a:rPr lang="fr-CH" sz="2400" dirty="0"/>
              <a:t>Ouvrir fichier *.</a:t>
            </a:r>
            <a:r>
              <a:rPr lang="fr-CH" sz="2400" dirty="0" err="1"/>
              <a:t>das</a:t>
            </a:r>
            <a:endParaRPr lang="fr-CH" sz="2400" dirty="0"/>
          </a:p>
        </p:txBody>
      </p:sp>
      <p:pic>
        <p:nvPicPr>
          <p:cNvPr id="6" name="Image 5">
            <a:extLst>
              <a:ext uri="{FF2B5EF4-FFF2-40B4-BE49-F238E27FC236}">
                <a16:creationId xmlns:a16="http://schemas.microsoft.com/office/drawing/2014/main" id="{AEB2455B-E00D-478B-96FB-51BD73185D3B}"/>
              </a:ext>
            </a:extLst>
          </p:cNvPr>
          <p:cNvPicPr>
            <a:picLocks noChangeAspect="1"/>
          </p:cNvPicPr>
          <p:nvPr/>
        </p:nvPicPr>
        <p:blipFill>
          <a:blip r:embed="rId2"/>
          <a:stretch>
            <a:fillRect/>
          </a:stretch>
        </p:blipFill>
        <p:spPr>
          <a:xfrm>
            <a:off x="539552" y="3212976"/>
            <a:ext cx="7236296" cy="2803716"/>
          </a:xfrm>
          <a:prstGeom prst="rect">
            <a:avLst/>
          </a:prstGeom>
        </p:spPr>
      </p:pic>
    </p:spTree>
    <p:extLst>
      <p:ext uri="{BB962C8B-B14F-4D97-AF65-F5344CB8AC3E}">
        <p14:creationId xmlns:p14="http://schemas.microsoft.com/office/powerpoint/2010/main" val="2878896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258B26C5-BE75-4AB9-AD9D-FFF9FF1BC9B6}"/>
              </a:ext>
            </a:extLst>
          </p:cNvPr>
          <p:cNvSpPr>
            <a:spLocks noGrp="1"/>
          </p:cNvSpPr>
          <p:nvPr>
            <p:ph type="body" sz="quarter" idx="10"/>
          </p:nvPr>
        </p:nvSpPr>
        <p:spPr/>
        <p:txBody>
          <a:bodyPr/>
          <a:lstStyle/>
          <a:p>
            <a:r>
              <a:rPr lang="fr-CH" dirty="0" err="1"/>
              <a:t>CustomSteps</a:t>
            </a:r>
            <a:endParaRPr lang="fr-CH" dirty="0"/>
          </a:p>
        </p:txBody>
      </p:sp>
      <p:sp>
        <p:nvSpPr>
          <p:cNvPr id="3" name="Espace réservé du texte 2">
            <a:extLst>
              <a:ext uri="{FF2B5EF4-FFF2-40B4-BE49-F238E27FC236}">
                <a16:creationId xmlns:a16="http://schemas.microsoft.com/office/drawing/2014/main" id="{3C02E96C-311A-40C2-8D2B-D89264D01BF9}"/>
              </a:ext>
            </a:extLst>
          </p:cNvPr>
          <p:cNvSpPr>
            <a:spLocks noGrp="1"/>
          </p:cNvSpPr>
          <p:nvPr>
            <p:ph type="body" sz="quarter" idx="11"/>
          </p:nvPr>
        </p:nvSpPr>
        <p:spPr/>
        <p:txBody>
          <a:bodyPr/>
          <a:lstStyle/>
          <a:p>
            <a:r>
              <a:rPr lang="fr-CH" dirty="0"/>
              <a:t>Utilisation</a:t>
            </a:r>
            <a:endParaRPr lang="fr-CH" sz="2400" dirty="0"/>
          </a:p>
          <a:p>
            <a:r>
              <a:rPr lang="fr-CH" sz="2400" dirty="0"/>
              <a:t>Comme un </a:t>
            </a:r>
            <a:r>
              <a:rPr lang="fr-CH" sz="2400" dirty="0" err="1"/>
              <a:t>step</a:t>
            </a:r>
            <a:r>
              <a:rPr lang="fr-CH" sz="2400" dirty="0"/>
              <a:t> normal</a:t>
            </a:r>
          </a:p>
        </p:txBody>
      </p:sp>
      <p:pic>
        <p:nvPicPr>
          <p:cNvPr id="5" name="Image 4">
            <a:extLst>
              <a:ext uri="{FF2B5EF4-FFF2-40B4-BE49-F238E27FC236}">
                <a16:creationId xmlns:a16="http://schemas.microsoft.com/office/drawing/2014/main" id="{15A4A16C-3233-454D-97D9-E7AE28D8F037}"/>
              </a:ext>
            </a:extLst>
          </p:cNvPr>
          <p:cNvPicPr>
            <a:picLocks noChangeAspect="1"/>
          </p:cNvPicPr>
          <p:nvPr/>
        </p:nvPicPr>
        <p:blipFill>
          <a:blip r:embed="rId2"/>
          <a:stretch>
            <a:fillRect/>
          </a:stretch>
        </p:blipFill>
        <p:spPr>
          <a:xfrm>
            <a:off x="1547664" y="3140968"/>
            <a:ext cx="5546774" cy="2822860"/>
          </a:xfrm>
          <a:prstGeom prst="rect">
            <a:avLst/>
          </a:prstGeom>
        </p:spPr>
      </p:pic>
    </p:spTree>
    <p:extLst>
      <p:ext uri="{BB962C8B-B14F-4D97-AF65-F5344CB8AC3E}">
        <p14:creationId xmlns:p14="http://schemas.microsoft.com/office/powerpoint/2010/main" val="2281627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0DFA8344-B52B-40FC-9698-D78B154DB145}"/>
              </a:ext>
            </a:extLst>
          </p:cNvPr>
          <p:cNvSpPr>
            <a:spLocks noGrp="1"/>
          </p:cNvSpPr>
          <p:nvPr>
            <p:ph type="body" sz="quarter" idx="10"/>
          </p:nvPr>
        </p:nvSpPr>
        <p:spPr/>
        <p:txBody>
          <a:bodyPr/>
          <a:lstStyle/>
          <a:p>
            <a:r>
              <a:rPr lang="fr-CH" dirty="0"/>
              <a:t>Gestion des variantes</a:t>
            </a:r>
          </a:p>
        </p:txBody>
      </p:sp>
    </p:spTree>
    <p:extLst>
      <p:ext uri="{BB962C8B-B14F-4D97-AF65-F5344CB8AC3E}">
        <p14:creationId xmlns:p14="http://schemas.microsoft.com/office/powerpoint/2010/main" val="1574398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77830A8-DBE2-41BF-B639-AA66834BAC24}"/>
              </a:ext>
            </a:extLst>
          </p:cNvPr>
          <p:cNvSpPr>
            <a:spLocks noGrp="1"/>
          </p:cNvSpPr>
          <p:nvPr>
            <p:ph type="body" sz="quarter" idx="10"/>
          </p:nvPr>
        </p:nvSpPr>
        <p:spPr/>
        <p:txBody>
          <a:bodyPr/>
          <a:lstStyle/>
          <a:p>
            <a:r>
              <a:rPr lang="fr-CH" dirty="0"/>
              <a:t>Changement de projets</a:t>
            </a:r>
          </a:p>
        </p:txBody>
      </p:sp>
      <p:sp>
        <p:nvSpPr>
          <p:cNvPr id="3" name="Espace réservé du texte 2">
            <a:extLst>
              <a:ext uri="{FF2B5EF4-FFF2-40B4-BE49-F238E27FC236}">
                <a16:creationId xmlns:a16="http://schemas.microsoft.com/office/drawing/2014/main" id="{B775D7D4-1A2D-4D89-AF1D-9246FF251A11}"/>
              </a:ext>
            </a:extLst>
          </p:cNvPr>
          <p:cNvSpPr>
            <a:spLocks noGrp="1"/>
          </p:cNvSpPr>
          <p:nvPr>
            <p:ph type="body" sz="quarter" idx="11"/>
          </p:nvPr>
        </p:nvSpPr>
        <p:spPr/>
        <p:txBody>
          <a:bodyPr/>
          <a:lstStyle/>
          <a:p>
            <a:pPr marL="457200" indent="-457200">
              <a:buFont typeface="Arial" panose="020B0604020202020204" pitchFamily="34" charset="0"/>
              <a:buChar char="•"/>
            </a:pPr>
            <a:r>
              <a:rPr lang="fr-CH" dirty="0"/>
              <a:t>Ferme projet et ouvre un autre</a:t>
            </a:r>
          </a:p>
          <a:p>
            <a:pPr marL="1200150" lvl="1" indent="-457200">
              <a:buFont typeface="Arial" panose="020B0604020202020204" pitchFamily="34" charset="0"/>
              <a:buChar char="•"/>
            </a:pPr>
            <a:r>
              <a:rPr lang="fr-CH" dirty="0"/>
              <a:t>Prend un certain temps</a:t>
            </a:r>
          </a:p>
          <a:p>
            <a:pPr marL="1200150" lvl="1" indent="-457200">
              <a:buFont typeface="Arial" panose="020B0604020202020204" pitchFamily="34" charset="0"/>
              <a:buChar char="•"/>
            </a:pPr>
            <a:r>
              <a:rPr lang="fr-CH" dirty="0"/>
              <a:t>Fermeture communications</a:t>
            </a:r>
          </a:p>
        </p:txBody>
      </p:sp>
      <p:pic>
        <p:nvPicPr>
          <p:cNvPr id="4" name="Image 3">
            <a:extLst>
              <a:ext uri="{FF2B5EF4-FFF2-40B4-BE49-F238E27FC236}">
                <a16:creationId xmlns:a16="http://schemas.microsoft.com/office/drawing/2014/main" id="{BA2D9DE0-64E9-4B96-B0D8-BF8B5C92555A}"/>
              </a:ext>
            </a:extLst>
          </p:cNvPr>
          <p:cNvPicPr>
            <a:picLocks noChangeAspect="1"/>
          </p:cNvPicPr>
          <p:nvPr/>
        </p:nvPicPr>
        <p:blipFill>
          <a:blip r:embed="rId2"/>
          <a:stretch>
            <a:fillRect/>
          </a:stretch>
        </p:blipFill>
        <p:spPr>
          <a:xfrm>
            <a:off x="4788024" y="1203756"/>
            <a:ext cx="1333500" cy="561975"/>
          </a:xfrm>
          <a:prstGeom prst="rect">
            <a:avLst/>
          </a:prstGeom>
        </p:spPr>
      </p:pic>
      <p:pic>
        <p:nvPicPr>
          <p:cNvPr id="5" name="Image 4">
            <a:extLst>
              <a:ext uri="{FF2B5EF4-FFF2-40B4-BE49-F238E27FC236}">
                <a16:creationId xmlns:a16="http://schemas.microsoft.com/office/drawing/2014/main" id="{A1CB25C6-1B5E-4E78-8050-813900330FC8}"/>
              </a:ext>
            </a:extLst>
          </p:cNvPr>
          <p:cNvPicPr>
            <a:picLocks noChangeAspect="1"/>
          </p:cNvPicPr>
          <p:nvPr/>
        </p:nvPicPr>
        <p:blipFill>
          <a:blip r:embed="rId3"/>
          <a:stretch>
            <a:fillRect/>
          </a:stretch>
        </p:blipFill>
        <p:spPr>
          <a:xfrm>
            <a:off x="755576" y="3933056"/>
            <a:ext cx="3086100" cy="1019175"/>
          </a:xfrm>
          <a:prstGeom prst="rect">
            <a:avLst/>
          </a:prstGeom>
        </p:spPr>
      </p:pic>
    </p:spTree>
    <p:extLst>
      <p:ext uri="{BB962C8B-B14F-4D97-AF65-F5344CB8AC3E}">
        <p14:creationId xmlns:p14="http://schemas.microsoft.com/office/powerpoint/2010/main" val="542515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79360D58-0C6C-4ED9-85DA-4E57D32853E7}"/>
              </a:ext>
            </a:extLst>
          </p:cNvPr>
          <p:cNvSpPr>
            <a:spLocks noGrp="1"/>
          </p:cNvSpPr>
          <p:nvPr>
            <p:ph type="body" sz="quarter" idx="10"/>
          </p:nvPr>
        </p:nvSpPr>
        <p:spPr/>
        <p:txBody>
          <a:bodyPr/>
          <a:lstStyle/>
          <a:p>
            <a:r>
              <a:rPr lang="fr-CH" dirty="0"/>
              <a:t>Recettes </a:t>
            </a:r>
          </a:p>
        </p:txBody>
      </p:sp>
      <p:sp>
        <p:nvSpPr>
          <p:cNvPr id="3" name="Espace réservé du texte 2">
            <a:extLst>
              <a:ext uri="{FF2B5EF4-FFF2-40B4-BE49-F238E27FC236}">
                <a16:creationId xmlns:a16="http://schemas.microsoft.com/office/drawing/2014/main" id="{80B16B02-EDA2-40BF-9AA0-1F35E60C94AD}"/>
              </a:ext>
            </a:extLst>
          </p:cNvPr>
          <p:cNvSpPr>
            <a:spLocks noGrp="1"/>
          </p:cNvSpPr>
          <p:nvPr>
            <p:ph type="body" sz="quarter" idx="11"/>
          </p:nvPr>
        </p:nvSpPr>
        <p:spPr/>
        <p:txBody>
          <a:bodyPr/>
          <a:lstStyle/>
          <a:p>
            <a:r>
              <a:rPr lang="fr-CH" sz="2400" dirty="0"/>
              <a:t>On peut utiliser le même projet avec différents jeux de paramètres (= </a:t>
            </a:r>
            <a:r>
              <a:rPr lang="fr-CH" sz="2400" dirty="0" err="1"/>
              <a:t>recipes</a:t>
            </a:r>
            <a:r>
              <a:rPr lang="fr-CH" sz="2400" dirty="0"/>
              <a:t>)</a:t>
            </a:r>
          </a:p>
          <a:p>
            <a:pPr marL="1200150" lvl="1" indent="-457200">
              <a:buFont typeface="+mj-lt"/>
              <a:buAutoNum type="arabicPeriod"/>
            </a:pPr>
            <a:r>
              <a:rPr lang="fr-CH" sz="2000" dirty="0"/>
              <a:t>Déclarer les variables concernées «persistantes par recette»</a:t>
            </a:r>
          </a:p>
          <a:p>
            <a:pPr marL="1200150" lvl="1" indent="-457200">
              <a:buFont typeface="+mj-lt"/>
              <a:buAutoNum type="arabicPeriod"/>
            </a:pPr>
            <a:endParaRPr lang="fr-CH" sz="2000" dirty="0"/>
          </a:p>
          <a:p>
            <a:pPr marL="1200150" lvl="1" indent="-457200">
              <a:buFont typeface="+mj-lt"/>
              <a:buAutoNum type="arabicPeriod"/>
            </a:pPr>
            <a:endParaRPr lang="fr-CH" sz="2000" dirty="0"/>
          </a:p>
          <a:p>
            <a:pPr marL="1200150" lvl="1" indent="-457200">
              <a:buFont typeface="+mj-lt"/>
              <a:buAutoNum type="arabicPeriod"/>
            </a:pPr>
            <a:endParaRPr lang="fr-CH" sz="2000" dirty="0"/>
          </a:p>
          <a:p>
            <a:pPr marL="1200150" lvl="1" indent="-457200">
              <a:buFont typeface="+mj-lt"/>
              <a:buAutoNum type="arabicPeriod"/>
            </a:pPr>
            <a:endParaRPr lang="fr-CH" sz="2000" dirty="0"/>
          </a:p>
          <a:p>
            <a:pPr marL="1200150" lvl="1" indent="-457200">
              <a:buFont typeface="+mj-lt"/>
              <a:buAutoNum type="arabicPeriod"/>
            </a:pPr>
            <a:endParaRPr lang="fr-CH" sz="2000" dirty="0"/>
          </a:p>
          <a:p>
            <a:pPr marL="1200150" lvl="1" indent="-457200">
              <a:buFont typeface="+mj-lt"/>
              <a:buAutoNum type="arabicPeriod"/>
            </a:pPr>
            <a:r>
              <a:rPr lang="fr-CH" sz="2000" dirty="0"/>
              <a:t>Les utiliser où il correspond</a:t>
            </a:r>
          </a:p>
        </p:txBody>
      </p:sp>
      <p:pic>
        <p:nvPicPr>
          <p:cNvPr id="4" name="Image 3">
            <a:extLst>
              <a:ext uri="{FF2B5EF4-FFF2-40B4-BE49-F238E27FC236}">
                <a16:creationId xmlns:a16="http://schemas.microsoft.com/office/drawing/2014/main" id="{30D0A9C7-B0CF-46F0-A79C-D818040F3B30}"/>
              </a:ext>
            </a:extLst>
          </p:cNvPr>
          <p:cNvPicPr>
            <a:picLocks noChangeAspect="1"/>
          </p:cNvPicPr>
          <p:nvPr/>
        </p:nvPicPr>
        <p:blipFill>
          <a:blip r:embed="rId2"/>
          <a:stretch>
            <a:fillRect/>
          </a:stretch>
        </p:blipFill>
        <p:spPr>
          <a:xfrm>
            <a:off x="2555778" y="3201607"/>
            <a:ext cx="2639400" cy="1805905"/>
          </a:xfrm>
          <a:prstGeom prst="rect">
            <a:avLst/>
          </a:prstGeom>
        </p:spPr>
      </p:pic>
      <p:pic>
        <p:nvPicPr>
          <p:cNvPr id="5" name="Image 4">
            <a:extLst>
              <a:ext uri="{FF2B5EF4-FFF2-40B4-BE49-F238E27FC236}">
                <a16:creationId xmlns:a16="http://schemas.microsoft.com/office/drawing/2014/main" id="{AFB77AD7-5B5F-4867-B38C-58278EA61537}"/>
              </a:ext>
            </a:extLst>
          </p:cNvPr>
          <p:cNvPicPr>
            <a:picLocks noChangeAspect="1"/>
          </p:cNvPicPr>
          <p:nvPr/>
        </p:nvPicPr>
        <p:blipFill>
          <a:blip r:embed="rId3"/>
          <a:stretch>
            <a:fillRect/>
          </a:stretch>
        </p:blipFill>
        <p:spPr>
          <a:xfrm>
            <a:off x="5508104" y="4267344"/>
            <a:ext cx="2053605" cy="1878830"/>
          </a:xfrm>
          <a:prstGeom prst="rect">
            <a:avLst/>
          </a:prstGeom>
        </p:spPr>
      </p:pic>
    </p:spTree>
    <p:extLst>
      <p:ext uri="{BB962C8B-B14F-4D97-AF65-F5344CB8AC3E}">
        <p14:creationId xmlns:p14="http://schemas.microsoft.com/office/powerpoint/2010/main" val="1167008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5989410-1D9F-409B-AED1-7B17F118FA3C}"/>
              </a:ext>
            </a:extLst>
          </p:cNvPr>
          <p:cNvSpPr>
            <a:spLocks noGrp="1"/>
          </p:cNvSpPr>
          <p:nvPr>
            <p:ph type="body" sz="quarter" idx="10"/>
          </p:nvPr>
        </p:nvSpPr>
        <p:spPr/>
        <p:txBody>
          <a:bodyPr/>
          <a:lstStyle/>
          <a:p>
            <a:r>
              <a:rPr lang="fr-CH" dirty="0"/>
              <a:t>Recettes</a:t>
            </a:r>
          </a:p>
        </p:txBody>
      </p:sp>
      <p:sp>
        <p:nvSpPr>
          <p:cNvPr id="3" name="Espace réservé du texte 2">
            <a:extLst>
              <a:ext uri="{FF2B5EF4-FFF2-40B4-BE49-F238E27FC236}">
                <a16:creationId xmlns:a16="http://schemas.microsoft.com/office/drawing/2014/main" id="{A9452728-E6C3-4F6A-8E85-68ABA7703449}"/>
              </a:ext>
            </a:extLst>
          </p:cNvPr>
          <p:cNvSpPr>
            <a:spLocks noGrp="1"/>
          </p:cNvSpPr>
          <p:nvPr>
            <p:ph type="body" sz="quarter" idx="11"/>
          </p:nvPr>
        </p:nvSpPr>
        <p:spPr/>
        <p:txBody>
          <a:bodyPr/>
          <a:lstStyle/>
          <a:p>
            <a:pPr marL="914400" lvl="1" indent="-457200">
              <a:buFont typeface="+mj-lt"/>
              <a:buAutoNum type="arabicPeriod" startAt="3"/>
            </a:pPr>
            <a:r>
              <a:rPr lang="fr-CH" sz="2400" dirty="0"/>
              <a:t>Dans signet </a:t>
            </a:r>
            <a:r>
              <a:rPr lang="fr-CH" sz="2400" dirty="0" err="1"/>
              <a:t>Recipes</a:t>
            </a:r>
            <a:r>
              <a:rPr lang="fr-CH" sz="2400" dirty="0"/>
              <a:t> on peut voir/changer les valeurs des variables par recette </a:t>
            </a:r>
            <a:endParaRPr lang="fr-CH" dirty="0"/>
          </a:p>
        </p:txBody>
      </p:sp>
      <p:pic>
        <p:nvPicPr>
          <p:cNvPr id="4" name="Image 3">
            <a:extLst>
              <a:ext uri="{FF2B5EF4-FFF2-40B4-BE49-F238E27FC236}">
                <a16:creationId xmlns:a16="http://schemas.microsoft.com/office/drawing/2014/main" id="{CDD0518F-B350-42E2-B899-E5F29160F2CA}"/>
              </a:ext>
            </a:extLst>
          </p:cNvPr>
          <p:cNvPicPr>
            <a:picLocks noChangeAspect="1"/>
          </p:cNvPicPr>
          <p:nvPr/>
        </p:nvPicPr>
        <p:blipFill>
          <a:blip r:embed="rId2"/>
          <a:stretch>
            <a:fillRect/>
          </a:stretch>
        </p:blipFill>
        <p:spPr>
          <a:xfrm>
            <a:off x="2195736" y="3224937"/>
            <a:ext cx="4937745" cy="2938263"/>
          </a:xfrm>
          <a:prstGeom prst="rect">
            <a:avLst/>
          </a:prstGeom>
        </p:spPr>
      </p:pic>
      <p:pic>
        <p:nvPicPr>
          <p:cNvPr id="5" name="Image 4">
            <a:extLst>
              <a:ext uri="{FF2B5EF4-FFF2-40B4-BE49-F238E27FC236}">
                <a16:creationId xmlns:a16="http://schemas.microsoft.com/office/drawing/2014/main" id="{A941E0E4-EDDD-4102-81AD-CA83EE824627}"/>
              </a:ext>
            </a:extLst>
          </p:cNvPr>
          <p:cNvPicPr>
            <a:picLocks noChangeAspect="1"/>
          </p:cNvPicPr>
          <p:nvPr/>
        </p:nvPicPr>
        <p:blipFill>
          <a:blip r:embed="rId3"/>
          <a:stretch>
            <a:fillRect/>
          </a:stretch>
        </p:blipFill>
        <p:spPr>
          <a:xfrm>
            <a:off x="7268995" y="4528079"/>
            <a:ext cx="974557" cy="1205177"/>
          </a:xfrm>
          <a:prstGeom prst="rect">
            <a:avLst/>
          </a:prstGeom>
        </p:spPr>
      </p:pic>
    </p:spTree>
    <p:extLst>
      <p:ext uri="{BB962C8B-B14F-4D97-AF65-F5344CB8AC3E}">
        <p14:creationId xmlns:p14="http://schemas.microsoft.com/office/powerpoint/2010/main" val="878705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E34A199B-2C52-4243-9CF9-1C867646F047}"/>
              </a:ext>
            </a:extLst>
          </p:cNvPr>
          <p:cNvSpPr>
            <a:spLocks noGrp="1"/>
          </p:cNvSpPr>
          <p:nvPr>
            <p:ph type="body" sz="quarter" idx="10"/>
          </p:nvPr>
        </p:nvSpPr>
        <p:spPr/>
        <p:txBody>
          <a:bodyPr/>
          <a:lstStyle/>
          <a:p>
            <a:r>
              <a:rPr lang="fr-CH" dirty="0"/>
              <a:t>Recettes</a:t>
            </a:r>
          </a:p>
        </p:txBody>
      </p:sp>
      <p:sp>
        <p:nvSpPr>
          <p:cNvPr id="3" name="Espace réservé du texte 2">
            <a:extLst>
              <a:ext uri="{FF2B5EF4-FFF2-40B4-BE49-F238E27FC236}">
                <a16:creationId xmlns:a16="http://schemas.microsoft.com/office/drawing/2014/main" id="{48C1CAE3-2BF4-4306-A4D9-D7C3D710BEC4}"/>
              </a:ext>
            </a:extLst>
          </p:cNvPr>
          <p:cNvSpPr>
            <a:spLocks noGrp="1"/>
          </p:cNvSpPr>
          <p:nvPr>
            <p:ph type="body" sz="quarter" idx="11"/>
          </p:nvPr>
        </p:nvSpPr>
        <p:spPr/>
        <p:txBody>
          <a:bodyPr/>
          <a:lstStyle/>
          <a:p>
            <a:r>
              <a:rPr lang="fr-CH" sz="2400" dirty="0"/>
              <a:t>On peut </a:t>
            </a:r>
            <a:r>
              <a:rPr lang="fr-CH" sz="2400" dirty="0" err="1"/>
              <a:t>programmatiquement</a:t>
            </a:r>
            <a:r>
              <a:rPr lang="fr-CH" sz="2400" dirty="0"/>
              <a:t> créer une recette et changer de recette (par nom ou ID) ou l’effacer</a:t>
            </a:r>
          </a:p>
          <a:p>
            <a:endParaRPr lang="fr-CH" sz="2400" dirty="0"/>
          </a:p>
          <a:p>
            <a:endParaRPr lang="fr-CH" sz="2400" dirty="0"/>
          </a:p>
          <a:p>
            <a:endParaRPr lang="fr-CH" sz="2400" dirty="0"/>
          </a:p>
          <a:p>
            <a:endParaRPr lang="fr-CH" sz="2400" dirty="0"/>
          </a:p>
          <a:p>
            <a:endParaRPr lang="fr-CH" sz="2400" dirty="0"/>
          </a:p>
          <a:p>
            <a:r>
              <a:rPr lang="fr-CH" sz="2400" dirty="0" err="1"/>
              <a:t>SavePersistentData</a:t>
            </a:r>
            <a:r>
              <a:rPr lang="fr-CH" sz="2400" dirty="0"/>
              <a:t> sauvegarde toutes les données persistantes </a:t>
            </a:r>
          </a:p>
        </p:txBody>
      </p:sp>
      <p:pic>
        <p:nvPicPr>
          <p:cNvPr id="4" name="Image 3">
            <a:extLst>
              <a:ext uri="{FF2B5EF4-FFF2-40B4-BE49-F238E27FC236}">
                <a16:creationId xmlns:a16="http://schemas.microsoft.com/office/drawing/2014/main" id="{42D43B52-556C-4F09-B73C-DE8A2CD6250D}"/>
              </a:ext>
            </a:extLst>
          </p:cNvPr>
          <p:cNvPicPr>
            <a:picLocks noChangeAspect="1"/>
          </p:cNvPicPr>
          <p:nvPr/>
        </p:nvPicPr>
        <p:blipFill>
          <a:blip r:embed="rId2"/>
          <a:stretch>
            <a:fillRect/>
          </a:stretch>
        </p:blipFill>
        <p:spPr>
          <a:xfrm>
            <a:off x="631542" y="3159536"/>
            <a:ext cx="2373754" cy="1493599"/>
          </a:xfrm>
          <a:prstGeom prst="rect">
            <a:avLst/>
          </a:prstGeom>
        </p:spPr>
      </p:pic>
      <p:pic>
        <p:nvPicPr>
          <p:cNvPr id="5" name="Image 4">
            <a:extLst>
              <a:ext uri="{FF2B5EF4-FFF2-40B4-BE49-F238E27FC236}">
                <a16:creationId xmlns:a16="http://schemas.microsoft.com/office/drawing/2014/main" id="{81A45F2B-2481-41F9-A28B-1C2FFF186DF4}"/>
              </a:ext>
            </a:extLst>
          </p:cNvPr>
          <p:cNvPicPr>
            <a:picLocks noChangeAspect="1"/>
          </p:cNvPicPr>
          <p:nvPr/>
        </p:nvPicPr>
        <p:blipFill>
          <a:blip r:embed="rId3"/>
          <a:stretch>
            <a:fillRect/>
          </a:stretch>
        </p:blipFill>
        <p:spPr>
          <a:xfrm>
            <a:off x="3226122" y="3140968"/>
            <a:ext cx="2190750" cy="1181100"/>
          </a:xfrm>
          <a:prstGeom prst="rect">
            <a:avLst/>
          </a:prstGeom>
        </p:spPr>
      </p:pic>
      <p:pic>
        <p:nvPicPr>
          <p:cNvPr id="6" name="Image 5">
            <a:extLst>
              <a:ext uri="{FF2B5EF4-FFF2-40B4-BE49-F238E27FC236}">
                <a16:creationId xmlns:a16="http://schemas.microsoft.com/office/drawing/2014/main" id="{13036A81-6E77-4722-A9FA-4F012AC8D5AD}"/>
              </a:ext>
            </a:extLst>
          </p:cNvPr>
          <p:cNvPicPr>
            <a:picLocks noChangeAspect="1"/>
          </p:cNvPicPr>
          <p:nvPr/>
        </p:nvPicPr>
        <p:blipFill>
          <a:blip r:embed="rId4"/>
          <a:stretch>
            <a:fillRect/>
          </a:stretch>
        </p:blipFill>
        <p:spPr>
          <a:xfrm>
            <a:off x="2699792" y="1132658"/>
            <a:ext cx="1285875" cy="561975"/>
          </a:xfrm>
          <a:prstGeom prst="rect">
            <a:avLst/>
          </a:prstGeom>
        </p:spPr>
      </p:pic>
      <p:pic>
        <p:nvPicPr>
          <p:cNvPr id="7" name="Image 6">
            <a:extLst>
              <a:ext uri="{FF2B5EF4-FFF2-40B4-BE49-F238E27FC236}">
                <a16:creationId xmlns:a16="http://schemas.microsoft.com/office/drawing/2014/main" id="{A0111F6D-1227-437B-8366-A5882BD676E3}"/>
              </a:ext>
            </a:extLst>
          </p:cNvPr>
          <p:cNvPicPr>
            <a:picLocks noChangeAspect="1"/>
          </p:cNvPicPr>
          <p:nvPr/>
        </p:nvPicPr>
        <p:blipFill>
          <a:blip r:embed="rId5"/>
          <a:stretch>
            <a:fillRect/>
          </a:stretch>
        </p:blipFill>
        <p:spPr>
          <a:xfrm>
            <a:off x="4200084" y="1113608"/>
            <a:ext cx="1276350" cy="581025"/>
          </a:xfrm>
          <a:prstGeom prst="rect">
            <a:avLst/>
          </a:prstGeom>
        </p:spPr>
      </p:pic>
      <p:pic>
        <p:nvPicPr>
          <p:cNvPr id="8" name="Image 7">
            <a:extLst>
              <a:ext uri="{FF2B5EF4-FFF2-40B4-BE49-F238E27FC236}">
                <a16:creationId xmlns:a16="http://schemas.microsoft.com/office/drawing/2014/main" id="{0E3F17E2-DA2B-42F3-9166-8D2AEB3306C8}"/>
              </a:ext>
            </a:extLst>
          </p:cNvPr>
          <p:cNvPicPr>
            <a:picLocks noChangeAspect="1"/>
          </p:cNvPicPr>
          <p:nvPr/>
        </p:nvPicPr>
        <p:blipFill>
          <a:blip r:embed="rId6"/>
          <a:stretch>
            <a:fillRect/>
          </a:stretch>
        </p:blipFill>
        <p:spPr>
          <a:xfrm>
            <a:off x="5736371" y="3155786"/>
            <a:ext cx="2106098" cy="1163201"/>
          </a:xfrm>
          <a:prstGeom prst="rect">
            <a:avLst/>
          </a:prstGeom>
        </p:spPr>
      </p:pic>
      <p:pic>
        <p:nvPicPr>
          <p:cNvPr id="9" name="Image 8">
            <a:extLst>
              <a:ext uri="{FF2B5EF4-FFF2-40B4-BE49-F238E27FC236}">
                <a16:creationId xmlns:a16="http://schemas.microsoft.com/office/drawing/2014/main" id="{D7BA5261-809A-44A6-8EF0-8520CD12BB4F}"/>
              </a:ext>
            </a:extLst>
          </p:cNvPr>
          <p:cNvPicPr>
            <a:picLocks noChangeAspect="1"/>
          </p:cNvPicPr>
          <p:nvPr/>
        </p:nvPicPr>
        <p:blipFill>
          <a:blip r:embed="rId7"/>
          <a:stretch>
            <a:fillRect/>
          </a:stretch>
        </p:blipFill>
        <p:spPr>
          <a:xfrm>
            <a:off x="5690851" y="1137585"/>
            <a:ext cx="1314450" cy="542925"/>
          </a:xfrm>
          <a:prstGeom prst="rect">
            <a:avLst/>
          </a:prstGeom>
        </p:spPr>
      </p:pic>
    </p:spTree>
    <p:extLst>
      <p:ext uri="{BB962C8B-B14F-4D97-AF65-F5344CB8AC3E}">
        <p14:creationId xmlns:p14="http://schemas.microsoft.com/office/powerpoint/2010/main" val="12648336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B41DABE-995A-4F1A-A7F8-FFB2FEFA18E8}"/>
              </a:ext>
            </a:extLst>
          </p:cNvPr>
          <p:cNvSpPr>
            <a:spLocks noGrp="1"/>
          </p:cNvSpPr>
          <p:nvPr>
            <p:ph type="body" sz="quarter" idx="10"/>
          </p:nvPr>
        </p:nvSpPr>
        <p:spPr/>
        <p:txBody>
          <a:bodyPr/>
          <a:lstStyle/>
          <a:p>
            <a:r>
              <a:rPr lang="fr-CH" dirty="0"/>
              <a:t>Recettes</a:t>
            </a:r>
          </a:p>
        </p:txBody>
      </p:sp>
      <p:sp>
        <p:nvSpPr>
          <p:cNvPr id="3" name="Espace réservé du texte 2">
            <a:extLst>
              <a:ext uri="{FF2B5EF4-FFF2-40B4-BE49-F238E27FC236}">
                <a16:creationId xmlns:a16="http://schemas.microsoft.com/office/drawing/2014/main" id="{5F6D0F7C-78D7-4A94-FE2F-63812D3037A9}"/>
              </a:ext>
            </a:extLst>
          </p:cNvPr>
          <p:cNvSpPr>
            <a:spLocks noGrp="1"/>
          </p:cNvSpPr>
          <p:nvPr>
            <p:ph type="body" sz="quarter" idx="11"/>
          </p:nvPr>
        </p:nvSpPr>
        <p:spPr/>
        <p:txBody>
          <a:bodyPr/>
          <a:lstStyle/>
          <a:p>
            <a:r>
              <a:rPr lang="fr-CH" sz="2400" dirty="0"/>
              <a:t>Des fonctions permettent d’obtenir la recette en cours, liste des recettes, et autres:</a:t>
            </a:r>
          </a:p>
          <a:p>
            <a:endParaRPr lang="fr-CH" sz="2400" dirty="0"/>
          </a:p>
        </p:txBody>
      </p:sp>
      <p:pic>
        <p:nvPicPr>
          <p:cNvPr id="5" name="Image 4">
            <a:extLst>
              <a:ext uri="{FF2B5EF4-FFF2-40B4-BE49-F238E27FC236}">
                <a16:creationId xmlns:a16="http://schemas.microsoft.com/office/drawing/2014/main" id="{CA10C0A4-D003-CE0A-BF48-BCD1E3EFD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602" y="3743106"/>
            <a:ext cx="8077900" cy="2011854"/>
          </a:xfrm>
          <a:prstGeom prst="rect">
            <a:avLst/>
          </a:prstGeom>
        </p:spPr>
      </p:pic>
    </p:spTree>
    <p:extLst>
      <p:ext uri="{BB962C8B-B14F-4D97-AF65-F5344CB8AC3E}">
        <p14:creationId xmlns:p14="http://schemas.microsoft.com/office/powerpoint/2010/main" val="40711477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CC94B51-EBD2-4476-A024-5FF441E4A826}"/>
              </a:ext>
            </a:extLst>
          </p:cNvPr>
          <p:cNvSpPr>
            <a:spLocks noGrp="1"/>
          </p:cNvSpPr>
          <p:nvPr>
            <p:ph type="body" sz="quarter" idx="10"/>
          </p:nvPr>
        </p:nvSpPr>
        <p:spPr/>
        <p:txBody>
          <a:bodyPr/>
          <a:lstStyle/>
          <a:p>
            <a:r>
              <a:rPr lang="fr-CH" dirty="0"/>
              <a:t>Reconfigure</a:t>
            </a:r>
          </a:p>
        </p:txBody>
      </p:sp>
      <p:sp>
        <p:nvSpPr>
          <p:cNvPr id="3" name="Espace réservé du texte 2">
            <a:extLst>
              <a:ext uri="{FF2B5EF4-FFF2-40B4-BE49-F238E27FC236}">
                <a16:creationId xmlns:a16="http://schemas.microsoft.com/office/drawing/2014/main" id="{7A71A81D-07BA-4C80-85CC-94E4D8CF8A57}"/>
              </a:ext>
            </a:extLst>
          </p:cNvPr>
          <p:cNvSpPr>
            <a:spLocks noGrp="1"/>
          </p:cNvSpPr>
          <p:nvPr>
            <p:ph type="body" sz="quarter" idx="11"/>
          </p:nvPr>
        </p:nvSpPr>
        <p:spPr/>
        <p:txBody>
          <a:bodyPr/>
          <a:lstStyle/>
          <a:p>
            <a:r>
              <a:rPr lang="fr-CH" sz="2400" dirty="0"/>
              <a:t>Permet de redéfinir </a:t>
            </a:r>
            <a:r>
              <a:rPr lang="fr-CH" sz="2400" dirty="0" err="1"/>
              <a:t>programmatiquement</a:t>
            </a:r>
            <a:r>
              <a:rPr lang="fr-CH" sz="2400" dirty="0"/>
              <a:t> des paramètres «non-simples» de certains </a:t>
            </a:r>
            <a:r>
              <a:rPr lang="fr-CH" sz="2400" dirty="0" err="1"/>
              <a:t>steps</a:t>
            </a:r>
            <a:endParaRPr lang="fr-CH" sz="2400" dirty="0"/>
          </a:p>
          <a:p>
            <a:r>
              <a:rPr lang="fr-CH" sz="2400" dirty="0"/>
              <a:t>	p.ex. Modèles dans </a:t>
            </a:r>
            <a:r>
              <a:rPr lang="fr-CH" sz="2400" dirty="0" err="1"/>
              <a:t>ModelFinder</a:t>
            </a:r>
            <a:r>
              <a:rPr lang="fr-CH" sz="2400" dirty="0"/>
              <a:t>, </a:t>
            </a:r>
            <a:r>
              <a:rPr lang="fr-CH" sz="2400" dirty="0" err="1"/>
              <a:t>ROIs</a:t>
            </a:r>
            <a:endParaRPr lang="fr-CH" sz="2400" dirty="0"/>
          </a:p>
          <a:p>
            <a:endParaRPr lang="fr-CH" sz="2400" dirty="0"/>
          </a:p>
          <a:p>
            <a:endParaRPr lang="fr-CH" sz="2400" dirty="0"/>
          </a:p>
          <a:p>
            <a:endParaRPr lang="fr-CH" sz="2400" dirty="0"/>
          </a:p>
          <a:p>
            <a:endParaRPr lang="fr-CH" sz="2400" dirty="0"/>
          </a:p>
          <a:p>
            <a:endParaRPr lang="fr-CH" sz="2400" dirty="0"/>
          </a:p>
          <a:p>
            <a:r>
              <a:rPr lang="fr-CH" sz="2400" dirty="0"/>
              <a:t>Cas d’emploi: Ajouter un modèle si la pièce ne correspond à aucun des autres </a:t>
            </a:r>
          </a:p>
        </p:txBody>
      </p:sp>
      <p:pic>
        <p:nvPicPr>
          <p:cNvPr id="4" name="Image 3">
            <a:extLst>
              <a:ext uri="{FF2B5EF4-FFF2-40B4-BE49-F238E27FC236}">
                <a16:creationId xmlns:a16="http://schemas.microsoft.com/office/drawing/2014/main" id="{910E155C-4407-476C-92E6-51DB2C6680F6}"/>
              </a:ext>
            </a:extLst>
          </p:cNvPr>
          <p:cNvPicPr>
            <a:picLocks noChangeAspect="1"/>
          </p:cNvPicPr>
          <p:nvPr/>
        </p:nvPicPr>
        <p:blipFill>
          <a:blip r:embed="rId2"/>
          <a:stretch>
            <a:fillRect/>
          </a:stretch>
        </p:blipFill>
        <p:spPr>
          <a:xfrm>
            <a:off x="3025536" y="1166160"/>
            <a:ext cx="1323975" cy="523875"/>
          </a:xfrm>
          <a:prstGeom prst="rect">
            <a:avLst/>
          </a:prstGeom>
        </p:spPr>
      </p:pic>
      <p:pic>
        <p:nvPicPr>
          <p:cNvPr id="5" name="Image 4">
            <a:extLst>
              <a:ext uri="{FF2B5EF4-FFF2-40B4-BE49-F238E27FC236}">
                <a16:creationId xmlns:a16="http://schemas.microsoft.com/office/drawing/2014/main" id="{BED3D9B4-9E24-4946-86AE-ADC18024EB98}"/>
              </a:ext>
            </a:extLst>
          </p:cNvPr>
          <p:cNvPicPr>
            <a:picLocks noChangeAspect="1"/>
          </p:cNvPicPr>
          <p:nvPr/>
        </p:nvPicPr>
        <p:blipFill>
          <a:blip r:embed="rId3"/>
          <a:stretch>
            <a:fillRect/>
          </a:stretch>
        </p:blipFill>
        <p:spPr>
          <a:xfrm>
            <a:off x="539552" y="3789040"/>
            <a:ext cx="2899618" cy="1342842"/>
          </a:xfrm>
          <a:prstGeom prst="rect">
            <a:avLst/>
          </a:prstGeom>
        </p:spPr>
      </p:pic>
      <p:pic>
        <p:nvPicPr>
          <p:cNvPr id="8" name="Image 7">
            <a:extLst>
              <a:ext uri="{FF2B5EF4-FFF2-40B4-BE49-F238E27FC236}">
                <a16:creationId xmlns:a16="http://schemas.microsoft.com/office/drawing/2014/main" id="{6AE31458-1476-462D-AA45-81786EC9ADBB}"/>
              </a:ext>
            </a:extLst>
          </p:cNvPr>
          <p:cNvPicPr>
            <a:picLocks noChangeAspect="1"/>
          </p:cNvPicPr>
          <p:nvPr/>
        </p:nvPicPr>
        <p:blipFill>
          <a:blip r:embed="rId4"/>
          <a:stretch>
            <a:fillRect/>
          </a:stretch>
        </p:blipFill>
        <p:spPr>
          <a:xfrm>
            <a:off x="3687625" y="3346910"/>
            <a:ext cx="3332648" cy="2109743"/>
          </a:xfrm>
          <a:prstGeom prst="rect">
            <a:avLst/>
          </a:prstGeom>
        </p:spPr>
      </p:pic>
    </p:spTree>
    <p:extLst>
      <p:ext uri="{BB962C8B-B14F-4D97-AF65-F5344CB8AC3E}">
        <p14:creationId xmlns:p14="http://schemas.microsoft.com/office/powerpoint/2010/main" val="1492418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10D8E47-DB9A-440F-97BE-F161043EE3B6}"/>
              </a:ext>
            </a:extLst>
          </p:cNvPr>
          <p:cNvSpPr>
            <a:spLocks noGrp="1"/>
          </p:cNvSpPr>
          <p:nvPr>
            <p:ph type="body" sz="quarter" idx="10"/>
          </p:nvPr>
        </p:nvSpPr>
        <p:spPr/>
        <p:txBody>
          <a:bodyPr/>
          <a:lstStyle/>
          <a:p>
            <a:r>
              <a:rPr lang="fr-CH" dirty="0"/>
              <a:t>Reconfigure</a:t>
            </a:r>
          </a:p>
        </p:txBody>
      </p:sp>
      <p:sp>
        <p:nvSpPr>
          <p:cNvPr id="3" name="Espace réservé du texte 2">
            <a:extLst>
              <a:ext uri="{FF2B5EF4-FFF2-40B4-BE49-F238E27FC236}">
                <a16:creationId xmlns:a16="http://schemas.microsoft.com/office/drawing/2014/main" id="{906B70BE-021E-4BB4-B37E-96F768033336}"/>
              </a:ext>
            </a:extLst>
          </p:cNvPr>
          <p:cNvSpPr>
            <a:spLocks noGrp="1"/>
          </p:cNvSpPr>
          <p:nvPr>
            <p:ph type="body" sz="quarter" idx="11"/>
          </p:nvPr>
        </p:nvSpPr>
        <p:spPr/>
        <p:txBody>
          <a:bodyPr/>
          <a:lstStyle/>
          <a:p>
            <a:r>
              <a:rPr lang="fr-CH" sz="2400" dirty="0"/>
              <a:t>Ex: Reconfigure sur quelle image on cherche le modèle</a:t>
            </a:r>
          </a:p>
        </p:txBody>
      </p:sp>
      <p:pic>
        <p:nvPicPr>
          <p:cNvPr id="4" name="Image 3">
            <a:extLst>
              <a:ext uri="{FF2B5EF4-FFF2-40B4-BE49-F238E27FC236}">
                <a16:creationId xmlns:a16="http://schemas.microsoft.com/office/drawing/2014/main" id="{2E3DD768-1996-4ADD-BEA6-923FF4807DE6}"/>
              </a:ext>
            </a:extLst>
          </p:cNvPr>
          <p:cNvPicPr>
            <a:picLocks noChangeAspect="1"/>
          </p:cNvPicPr>
          <p:nvPr/>
        </p:nvPicPr>
        <p:blipFill>
          <a:blip r:embed="rId2"/>
          <a:stretch>
            <a:fillRect/>
          </a:stretch>
        </p:blipFill>
        <p:spPr>
          <a:xfrm>
            <a:off x="1896002" y="3284984"/>
            <a:ext cx="4991100" cy="2619375"/>
          </a:xfrm>
          <a:prstGeom prst="rect">
            <a:avLst/>
          </a:prstGeom>
        </p:spPr>
      </p:pic>
    </p:spTree>
    <p:extLst>
      <p:ext uri="{BB962C8B-B14F-4D97-AF65-F5344CB8AC3E}">
        <p14:creationId xmlns:p14="http://schemas.microsoft.com/office/powerpoint/2010/main" val="2949843309"/>
      </p:ext>
    </p:extLst>
  </p:cSld>
  <p:clrMapOvr>
    <a:masterClrMapping/>
  </p:clrMapOvr>
</p:sld>
</file>

<file path=ppt/theme/theme1.xml><?xml version="1.0" encoding="utf-8"?>
<a:theme xmlns:a="http://schemas.openxmlformats.org/drawingml/2006/main" name="Presentation Arc 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 Arc ING</Template>
  <TotalTime>1375</TotalTime>
  <Words>1271</Words>
  <Application>Microsoft Office PowerPoint</Application>
  <PresentationFormat>Affichage à l'écran (4:3)</PresentationFormat>
  <Paragraphs>214</Paragraphs>
  <Slides>33</Slides>
  <Notes>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33</vt:i4>
      </vt:variant>
    </vt:vector>
  </HeadingPairs>
  <TitlesOfParts>
    <vt:vector size="38" baseType="lpstr">
      <vt:lpstr>Arial</vt:lpstr>
      <vt:lpstr>Calibri</vt:lpstr>
      <vt:lpstr>Courier New</vt:lpstr>
      <vt:lpstr>Tahoma</vt:lpstr>
      <vt:lpstr>Presentation Arc ING</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Haute Ecole Arc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Lopez De Meneses Yuri</dc:creator>
  <cp:lastModifiedBy>Lopez De Meneses Yuri</cp:lastModifiedBy>
  <cp:revision>55</cp:revision>
  <dcterms:created xsi:type="dcterms:W3CDTF">2016-06-14T07:37:40Z</dcterms:created>
  <dcterms:modified xsi:type="dcterms:W3CDTF">2023-03-17T15:34:59Z</dcterms:modified>
</cp:coreProperties>
</file>