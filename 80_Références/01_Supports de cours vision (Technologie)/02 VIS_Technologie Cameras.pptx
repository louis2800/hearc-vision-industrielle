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4"/>
  </p:sldMasterIdLst>
  <p:notesMasterIdLst>
    <p:notesMasterId r:id="rId53"/>
  </p:notesMasterIdLst>
  <p:handoutMasterIdLst>
    <p:handoutMasterId r:id="rId54"/>
  </p:handoutMasterIdLst>
  <p:sldIdLst>
    <p:sldId id="257" r:id="rId5"/>
    <p:sldId id="264" r:id="rId6"/>
    <p:sldId id="351" r:id="rId7"/>
    <p:sldId id="352" r:id="rId8"/>
    <p:sldId id="353" r:id="rId9"/>
    <p:sldId id="354" r:id="rId10"/>
    <p:sldId id="355" r:id="rId11"/>
    <p:sldId id="356" r:id="rId12"/>
    <p:sldId id="344" r:id="rId13"/>
    <p:sldId id="330" r:id="rId14"/>
    <p:sldId id="386" r:id="rId15"/>
    <p:sldId id="387" r:id="rId16"/>
    <p:sldId id="388" r:id="rId17"/>
    <p:sldId id="345" r:id="rId18"/>
    <p:sldId id="265" r:id="rId19"/>
    <p:sldId id="391" r:id="rId20"/>
    <p:sldId id="385" r:id="rId21"/>
    <p:sldId id="389" r:id="rId22"/>
    <p:sldId id="346" r:id="rId23"/>
    <p:sldId id="266" r:id="rId24"/>
    <p:sldId id="267" r:id="rId25"/>
    <p:sldId id="375" r:id="rId26"/>
    <p:sldId id="289" r:id="rId27"/>
    <p:sldId id="290" r:id="rId28"/>
    <p:sldId id="390" r:id="rId29"/>
    <p:sldId id="293" r:id="rId30"/>
    <p:sldId id="294" r:id="rId31"/>
    <p:sldId id="295" r:id="rId32"/>
    <p:sldId id="347" r:id="rId33"/>
    <p:sldId id="298" r:id="rId34"/>
    <p:sldId id="299" r:id="rId35"/>
    <p:sldId id="300" r:id="rId36"/>
    <p:sldId id="301" r:id="rId37"/>
    <p:sldId id="302" r:id="rId38"/>
    <p:sldId id="305" r:id="rId39"/>
    <p:sldId id="348" r:id="rId40"/>
    <p:sldId id="376" r:id="rId41"/>
    <p:sldId id="377" r:id="rId42"/>
    <p:sldId id="378" r:id="rId43"/>
    <p:sldId id="379" r:id="rId44"/>
    <p:sldId id="380" r:id="rId45"/>
    <p:sldId id="381" r:id="rId46"/>
    <p:sldId id="382" r:id="rId47"/>
    <p:sldId id="373" r:id="rId48"/>
    <p:sldId id="318" r:id="rId49"/>
    <p:sldId id="392" r:id="rId50"/>
    <p:sldId id="372" r:id="rId51"/>
    <p:sldId id="383" r:id="rId52"/>
  </p:sldIdLst>
  <p:sldSz cx="9144000" cy="6858000" type="screen4x3"/>
  <p:notesSz cx="6669088" cy="9926638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8">
          <p15:clr>
            <a:srgbClr val="A4A3A4"/>
          </p15:clr>
        </p15:guide>
        <p15:guide id="2" pos="31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F12"/>
    <a:srgbClr val="C66C44"/>
    <a:srgbClr val="6877A2"/>
    <a:srgbClr val="0066FF"/>
    <a:srgbClr val="B2B2B2"/>
    <a:srgbClr val="CFCFCF"/>
    <a:srgbClr val="4B4B4B"/>
    <a:srgbClr val="E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2" autoAdjust="0"/>
    <p:restoredTop sz="80402" autoAdjust="0"/>
  </p:normalViewPr>
  <p:slideViewPr>
    <p:cSldViewPr snapToGrid="0">
      <p:cViewPr varScale="1">
        <p:scale>
          <a:sx n="61" d="100"/>
          <a:sy n="61" d="100"/>
        </p:scale>
        <p:origin x="1944" y="66"/>
      </p:cViewPr>
      <p:guideLst>
        <p:guide orient="horz" pos="768"/>
        <p:guide pos="3152"/>
      </p:guideLst>
    </p:cSldViewPr>
  </p:slideViewPr>
  <p:outlineViewPr>
    <p:cViewPr>
      <p:scale>
        <a:sx n="33" d="100"/>
        <a:sy n="33" d="100"/>
      </p:scale>
      <p:origin x="0" y="-316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-9245"/>
    </p:cViewPr>
  </p:sorterViewPr>
  <p:notesViewPr>
    <p:cSldViewPr snapToGrid="0">
      <p:cViewPr varScale="1">
        <p:scale>
          <a:sx n="74" d="100"/>
          <a:sy n="74" d="100"/>
        </p:scale>
        <p:origin x="2184" y="60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341160E4-AA95-6679-F032-E6CB0443FD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1D66477-BA9A-2A6D-F25E-110423F2A1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B77A4EC9-071A-3F25-F8D0-17AB3258205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1F75AD61-B2FB-B89B-36BD-00C4BE151AE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1D9A39-E6ED-4656-8BDC-8F0D26A48D97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3AD63D45-41C2-CD71-DFF2-F1A3C485FF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47704618-1E42-13C3-D866-260778BC40A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301C105-BE53-A0AE-20F1-64E5F9CD904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4538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id="{CB94AD6B-4951-AD8C-1ADE-93ADB51002D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37222" name="Rectangle 6">
            <a:extLst>
              <a:ext uri="{FF2B5EF4-FFF2-40B4-BE49-F238E27FC236}">
                <a16:creationId xmlns:a16="http://schemas.microsoft.com/office/drawing/2014/main" id="{96FE4EFE-C342-24B1-2902-7DE221DD54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7223" name="Rectangle 7">
            <a:extLst>
              <a:ext uri="{FF2B5EF4-FFF2-40B4-BE49-F238E27FC236}">
                <a16:creationId xmlns:a16="http://schemas.microsoft.com/office/drawing/2014/main" id="{86C080C3-5536-8DD0-FBB7-4DB03FDCCE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28163"/>
            <a:ext cx="2890837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6C45F45-CC0A-4BA8-825B-F97810C1BC8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>
            <a:extLst>
              <a:ext uri="{FF2B5EF4-FFF2-40B4-BE49-F238E27FC236}">
                <a16:creationId xmlns:a16="http://schemas.microsoft.com/office/drawing/2014/main" id="{F7990938-8850-7EFB-F570-AB06C2A8C2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Espace réservé des commentaires 2">
            <a:extLst>
              <a:ext uri="{FF2B5EF4-FFF2-40B4-BE49-F238E27FC236}">
                <a16:creationId xmlns:a16="http://schemas.microsoft.com/office/drawing/2014/main" id="{4D801F47-D4D5-1098-8D24-41577ADF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fr-FR">
              <a:latin typeface="Times" panose="02020603050405020304" pitchFamily="18" charset="0"/>
            </a:endParaRPr>
          </a:p>
        </p:txBody>
      </p:sp>
      <p:sp>
        <p:nvSpPr>
          <p:cNvPr id="6148" name="Espace réservé du numéro de diapositive 3">
            <a:extLst>
              <a:ext uri="{FF2B5EF4-FFF2-40B4-BE49-F238E27FC236}">
                <a16:creationId xmlns:a16="http://schemas.microsoft.com/office/drawing/2014/main" id="{434E5679-8AE0-868D-9EFF-C19C09CEC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4D52AD0-52BA-45A4-96B0-A3C41DFB14AF}" type="slidenum">
              <a:rPr lang="fr-FR" altLang="fr-FR" sz="1200" smtClean="0"/>
              <a:pPr/>
              <a:t>1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C1C9226-A598-12FB-00C8-9B8E2A8B77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800949BF-9F6E-4425-B4C9-9E5020BBDAC8}" type="slidenum">
              <a:rPr lang="fr-FR" altLang="fr-FR" sz="1200" smtClean="0"/>
              <a:pPr/>
              <a:t>5</a:t>
            </a:fld>
            <a:endParaRPr lang="fr-FR" altLang="fr-FR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B59B40A-C49B-E5AF-F377-ED8030779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35F05B97-7EDF-8FAB-458B-7A35968A5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>
            <a:extLst>
              <a:ext uri="{FF2B5EF4-FFF2-40B4-BE49-F238E27FC236}">
                <a16:creationId xmlns:a16="http://schemas.microsoft.com/office/drawing/2014/main" id="{E3536E6F-EE7C-9A18-F564-F0651357F0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Espace réservé des notes 2">
            <a:extLst>
              <a:ext uri="{FF2B5EF4-FFF2-40B4-BE49-F238E27FC236}">
                <a16:creationId xmlns:a16="http://schemas.microsoft.com/office/drawing/2014/main" id="{B1283266-C0EF-EEC5-B990-456C6F970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r-CH" altLang="fr-FR">
                <a:latin typeface="Times" panose="02020603050405020304" pitchFamily="18" charset="0"/>
              </a:rPr>
              <a:t>APS à 3 transistor: Mrst permet de reseter la lecture. Msf est un source-follower qui «copie» la tension en sortie du photodiode sur le nœud entre Msf et Msel. Le transistor Msel permet de selectionner la lecture d’un pixel sur le fil COLonne.</a:t>
            </a:r>
          </a:p>
        </p:txBody>
      </p:sp>
      <p:sp>
        <p:nvSpPr>
          <p:cNvPr id="27652" name="Espace réservé du numéro de diapositive 3">
            <a:extLst>
              <a:ext uri="{FF2B5EF4-FFF2-40B4-BE49-F238E27FC236}">
                <a16:creationId xmlns:a16="http://schemas.microsoft.com/office/drawing/2014/main" id="{9CAAA505-BA0D-E129-88A7-8A40CD8F1B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96E34C0-D94B-444F-A91C-03EBB442ACF8}" type="slidenum">
              <a:rPr lang="fr-FR" altLang="fr-FR" sz="1200" smtClean="0"/>
              <a:pPr/>
              <a:t>20</a:t>
            </a:fld>
            <a:endParaRPr lang="fr-FR" altLang="fr-FR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B28818A-D85C-3CB0-54BE-7291EEF737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8DF27D9D-45A8-48DF-ADE1-F6D91A1237E4}" type="slidenum">
              <a:rPr lang="fr-FR" altLang="fr-FR" sz="1200" smtClean="0"/>
              <a:pPr/>
              <a:t>24</a:t>
            </a:fld>
            <a:endParaRPr lang="fr-FR" altLang="fr-FR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651E88A-0E2C-8B7B-2D36-DEE48DA9C7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532E47B-00AF-ED5F-2ABC-B605505D0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CH" altLang="fr-FR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8A84E27-D3E0-52E2-7890-8D9032D85B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C3AA259-542F-45BF-B302-44E8393A98EA}" type="slidenum">
              <a:rPr lang="fr-FR" altLang="fr-FR" sz="1200" smtClean="0"/>
              <a:pPr/>
              <a:t>26</a:t>
            </a:fld>
            <a:endParaRPr lang="fr-FR" altLang="fr-FR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620C29C-A2DC-BC87-97F8-110E4470B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FBFD145-F715-5227-2494-F854F57AF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CH" altLang="fr-FR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3A0AC8E-8CDE-2CDB-2007-5E7612311F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A505FCC4-1FB3-4951-8525-C866C6578170}" type="slidenum">
              <a:rPr lang="fr-FR" altLang="fr-FR" sz="1200" smtClean="0"/>
              <a:pPr/>
              <a:t>41</a:t>
            </a:fld>
            <a:endParaRPr lang="fr-FR" altLang="fr-FR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67127739-C161-32E6-1AB3-5A2A584C13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6125"/>
            <a:ext cx="4960938" cy="3721100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DD9AC83-58DE-839F-ADA3-B81691F1D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4714875"/>
            <a:ext cx="4891088" cy="4465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fr-FR">
                <a:latin typeface="Times" panose="02020603050405020304" pitchFamily="18" charset="0"/>
              </a:rPr>
              <a:t>The physical size of the sensor is another factor that affects your camera choice.  This figure shows the sensor size dimensions for standard 1/3 Inch, ½ Inch, and 2/3 Inch sensors.  Notice that the names of sensors do not accurately reflect their dimensions.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0D2A8716-D9D8-27B7-101D-C151E2729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C8A5EA8-E64F-42C6-86B1-6EDB21F32438}" type="slidenum">
              <a:rPr lang="fr-FR" altLang="fr-FR" sz="1200" smtClean="0"/>
              <a:pPr/>
              <a:t>42</a:t>
            </a:fld>
            <a:endParaRPr lang="fr-FR" altLang="fr-FR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59B817E-DAC1-A6E6-C82A-A3C4157D5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6125"/>
            <a:ext cx="4960938" cy="3721100"/>
          </a:xfrm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870D629D-DE78-D0C6-53D9-171FC778D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4714875"/>
            <a:ext cx="4891088" cy="4465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fr-FR">
                <a:latin typeface="Times" panose="02020603050405020304" pitchFamily="18" charset="0"/>
              </a:rPr>
              <a:t>The physical size of the sensor is another factor that affects your camera choice.  This figure shows the sensor size dimensions for standard 1/3 Inch, ½ Inch, and 2/3 Inch sensors.  Notice that the names of sensors do not accurately reflect their dimensions.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17F9C2A9-81B1-22C4-01EF-86866367A7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387E3BF-2F2B-4C52-A6A7-29829E0C0B9E}" type="slidenum">
              <a:rPr lang="fr-FR" altLang="fr-FR" sz="1200" smtClean="0"/>
              <a:pPr/>
              <a:t>43</a:t>
            </a:fld>
            <a:endParaRPr lang="fr-FR" altLang="fr-FR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087FEED2-6E4F-9607-BEA3-556717E634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6125"/>
            <a:ext cx="4960938" cy="3721100"/>
          </a:xfrm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1037D3B6-FDCC-1337-2A21-55F25CD0D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4714875"/>
            <a:ext cx="4891088" cy="4465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3FCBBFEE-4CA1-7238-92B1-5923BB1C8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23B253D-13EB-4810-969C-5F35EA518651}" type="slidenum">
              <a:rPr lang="fr-FR" altLang="fr-FR" sz="1200" smtClean="0"/>
              <a:pPr/>
              <a:t>44</a:t>
            </a:fld>
            <a:endParaRPr lang="fr-FR" altLang="fr-FR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EB4E39C-3BA6-CE58-0FFC-97B20D0B3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6125"/>
            <a:ext cx="4960938" cy="37211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EC8E74E-3EF1-648F-2270-044CCFDE4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4714875"/>
            <a:ext cx="4891088" cy="4465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fr-FR">
                <a:latin typeface="Times" panose="02020603050405020304" pitchFamily="18" charset="0"/>
              </a:rPr>
              <a:t>If your required sensor resolution does not correspond to a standard sensor resolution, choose a camera whose sensor resolution is greater than your requirement, or use multiple cameras to achieve the desired resolution. </a:t>
            </a:r>
          </a:p>
          <a:p>
            <a:pPr eaLnBrk="1" hangingPunct="1"/>
            <a:endParaRPr lang="en-US" altLang="fr-FR">
              <a:latin typeface="Times" panose="02020603050405020304" pitchFamily="18" charset="0"/>
            </a:endParaRPr>
          </a:p>
          <a:p>
            <a:pPr eaLnBrk="1" hangingPunct="1"/>
            <a:endParaRPr lang="en-US" altLang="fr-FR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>
            <a:extLst>
              <a:ext uri="{FF2B5EF4-FFF2-40B4-BE49-F238E27FC236}">
                <a16:creationId xmlns:a16="http://schemas.microsoft.com/office/drawing/2014/main" id="{17AFF500-3B38-3FAF-33BF-B4DB45FD76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Espace réservé des commentaires 2">
            <a:extLst>
              <a:ext uri="{FF2B5EF4-FFF2-40B4-BE49-F238E27FC236}">
                <a16:creationId xmlns:a16="http://schemas.microsoft.com/office/drawing/2014/main" id="{FF76B4B9-0790-2117-D378-5F0155E31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H" altLang="fr-FR" dirty="0">
              <a:latin typeface="Times" panose="02020603050405020304" pitchFamily="18" charset="0"/>
            </a:endParaRPr>
          </a:p>
        </p:txBody>
      </p:sp>
      <p:sp>
        <p:nvSpPr>
          <p:cNvPr id="71684" name="Espace réservé du numéro de diapositive 3">
            <a:extLst>
              <a:ext uri="{FF2B5EF4-FFF2-40B4-BE49-F238E27FC236}">
                <a16:creationId xmlns:a16="http://schemas.microsoft.com/office/drawing/2014/main" id="{E0225DEC-28C0-9FB2-E30E-7446AB005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0C1D4BA7-7FDC-4CEE-8A0D-FC0A51FCB4E2}" type="slidenum">
              <a:rPr lang="fr-FR" altLang="fr-FR" sz="1200" smtClean="0"/>
              <a:pPr/>
              <a:t>46</a:t>
            </a:fld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val="2944695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gradFill rotWithShape="0">
          <a:gsLst>
            <a:gs pos="0">
              <a:schemeClr val="bg1"/>
            </a:gs>
            <a:gs pos="100000">
              <a:srgbClr val="DD056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C3DF974-7D44-07FC-3083-7F791518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395288" cy="6237287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255BDC-4615-6974-DEA0-44212B3E5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88913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91C1F534-57F6-F512-1F9F-AF10D6966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A51F310E-7DEB-6C0C-F727-8EC1DD505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0"/>
            <a:ext cx="0" cy="620713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D845D5C-8697-1AB7-17DB-523EB73D6328}"/>
              </a:ext>
            </a:extLst>
          </p:cNvPr>
          <p:cNvGrpSpPr>
            <a:grpSpLocks/>
          </p:cNvGrpSpPr>
          <p:nvPr/>
        </p:nvGrpSpPr>
        <p:grpSpPr bwMode="auto">
          <a:xfrm>
            <a:off x="7524750" y="333375"/>
            <a:ext cx="1474788" cy="360363"/>
            <a:chOff x="4740" y="391"/>
            <a:chExt cx="929" cy="227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444F2D7C-1793-C506-E493-085E585FED8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8011E048-452D-483D-DC74-A3473F19CE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3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CA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1BD5622A-DB82-04E8-640B-EC28E1A481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6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2DD3DD0C-1D16-380B-3A30-AF0EC321084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740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</p:grpSp>
      <p:pic>
        <p:nvPicPr>
          <p:cNvPr id="11" name="Picture 11" descr="Logo arc ingénierie cmyk">
            <a:extLst>
              <a:ext uri="{FF2B5EF4-FFF2-40B4-BE49-F238E27FC236}">
                <a16:creationId xmlns:a16="http://schemas.microsoft.com/office/drawing/2014/main" id="{DE1A4687-DC54-CA12-D5A1-919BDEECF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2">
            <a:extLst>
              <a:ext uri="{FF2B5EF4-FFF2-40B4-BE49-F238E27FC236}">
                <a16:creationId xmlns:a16="http://schemas.microsoft.com/office/drawing/2014/main" id="{081D4B10-95CE-3C65-2291-E8D850EA154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689099" y="4541837"/>
            <a:ext cx="3744912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fr-CH" altLang="fr-FR" sz="1800" dirty="0">
                <a:solidFill>
                  <a:schemeClr val="bg1"/>
                </a:solidFill>
                <a:latin typeface="Arial" panose="020B0604020202020204" pitchFamily="34" charset="0"/>
              </a:rPr>
              <a:t>Vision Industrielle 2024</a:t>
            </a:r>
          </a:p>
        </p:txBody>
      </p:sp>
      <p:pic>
        <p:nvPicPr>
          <p:cNvPr id="13" name="Picture 16" descr="Logo arc ingénierie cmyk">
            <a:extLst>
              <a:ext uri="{FF2B5EF4-FFF2-40B4-BE49-F238E27FC236}">
                <a16:creationId xmlns:a16="http://schemas.microsoft.com/office/drawing/2014/main" id="{1A6BCF2E-D3D1-E889-BB42-D5F80AF856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8">
            <a:extLst>
              <a:ext uri="{FF2B5EF4-FFF2-40B4-BE49-F238E27FC236}">
                <a16:creationId xmlns:a16="http://schemas.microsoft.com/office/drawing/2014/main" id="{ED7DC349-AB25-3C89-FC66-9A41703876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488237B8-2C27-4D55-BFB5-38A7157F574C}" type="slidenum">
              <a:rPr lang="fr-CH" altLang="fr-FR" sz="100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fr-FR" sz="1000">
              <a:latin typeface="Arial" panose="020B0604020202020204" pitchFamily="34" charset="0"/>
            </a:endParaRP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574A92E8-6319-7090-E1E0-46F2E18A4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24075" y="260350"/>
            <a:ext cx="5329238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altLang="fr-FR" sz="1800" b="1" dirty="0">
                <a:solidFill>
                  <a:srgbClr val="000000"/>
                </a:solidFill>
                <a:latin typeface="Arial" panose="020B0604020202020204" pitchFamily="34" charset="0"/>
              </a:rPr>
              <a:t>Technologie des Caméras</a:t>
            </a:r>
            <a:endParaRPr lang="fr-CH" altLang="fr-FR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Picture 20" descr="hes-so">
            <a:extLst>
              <a:ext uri="{FF2B5EF4-FFF2-40B4-BE49-F238E27FC236}">
                <a16:creationId xmlns:a16="http://schemas.microsoft.com/office/drawing/2014/main" id="{3A95BE8C-BBC3-52BB-C2A8-4CEF671AC7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6381750"/>
            <a:ext cx="7921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13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609600" y="1470025"/>
            <a:ext cx="82042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fr-CH"/>
              <a:t>Cliquez pour modifier le style du titre</a:t>
            </a:r>
          </a:p>
        </p:txBody>
      </p:sp>
      <p:sp>
        <p:nvSpPr>
          <p:cNvPr id="204814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622300" y="3886200"/>
            <a:ext cx="82423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fr-CH"/>
              <a:t>Cliquez pour modifier le style des sous-titres du masque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464EFF55-AD12-DA6B-A25C-B3DB1D9FD6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431800" y="6546850"/>
            <a:ext cx="317500" cy="3111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04841A-1792-4058-B5D4-D91C944C9EFA}" type="slidenum">
              <a:rPr lang="fr-CH" altLang="fr-FR"/>
              <a:pPr>
                <a:defRPr/>
              </a:pPr>
              <a:t>‹N°›</a:t>
            </a:fld>
            <a:endParaRPr lang="fr-CH" altLang="fr-FR"/>
          </a:p>
        </p:txBody>
      </p:sp>
    </p:spTree>
    <p:extLst>
      <p:ext uri="{BB962C8B-B14F-4D97-AF65-F5344CB8AC3E}">
        <p14:creationId xmlns:p14="http://schemas.microsoft.com/office/powerpoint/2010/main" val="210340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767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2019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55650" y="1196975"/>
            <a:ext cx="40640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72050" y="1196975"/>
            <a:ext cx="40640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4951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3692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9938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27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8040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H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741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7059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77050" y="692150"/>
            <a:ext cx="2159000" cy="59055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95288" y="692150"/>
            <a:ext cx="6329362" cy="59055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53580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re et texte sur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288" y="692150"/>
            <a:ext cx="8640762" cy="4318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755650" y="1196975"/>
            <a:ext cx="8280400" cy="26241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55650" y="3973513"/>
            <a:ext cx="8280400" cy="26241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4201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re. Image de la bibliothèqu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288" y="692150"/>
            <a:ext cx="8640762" cy="4318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e l'image de la bibliothèque 2"/>
          <p:cNvSpPr>
            <a:spLocks noGrp="1"/>
          </p:cNvSpPr>
          <p:nvPr>
            <p:ph type="clipArt" sz="half" idx="1"/>
          </p:nvPr>
        </p:nvSpPr>
        <p:spPr>
          <a:xfrm>
            <a:off x="755650" y="1196975"/>
            <a:ext cx="4064000" cy="5400675"/>
          </a:xfrm>
        </p:spPr>
        <p:txBody>
          <a:bodyPr/>
          <a:lstStyle/>
          <a:p>
            <a:pPr lvl="0"/>
            <a:endParaRPr lang="fr-CH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72050" y="1196975"/>
            <a:ext cx="4064000" cy="54006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72880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288" y="692150"/>
            <a:ext cx="8640762" cy="4318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755650" y="1196975"/>
            <a:ext cx="8280400" cy="5400675"/>
          </a:xfrm>
        </p:spPr>
        <p:txBody>
          <a:bodyPr/>
          <a:lstStyle/>
          <a:p>
            <a:pPr lvl="0"/>
            <a:endParaRPr lang="fr-CH" noProof="0"/>
          </a:p>
        </p:txBody>
      </p:sp>
    </p:spTree>
    <p:extLst>
      <p:ext uri="{BB962C8B-B14F-4D97-AF65-F5344CB8AC3E}">
        <p14:creationId xmlns:p14="http://schemas.microsoft.com/office/powerpoint/2010/main" val="361251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3764622-9ABC-E186-2453-741EAD49C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395288" cy="6237287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662A3F-FA65-7FBB-4E78-892C5DBD3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88913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76981CE0-A701-B217-C130-7F198E2560E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E02BF2B8-B8A7-1B26-CFF9-94DD9E8569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0"/>
            <a:ext cx="0" cy="620713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grpSp>
        <p:nvGrpSpPr>
          <p:cNvPr id="1030" name="Group 6">
            <a:extLst>
              <a:ext uri="{FF2B5EF4-FFF2-40B4-BE49-F238E27FC236}">
                <a16:creationId xmlns:a16="http://schemas.microsoft.com/office/drawing/2014/main" id="{DF59E464-100B-430D-2C76-EE69CC684528}"/>
              </a:ext>
            </a:extLst>
          </p:cNvPr>
          <p:cNvGrpSpPr>
            <a:grpSpLocks/>
          </p:cNvGrpSpPr>
          <p:nvPr/>
        </p:nvGrpSpPr>
        <p:grpSpPr bwMode="auto">
          <a:xfrm>
            <a:off x="7524750" y="333375"/>
            <a:ext cx="1474788" cy="360363"/>
            <a:chOff x="4740" y="391"/>
            <a:chExt cx="929" cy="227"/>
          </a:xfrm>
        </p:grpSpPr>
        <p:sp>
          <p:nvSpPr>
            <p:cNvPr id="1040" name="AutoShape 7">
              <a:extLst>
                <a:ext uri="{FF2B5EF4-FFF2-40B4-BE49-F238E27FC236}">
                  <a16:creationId xmlns:a16="http://schemas.microsoft.com/office/drawing/2014/main" id="{7A740FE9-B480-A2EA-6553-90894688F6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1" name="AutoShape 8">
              <a:extLst>
                <a:ext uri="{FF2B5EF4-FFF2-40B4-BE49-F238E27FC236}">
                  <a16:creationId xmlns:a16="http://schemas.microsoft.com/office/drawing/2014/main" id="{B347CC69-9EF4-E8E9-7BDF-B89C5BEC506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3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CA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2" name="AutoShape 9">
              <a:extLst>
                <a:ext uri="{FF2B5EF4-FFF2-40B4-BE49-F238E27FC236}">
                  <a16:creationId xmlns:a16="http://schemas.microsoft.com/office/drawing/2014/main" id="{A8BCA227-5623-112C-4332-9AE221741C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6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3" name="AutoShape 10">
              <a:extLst>
                <a:ext uri="{FF2B5EF4-FFF2-40B4-BE49-F238E27FC236}">
                  <a16:creationId xmlns:a16="http://schemas.microsoft.com/office/drawing/2014/main" id="{93C0AB99-E805-5469-2583-1BC5A026C9B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740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</p:grpSp>
      <p:pic>
        <p:nvPicPr>
          <p:cNvPr id="1031" name="Picture 11" descr="Logo arc ingénierie cmyk">
            <a:extLst>
              <a:ext uri="{FF2B5EF4-FFF2-40B4-BE49-F238E27FC236}">
                <a16:creationId xmlns:a16="http://schemas.microsoft.com/office/drawing/2014/main" id="{02A505E0-C01E-F6E6-9167-FB8E25754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12">
            <a:extLst>
              <a:ext uri="{FF2B5EF4-FFF2-40B4-BE49-F238E27FC236}">
                <a16:creationId xmlns:a16="http://schemas.microsoft.com/office/drawing/2014/main" id="{E2C3FD78-8A5D-4F8B-499F-66E48381406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689100" y="4540528"/>
            <a:ext cx="3744912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fr-CH" altLang="fr-FR" sz="1800" dirty="0">
                <a:solidFill>
                  <a:schemeClr val="bg1"/>
                </a:solidFill>
                <a:latin typeface="Arial" panose="020B0604020202020204" pitchFamily="34" charset="0"/>
              </a:rPr>
              <a:t>Vision Industrielle 2024</a:t>
            </a:r>
          </a:p>
        </p:txBody>
      </p:sp>
      <p:sp>
        <p:nvSpPr>
          <p:cNvPr id="203789" name="Text Box 13">
            <a:extLst>
              <a:ext uri="{FF2B5EF4-FFF2-40B4-BE49-F238E27FC236}">
                <a16:creationId xmlns:a16="http://schemas.microsoft.com/office/drawing/2014/main" id="{AA2B129D-3EFD-542E-86AA-261199E4E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26900BA3-8603-45AC-9DB1-568A5A40D828}" type="slidenum">
              <a:rPr lang="fr-CH" altLang="fr-FR" sz="100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fr-FR" sz="1000">
              <a:latin typeface="Arial" panose="020B0604020202020204" pitchFamily="34" charset="0"/>
            </a:endParaRPr>
          </a:p>
        </p:txBody>
      </p:sp>
      <p:sp>
        <p:nvSpPr>
          <p:cNvPr id="1034" name="Rectangle 14">
            <a:extLst>
              <a:ext uri="{FF2B5EF4-FFF2-40B4-BE49-F238E27FC236}">
                <a16:creationId xmlns:a16="http://schemas.microsoft.com/office/drawing/2014/main" id="{9E602421-DFB6-67A2-944D-FCEA33396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692150"/>
            <a:ext cx="86407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fr-FR"/>
              <a:t>Cliquez pour modifier le style du titre</a:t>
            </a:r>
          </a:p>
        </p:txBody>
      </p:sp>
      <p:sp>
        <p:nvSpPr>
          <p:cNvPr id="1035" name="Rectangle 15">
            <a:extLst>
              <a:ext uri="{FF2B5EF4-FFF2-40B4-BE49-F238E27FC236}">
                <a16:creationId xmlns:a16="http://schemas.microsoft.com/office/drawing/2014/main" id="{70A449CF-C585-606C-A88F-DB31877E8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196975"/>
            <a:ext cx="82804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fr-FR"/>
              <a:t>Cliquez pour modifier les styles du texte du masque</a:t>
            </a:r>
          </a:p>
          <a:p>
            <a:pPr lvl="1"/>
            <a:r>
              <a:rPr lang="fr-CH" altLang="fr-FR"/>
              <a:t>Deuxième niveau</a:t>
            </a:r>
          </a:p>
          <a:p>
            <a:pPr lvl="2"/>
            <a:r>
              <a:rPr lang="fr-CH" altLang="fr-FR"/>
              <a:t>Troisième niveau</a:t>
            </a:r>
          </a:p>
          <a:p>
            <a:pPr lvl="3"/>
            <a:r>
              <a:rPr lang="fr-CH" altLang="fr-FR"/>
              <a:t>Quatrième niveau</a:t>
            </a:r>
          </a:p>
          <a:p>
            <a:pPr lvl="4"/>
            <a:r>
              <a:rPr lang="fr-CH" altLang="fr-FR"/>
              <a:t>Cinquième niveau</a:t>
            </a:r>
          </a:p>
        </p:txBody>
      </p:sp>
      <p:pic>
        <p:nvPicPr>
          <p:cNvPr id="1036" name="Picture 17" descr="Logo arc ingénierie cmyk">
            <a:extLst>
              <a:ext uri="{FF2B5EF4-FFF2-40B4-BE49-F238E27FC236}">
                <a16:creationId xmlns:a16="http://schemas.microsoft.com/office/drawing/2014/main" id="{093ABFB9-C04B-96E7-FB7E-5D0E189E13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95" name="Text Box 19">
            <a:extLst>
              <a:ext uri="{FF2B5EF4-FFF2-40B4-BE49-F238E27FC236}">
                <a16:creationId xmlns:a16="http://schemas.microsoft.com/office/drawing/2014/main" id="{F6E1A602-3CA1-F2BA-DBDE-778B49E057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B22FA911-D433-4713-8EF2-92624588D113}" type="slidenum">
              <a:rPr lang="fr-CH" altLang="fr-FR" sz="100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fr-FR" sz="1000">
              <a:latin typeface="Arial" panose="020B0604020202020204" pitchFamily="34" charset="0"/>
            </a:endParaRPr>
          </a:p>
        </p:txBody>
      </p:sp>
      <p:sp>
        <p:nvSpPr>
          <p:cNvPr id="1038" name="Text Box 20">
            <a:extLst>
              <a:ext uri="{FF2B5EF4-FFF2-40B4-BE49-F238E27FC236}">
                <a16:creationId xmlns:a16="http://schemas.microsoft.com/office/drawing/2014/main" id="{F38DF0D8-D3EC-6E0F-6D9D-FCE1CD62A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11375" y="209550"/>
            <a:ext cx="5329238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altLang="fr-FR" sz="1800" b="1" dirty="0">
                <a:solidFill>
                  <a:srgbClr val="000000"/>
                </a:solidFill>
                <a:latin typeface="Arial" panose="020B0604020202020204" pitchFamily="34" charset="0"/>
              </a:rPr>
              <a:t>Technologie des Caméras</a:t>
            </a:r>
            <a:endParaRPr lang="fr-CH" altLang="fr-FR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39" name="Picture 21" descr="hes-so">
            <a:extLst>
              <a:ext uri="{FF2B5EF4-FFF2-40B4-BE49-F238E27FC236}">
                <a16:creationId xmlns:a16="http://schemas.microsoft.com/office/drawing/2014/main" id="{86B02FAC-4BE9-9B28-A1F0-B39D17F021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6381750"/>
            <a:ext cx="7921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9" r:id="rId1"/>
    <p:sldLayoutId id="2147484206" r:id="rId2"/>
    <p:sldLayoutId id="2147484207" r:id="rId3"/>
    <p:sldLayoutId id="2147484208" r:id="rId4"/>
    <p:sldLayoutId id="2147484209" r:id="rId5"/>
    <p:sldLayoutId id="2147484210" r:id="rId6"/>
    <p:sldLayoutId id="2147484211" r:id="rId7"/>
    <p:sldLayoutId id="2147484212" r:id="rId8"/>
    <p:sldLayoutId id="2147484213" r:id="rId9"/>
    <p:sldLayoutId id="2147484214" r:id="rId10"/>
    <p:sldLayoutId id="2147484215" r:id="rId11"/>
    <p:sldLayoutId id="2147484216" r:id="rId12"/>
    <p:sldLayoutId id="2147484217" r:id="rId13"/>
    <p:sldLayoutId id="2147484218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Wingdings" panose="05000000000000000000" pitchFamily="2" charset="2"/>
        <a:buChar char="l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Wingdings" panose="05000000000000000000" pitchFamily="2" charset="2"/>
        <a:buChar char="Ø"/>
        <a:defRPr sz="20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charset="0"/>
        <a:buChar char="–"/>
        <a:defRPr sz="2000"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charset="0"/>
        <a:buChar char="–"/>
        <a:defRPr sz="2000"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charset="0"/>
        <a:buChar char="–"/>
        <a:defRPr sz="2000"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charset="0"/>
        <a:buChar char="–"/>
        <a:defRPr sz="2000">
          <a:solidFill>
            <a:srgbClr val="000000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upload.wikimedia.org/wikipedia/commons/5/55/Isolator-metal-semicond-fr.sv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hyperlink" Target="http://www.amazon.com/exec/obidos/tg/stores/detail/-/wireless/B0000AGRYX/pictures/14/104-8183937-0641516#more-picture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9/95/SensorSizes.sv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image" Target="../media/image68.jpeg"/><Relationship Id="rId7" Type="http://schemas.openxmlformats.org/officeDocument/2006/relationships/image" Target="../media/image7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jpeg"/><Relationship Id="rId4" Type="http://schemas.openxmlformats.org/officeDocument/2006/relationships/image" Target="../media/image69.png"/><Relationship Id="rId9" Type="http://schemas.openxmlformats.org/officeDocument/2006/relationships/image" Target="../media/image74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slerweb.com/" TargetMode="External"/><Relationship Id="rId2" Type="http://schemas.openxmlformats.org/officeDocument/2006/relationships/hyperlink" Target="http://www.nbaset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isiononline.org/vision-standards-details.cfm?id=159&amp;type=10" TargetMode="External"/><Relationship Id="rId4" Type="http://schemas.openxmlformats.org/officeDocument/2006/relationships/hyperlink" Target="https://www.ximea.com/en/pci-express-camera/pci-express-came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5E5DBE-4B5E-BCEB-D64B-A83EAE8741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9100" y="2286000"/>
            <a:ext cx="8724900" cy="1143000"/>
          </a:xfrm>
        </p:spPr>
        <p:txBody>
          <a:bodyPr/>
          <a:lstStyle/>
          <a:p>
            <a:pPr eaLnBrk="1" hangingPunct="1"/>
            <a:r>
              <a:rPr lang="fr-FR" altLang="fr-FR" sz="6000" dirty="0"/>
              <a:t>Vision industrielle</a:t>
            </a:r>
            <a:br>
              <a:rPr lang="fr-FR" altLang="fr-FR" sz="6000" dirty="0"/>
            </a:br>
            <a:r>
              <a:rPr lang="fr-FR" altLang="fr-FR" sz="6000" dirty="0"/>
              <a:t>Technologie des Caméras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7FEE5FA-2143-146A-3A0B-722EB054C48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22300" y="4394200"/>
            <a:ext cx="8242300" cy="1752600"/>
          </a:xfrm>
        </p:spPr>
        <p:txBody>
          <a:bodyPr/>
          <a:lstStyle/>
          <a:p>
            <a:pPr eaLnBrk="1" hangingPunct="1"/>
            <a:r>
              <a:rPr lang="fr-FR" altLang="fr-FR" sz="2400"/>
              <a:t>Aldo Salvi, Yuri L. de Meneses</a:t>
            </a:r>
          </a:p>
          <a:p>
            <a:pPr eaLnBrk="1" hangingPunct="1"/>
            <a:r>
              <a:rPr lang="fr-FR" altLang="fr-FR" sz="2400"/>
              <a:t>HE-Arc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24D43CD-1450-8C88-99E3-7BF0F5DDA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Rôle d’un capteur d’image</a:t>
            </a:r>
          </a:p>
        </p:txBody>
      </p:sp>
      <p:pic>
        <p:nvPicPr>
          <p:cNvPr id="7171" name="Picture 4">
            <a:extLst>
              <a:ext uri="{FF2B5EF4-FFF2-40B4-BE49-F238E27FC236}">
                <a16:creationId xmlns:a16="http://schemas.microsoft.com/office/drawing/2014/main" id="{9EA7F600-59AF-4C2F-A299-99B21402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5210175"/>
            <a:ext cx="1366838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>
            <a:extLst>
              <a:ext uri="{FF2B5EF4-FFF2-40B4-BE49-F238E27FC236}">
                <a16:creationId xmlns:a16="http://schemas.microsoft.com/office/drawing/2014/main" id="{0E813D95-6C9E-A68E-BAB1-8E33C898D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1349375"/>
            <a:ext cx="341947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Text Box 9">
            <a:extLst>
              <a:ext uri="{FF2B5EF4-FFF2-40B4-BE49-F238E27FC236}">
                <a16:creationId xmlns:a16="http://schemas.microsoft.com/office/drawing/2014/main" id="{5B105229-2158-2A6E-61CA-37453946B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2717800"/>
            <a:ext cx="4495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Convertir des photons (lumière)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en charge électrique    (électrons)</a:t>
            </a: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7EBAD36-AA5D-52DC-8D35-02B323941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Bandes d’énergie des électrons (cf cours capteurs)</a:t>
            </a:r>
          </a:p>
        </p:txBody>
      </p:sp>
      <p:grpSp>
        <p:nvGrpSpPr>
          <p:cNvPr id="8195" name="Groupe 40">
            <a:extLst>
              <a:ext uri="{FF2B5EF4-FFF2-40B4-BE49-F238E27FC236}">
                <a16:creationId xmlns:a16="http://schemas.microsoft.com/office/drawing/2014/main" id="{B4FEC55C-74DA-5CE6-F683-10F82A284CBC}"/>
              </a:ext>
            </a:extLst>
          </p:cNvPr>
          <p:cNvGrpSpPr>
            <a:grpSpLocks/>
          </p:cNvGrpSpPr>
          <p:nvPr/>
        </p:nvGrpSpPr>
        <p:grpSpPr bwMode="auto">
          <a:xfrm>
            <a:off x="1144588" y="1200150"/>
            <a:ext cx="6554787" cy="3752850"/>
            <a:chOff x="1114425" y="1656587"/>
            <a:chExt cx="6555551" cy="3752851"/>
          </a:xfrm>
        </p:grpSpPr>
        <p:sp>
          <p:nvSpPr>
            <p:cNvPr id="8200" name="Text Box 4">
              <a:extLst>
                <a:ext uri="{FF2B5EF4-FFF2-40B4-BE49-F238E27FC236}">
                  <a16:creationId xmlns:a16="http://schemas.microsoft.com/office/drawing/2014/main" id="{ECA7D563-96FD-EA0F-ED17-7EC62848A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425" y="4340225"/>
              <a:ext cx="184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pic>
          <p:nvPicPr>
            <p:cNvPr id="8201" name="Picture 28" descr="Fichier:Isolator-metal-semicond-fr.svg">
              <a:hlinkClick r:id="rId2"/>
              <a:extLst>
                <a:ext uri="{FF2B5EF4-FFF2-40B4-BE49-F238E27FC236}">
                  <a16:creationId xmlns:a16="http://schemas.microsoft.com/office/drawing/2014/main" id="{7B9AC081-072B-C9C7-AA64-79E93E92C1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51" y="1656587"/>
              <a:ext cx="6410325" cy="3752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202" name="Connecteur droit avec flèche 29">
              <a:extLst>
                <a:ext uri="{FF2B5EF4-FFF2-40B4-BE49-F238E27FC236}">
                  <a16:creationId xmlns:a16="http://schemas.microsoft.com/office/drawing/2014/main" id="{7892E3E1-D40B-DB42-C6DE-93DAC69529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981700" y="3556000"/>
              <a:ext cx="812800" cy="1588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3" name="Connecteur droit avec flèche 30">
              <a:extLst>
                <a:ext uri="{FF2B5EF4-FFF2-40B4-BE49-F238E27FC236}">
                  <a16:creationId xmlns:a16="http://schemas.microsoft.com/office/drawing/2014/main" id="{91BFB18C-4EE5-9B05-D9F0-5546CE49FE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4083627" y="3454401"/>
              <a:ext cx="234373" cy="577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4" name="ZoneTexte 34">
              <a:extLst>
                <a:ext uri="{FF2B5EF4-FFF2-40B4-BE49-F238E27FC236}">
                  <a16:creationId xmlns:a16="http://schemas.microsoft.com/office/drawing/2014/main" id="{B0FC8629-39C7-157B-9FC4-57107863E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2987" y="3497283"/>
              <a:ext cx="38594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200" b="0">
                  <a:solidFill>
                    <a:schemeClr val="tx1"/>
                  </a:solidFill>
                  <a:latin typeface="Times" panose="02020603050405020304" pitchFamily="18" charset="0"/>
                </a:rPr>
                <a:t>Eg</a:t>
              </a:r>
            </a:p>
          </p:txBody>
        </p:sp>
        <p:sp>
          <p:nvSpPr>
            <p:cNvPr id="8205" name="Rectangle 36">
              <a:extLst>
                <a:ext uri="{FF2B5EF4-FFF2-40B4-BE49-F238E27FC236}">
                  <a16:creationId xmlns:a16="http://schemas.microsoft.com/office/drawing/2014/main" id="{B2E7A8D9-4071-7D70-C98E-B021A011C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991" y="3366656"/>
              <a:ext cx="231570" cy="172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CH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8206" name="ZoneTexte 35">
              <a:extLst>
                <a:ext uri="{FF2B5EF4-FFF2-40B4-BE49-F238E27FC236}">
                  <a16:creationId xmlns:a16="http://schemas.microsoft.com/office/drawing/2014/main" id="{0FA71486-ED9F-7C1C-F0B7-C3F415428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677" y="3307278"/>
              <a:ext cx="36219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200" b="0">
                  <a:solidFill>
                    <a:schemeClr val="tx1"/>
                  </a:solidFill>
                  <a:latin typeface="Times" panose="02020603050405020304" pitchFamily="18" charset="0"/>
                </a:rPr>
                <a:t>Eg</a:t>
              </a:r>
            </a:p>
          </p:txBody>
        </p:sp>
        <p:sp>
          <p:nvSpPr>
            <p:cNvPr id="8207" name="ZoneTexte 37">
              <a:extLst>
                <a:ext uri="{FF2B5EF4-FFF2-40B4-BE49-F238E27FC236}">
                  <a16:creationId xmlns:a16="http://schemas.microsoft.com/office/drawing/2014/main" id="{6916EDC8-1F0F-47FF-468B-FF6934722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6378" y="1721922"/>
              <a:ext cx="259475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400" b="0">
                  <a:solidFill>
                    <a:schemeClr val="tx1"/>
                  </a:solidFill>
                  <a:latin typeface="Times" panose="02020603050405020304" pitchFamily="18" charset="0"/>
                </a:rPr>
                <a:t>Eg=énergie de gap</a:t>
              </a:r>
            </a:p>
          </p:txBody>
        </p:sp>
      </p:grpSp>
      <p:sp>
        <p:nvSpPr>
          <p:cNvPr id="8196" name="ZoneTexte 39">
            <a:extLst>
              <a:ext uri="{FF2B5EF4-FFF2-40B4-BE49-F238E27FC236}">
                <a16:creationId xmlns:a16="http://schemas.microsoft.com/office/drawing/2014/main" id="{CF1079CE-4808-6C3B-37DB-4338E8A74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813" y="5421313"/>
            <a:ext cx="6556375" cy="307975"/>
          </a:xfrm>
          <a:prstGeom prst="rect">
            <a:avLst/>
          </a:prstGeom>
          <a:solidFill>
            <a:srgbClr val="6877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400" b="0">
                <a:solidFill>
                  <a:schemeClr val="tx1"/>
                </a:solidFill>
                <a:latin typeface="Times" panose="02020603050405020304" pitchFamily="18" charset="0"/>
              </a:rPr>
              <a:t>La bande de conduction contient les électrons qui sont libres de circuler dans le solide</a:t>
            </a:r>
          </a:p>
        </p:txBody>
      </p:sp>
      <p:sp>
        <p:nvSpPr>
          <p:cNvPr id="8197" name="ZoneTexte 41">
            <a:extLst>
              <a:ext uri="{FF2B5EF4-FFF2-40B4-BE49-F238E27FC236}">
                <a16:creationId xmlns:a16="http://schemas.microsoft.com/office/drawing/2014/main" id="{79FA91B8-2736-641C-0DD6-A17D493E2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4518025"/>
            <a:ext cx="5599113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800" b="0">
                <a:solidFill>
                  <a:schemeClr val="tx1"/>
                </a:solidFill>
                <a:latin typeface="Times" panose="02020603050405020304" pitchFamily="18" charset="0"/>
              </a:rPr>
              <a:t>Métal	           Semi-conducteur           Isolant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18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8198" name="ZoneTexte 38">
            <a:extLst>
              <a:ext uri="{FF2B5EF4-FFF2-40B4-BE49-F238E27FC236}">
                <a16:creationId xmlns:a16="http://schemas.microsoft.com/office/drawing/2014/main" id="{38B76C1C-D3F5-F23A-BD03-ADB5C7CD3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813" y="4999038"/>
            <a:ext cx="6556375" cy="307975"/>
          </a:xfrm>
          <a:prstGeom prst="rect">
            <a:avLst/>
          </a:prstGeom>
          <a:solidFill>
            <a:srgbClr val="C66C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400" b="0">
                <a:solidFill>
                  <a:schemeClr val="tx1"/>
                </a:solidFill>
                <a:latin typeface="Times" panose="02020603050405020304" pitchFamily="18" charset="0"/>
              </a:rPr>
              <a:t>La bande de valence contient les électrons qui participe aux liaisons atomique </a:t>
            </a:r>
          </a:p>
        </p:txBody>
      </p:sp>
      <p:sp>
        <p:nvSpPr>
          <p:cNvPr id="8199" name="ZoneTexte 42">
            <a:extLst>
              <a:ext uri="{FF2B5EF4-FFF2-40B4-BE49-F238E27FC236}">
                <a16:creationId xmlns:a16="http://schemas.microsoft.com/office/drawing/2014/main" id="{ED9BE4BA-8BE9-C4A8-BA27-724C1DB99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863" y="5919788"/>
            <a:ext cx="66024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200" b="0">
                <a:solidFill>
                  <a:schemeClr val="tx1"/>
                </a:solidFill>
                <a:latin typeface="Times" panose="02020603050405020304" pitchFamily="18" charset="0"/>
              </a:rPr>
              <a:t>En dopant les semi-conducteurs, on augmente la quantité d’électrons susceptible de passer dans la bande de conduction.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5633390-F043-8DEF-1664-FAC1C7729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 sz="3200"/>
              <a:t>Semiconducteurs extrinsèques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A1A7FD4-307E-AB9A-04FD-5AF80C5A8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3517900"/>
          </a:xfrm>
        </p:spPr>
        <p:txBody>
          <a:bodyPr/>
          <a:lstStyle/>
          <a:p>
            <a:pPr eaLnBrk="1" hangingPunct="1"/>
            <a:r>
              <a:rPr lang="fr-FR" altLang="fr-FR"/>
              <a:t>Semiconducteur de type n</a:t>
            </a:r>
          </a:p>
          <a:p>
            <a:pPr marL="819150" lvl="1" eaLnBrk="1" hangingPunct="1"/>
            <a:r>
              <a:rPr lang="fr-FR" altLang="fr-FR" sz="1800"/>
              <a:t>Dopants: éléments de valence 5 (ex: P)</a:t>
            </a:r>
          </a:p>
          <a:p>
            <a:pPr marL="819150" lvl="1" eaLnBrk="1" hangingPunct="1"/>
            <a:endParaRPr lang="fr-FR" altLang="fr-FR" sz="1800"/>
          </a:p>
          <a:p>
            <a:pPr marL="819150" lvl="1" eaLnBrk="1" hangingPunct="1"/>
            <a:endParaRPr lang="fr-FR" altLang="fr-FR" sz="1800"/>
          </a:p>
          <a:p>
            <a:pPr marL="819150" lvl="1" eaLnBrk="1" hangingPunct="1"/>
            <a:endParaRPr lang="fr-FR" altLang="fr-FR" sz="1800"/>
          </a:p>
          <a:p>
            <a:pPr marL="819150" lvl="1" eaLnBrk="1" hangingPunct="1"/>
            <a:endParaRPr lang="fr-FR" altLang="fr-FR" sz="1800"/>
          </a:p>
          <a:p>
            <a:pPr marL="819150" lvl="1" eaLnBrk="1" hangingPunct="1"/>
            <a:endParaRPr lang="fr-FR" altLang="fr-FR" sz="1800"/>
          </a:p>
          <a:p>
            <a:pPr eaLnBrk="1" hangingPunct="1"/>
            <a:r>
              <a:rPr lang="fr-FR" altLang="fr-FR"/>
              <a:t>Semiconducteurs de type p</a:t>
            </a:r>
          </a:p>
          <a:p>
            <a:pPr marL="819150" lvl="1" eaLnBrk="1" hangingPunct="1"/>
            <a:r>
              <a:rPr lang="fr-FR" altLang="fr-FR" sz="1800"/>
              <a:t>Dopants: éléments de valence 3 (ex: B)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89958117-FC99-4506-6FCB-473C86525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2260600"/>
            <a:ext cx="458470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Line 5">
            <a:extLst>
              <a:ext uri="{FF2B5EF4-FFF2-40B4-BE49-F238E27FC236}">
                <a16:creationId xmlns:a16="http://schemas.microsoft.com/office/drawing/2014/main" id="{C255E1C4-D30B-7616-18E1-91E8690C7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9900" y="2921000"/>
            <a:ext cx="2667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9222" name="Oval 6">
            <a:extLst>
              <a:ext uri="{FF2B5EF4-FFF2-40B4-BE49-F238E27FC236}">
                <a16:creationId xmlns:a16="http://schemas.microsoft.com/office/drawing/2014/main" id="{53C527B1-6BD0-C94C-09F9-A2ECFC331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2863850"/>
            <a:ext cx="69850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23" name="Oval 7">
            <a:extLst>
              <a:ext uri="{FF2B5EF4-FFF2-40B4-BE49-F238E27FC236}">
                <a16:creationId xmlns:a16="http://schemas.microsoft.com/office/drawing/2014/main" id="{00E206F6-5F6F-F7F0-9F41-523ECB59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75" y="2863850"/>
            <a:ext cx="69850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24" name="Oval 8">
            <a:extLst>
              <a:ext uri="{FF2B5EF4-FFF2-40B4-BE49-F238E27FC236}">
                <a16:creationId xmlns:a16="http://schemas.microsoft.com/office/drawing/2014/main" id="{3D721C51-DBB3-8BBF-7CD2-C8B2B75E9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863850"/>
            <a:ext cx="69850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25" name="Oval 9">
            <a:extLst>
              <a:ext uri="{FF2B5EF4-FFF2-40B4-BE49-F238E27FC236}">
                <a16:creationId xmlns:a16="http://schemas.microsoft.com/office/drawing/2014/main" id="{678268C5-5CAC-03D7-1B85-8145FCF86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75" y="2863850"/>
            <a:ext cx="69850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26" name="Oval 10">
            <a:extLst>
              <a:ext uri="{FF2B5EF4-FFF2-40B4-BE49-F238E27FC236}">
                <a16:creationId xmlns:a16="http://schemas.microsoft.com/office/drawing/2014/main" id="{671A2B29-22E6-CEC0-E435-3377F4300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2863850"/>
            <a:ext cx="69850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27" name="Oval 11">
            <a:extLst>
              <a:ext uri="{FF2B5EF4-FFF2-40B4-BE49-F238E27FC236}">
                <a16:creationId xmlns:a16="http://schemas.microsoft.com/office/drawing/2014/main" id="{2813492D-D97D-FE53-B337-6DD3C49FF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2863850"/>
            <a:ext cx="69850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28" name="Oval 12">
            <a:extLst>
              <a:ext uri="{FF2B5EF4-FFF2-40B4-BE49-F238E27FC236}">
                <a16:creationId xmlns:a16="http://schemas.microsoft.com/office/drawing/2014/main" id="{42BFBFAF-8C85-D976-3F73-C134A37EA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75" y="2863850"/>
            <a:ext cx="69850" cy="69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29" name="Oval 13">
            <a:extLst>
              <a:ext uri="{FF2B5EF4-FFF2-40B4-BE49-F238E27FC236}">
                <a16:creationId xmlns:a16="http://schemas.microsoft.com/office/drawing/2014/main" id="{0A9B5EB3-41B9-BB65-FD25-2CC73CB20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26733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30" name="Oval 14">
            <a:extLst>
              <a:ext uri="{FF2B5EF4-FFF2-40B4-BE49-F238E27FC236}">
                <a16:creationId xmlns:a16="http://schemas.microsoft.com/office/drawing/2014/main" id="{AD468A0C-BAA6-C610-8E48-320FB2A58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75" y="26733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31" name="Oval 15">
            <a:extLst>
              <a:ext uri="{FF2B5EF4-FFF2-40B4-BE49-F238E27FC236}">
                <a16:creationId xmlns:a16="http://schemas.microsoft.com/office/drawing/2014/main" id="{23A2D22A-A6BD-768D-EC20-ED934D5C5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6733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32" name="Oval 16">
            <a:extLst>
              <a:ext uri="{FF2B5EF4-FFF2-40B4-BE49-F238E27FC236}">
                <a16:creationId xmlns:a16="http://schemas.microsoft.com/office/drawing/2014/main" id="{02D80DEA-3BF1-53CF-3CC4-6C4C8A636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75" y="26733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33" name="Oval 17">
            <a:extLst>
              <a:ext uri="{FF2B5EF4-FFF2-40B4-BE49-F238E27FC236}">
                <a16:creationId xmlns:a16="http://schemas.microsoft.com/office/drawing/2014/main" id="{6939DF26-301C-6E9D-FCF2-3E5DBB3B6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26733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34" name="Oval 18">
            <a:extLst>
              <a:ext uri="{FF2B5EF4-FFF2-40B4-BE49-F238E27FC236}">
                <a16:creationId xmlns:a16="http://schemas.microsoft.com/office/drawing/2014/main" id="{281F9E88-44C8-1300-2293-AE7CB1105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26733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35" name="Oval 19">
            <a:extLst>
              <a:ext uri="{FF2B5EF4-FFF2-40B4-BE49-F238E27FC236}">
                <a16:creationId xmlns:a16="http://schemas.microsoft.com/office/drawing/2014/main" id="{60550617-7B29-1B1A-7293-E30CC14E0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75" y="2673350"/>
            <a:ext cx="6985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36" name="Text Box 20">
            <a:extLst>
              <a:ext uri="{FF2B5EF4-FFF2-40B4-BE49-F238E27FC236}">
                <a16:creationId xmlns:a16="http://schemas.microsoft.com/office/drawing/2014/main" id="{62C8D4E0-9399-628C-BF92-6B22FDD0A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0" y="2736850"/>
            <a:ext cx="9032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0">
                <a:solidFill>
                  <a:srgbClr val="E10000"/>
                </a:solidFill>
                <a:latin typeface="Times" panose="02020603050405020304" pitchFamily="18" charset="0"/>
              </a:rPr>
              <a:t>T &gt; 0 K</a:t>
            </a:r>
          </a:p>
        </p:txBody>
      </p:sp>
      <p:pic>
        <p:nvPicPr>
          <p:cNvPr id="9237" name="Picture 21">
            <a:extLst>
              <a:ext uri="{FF2B5EF4-FFF2-40B4-BE49-F238E27FC236}">
                <a16:creationId xmlns:a16="http://schemas.microsoft.com/office/drawing/2014/main" id="{260BA81A-DCD8-20F8-6C9B-8DA525F60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0" y="5029200"/>
            <a:ext cx="458470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8" name="Line 22">
            <a:extLst>
              <a:ext uri="{FF2B5EF4-FFF2-40B4-BE49-F238E27FC236}">
                <a16:creationId xmlns:a16="http://schemas.microsoft.com/office/drawing/2014/main" id="{2EE67EE4-78CF-47ED-605F-42A40ED42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0400" y="5981700"/>
            <a:ext cx="2667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9239" name="Oval 23">
            <a:extLst>
              <a:ext uri="{FF2B5EF4-FFF2-40B4-BE49-F238E27FC236}">
                <a16:creationId xmlns:a16="http://schemas.microsoft.com/office/drawing/2014/main" id="{0841A6BE-F720-10A2-9E53-6AC4F3C14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25" y="6154738"/>
            <a:ext cx="104775" cy="104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0" name="Oval 24">
            <a:extLst>
              <a:ext uri="{FF2B5EF4-FFF2-40B4-BE49-F238E27FC236}">
                <a16:creationId xmlns:a16="http://schemas.microsoft.com/office/drawing/2014/main" id="{093C0554-46EB-B413-AB68-5F664D85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525" y="6154738"/>
            <a:ext cx="104775" cy="104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1" name="Oval 25">
            <a:extLst>
              <a:ext uri="{FF2B5EF4-FFF2-40B4-BE49-F238E27FC236}">
                <a16:creationId xmlns:a16="http://schemas.microsoft.com/office/drawing/2014/main" id="{CAF83E4B-0ADD-3495-3D7B-5C448849B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925" y="6154738"/>
            <a:ext cx="104775" cy="104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2" name="Oval 26">
            <a:extLst>
              <a:ext uri="{FF2B5EF4-FFF2-40B4-BE49-F238E27FC236}">
                <a16:creationId xmlns:a16="http://schemas.microsoft.com/office/drawing/2014/main" id="{2E28FDAC-05D1-F4E2-F535-735E89161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5" y="6154738"/>
            <a:ext cx="103188" cy="104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3" name="Oval 27">
            <a:extLst>
              <a:ext uri="{FF2B5EF4-FFF2-40B4-BE49-F238E27FC236}">
                <a16:creationId xmlns:a16="http://schemas.microsoft.com/office/drawing/2014/main" id="{01FEB459-95B8-418E-BFC6-7E1C0552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138" y="6154738"/>
            <a:ext cx="104775" cy="104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4" name="Oval 28">
            <a:extLst>
              <a:ext uri="{FF2B5EF4-FFF2-40B4-BE49-F238E27FC236}">
                <a16:creationId xmlns:a16="http://schemas.microsoft.com/office/drawing/2014/main" id="{85649C90-AE3F-EEFE-5C8D-9B489A73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538" y="6154738"/>
            <a:ext cx="104775" cy="104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5" name="Oval 29">
            <a:extLst>
              <a:ext uri="{FF2B5EF4-FFF2-40B4-BE49-F238E27FC236}">
                <a16:creationId xmlns:a16="http://schemas.microsoft.com/office/drawing/2014/main" id="{521EBE95-C283-3439-0C99-3A63D492F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6154738"/>
            <a:ext cx="104775" cy="1047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6" name="Oval 30">
            <a:extLst>
              <a:ext uri="{FF2B5EF4-FFF2-40B4-BE49-F238E27FC236}">
                <a16:creationId xmlns:a16="http://schemas.microsoft.com/office/drawing/2014/main" id="{BE6BAD8D-BA69-3F12-2B0C-38B0C3FDF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5937250"/>
            <a:ext cx="104775" cy="1047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7" name="Oval 31">
            <a:extLst>
              <a:ext uri="{FF2B5EF4-FFF2-40B4-BE49-F238E27FC236}">
                <a16:creationId xmlns:a16="http://schemas.microsoft.com/office/drawing/2014/main" id="{6486471C-3B6E-3876-F28C-76772953D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475" y="5937250"/>
            <a:ext cx="104775" cy="1047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8" name="Oval 32">
            <a:extLst>
              <a:ext uri="{FF2B5EF4-FFF2-40B4-BE49-F238E27FC236}">
                <a16:creationId xmlns:a16="http://schemas.microsoft.com/office/drawing/2014/main" id="{A8100B64-D16D-28B6-55D5-05800C50A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75" y="5937250"/>
            <a:ext cx="104775" cy="1047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49" name="Oval 33">
            <a:extLst>
              <a:ext uri="{FF2B5EF4-FFF2-40B4-BE49-F238E27FC236}">
                <a16:creationId xmlns:a16="http://schemas.microsoft.com/office/drawing/2014/main" id="{CCE6A983-52F0-8223-E3AD-AD0A57ED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937250"/>
            <a:ext cx="103188" cy="1047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50" name="Oval 34">
            <a:extLst>
              <a:ext uri="{FF2B5EF4-FFF2-40B4-BE49-F238E27FC236}">
                <a16:creationId xmlns:a16="http://schemas.microsoft.com/office/drawing/2014/main" id="{B177803E-F3ED-E3E6-B112-6F890FD21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5937250"/>
            <a:ext cx="104775" cy="1047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51" name="Oval 35">
            <a:extLst>
              <a:ext uri="{FF2B5EF4-FFF2-40B4-BE49-F238E27FC236}">
                <a16:creationId xmlns:a16="http://schemas.microsoft.com/office/drawing/2014/main" id="{E6BC496C-53FA-F9A3-6C58-0884F0BA5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5937250"/>
            <a:ext cx="104775" cy="1047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52" name="Oval 36">
            <a:extLst>
              <a:ext uri="{FF2B5EF4-FFF2-40B4-BE49-F238E27FC236}">
                <a16:creationId xmlns:a16="http://schemas.microsoft.com/office/drawing/2014/main" id="{14315191-88F4-3F7B-11D3-025E65AF6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8" y="5937250"/>
            <a:ext cx="104775" cy="1047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alpha val="67058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9253" name="Text Box 37">
            <a:extLst>
              <a:ext uri="{FF2B5EF4-FFF2-40B4-BE49-F238E27FC236}">
                <a16:creationId xmlns:a16="http://schemas.microsoft.com/office/drawing/2014/main" id="{B48283D5-A959-E606-2793-2863368FD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700" y="5492750"/>
            <a:ext cx="9032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0">
                <a:solidFill>
                  <a:srgbClr val="E10000"/>
                </a:solidFill>
                <a:latin typeface="Times" panose="02020603050405020304" pitchFamily="18" charset="0"/>
              </a:rPr>
              <a:t>T &gt; 0 K</a:t>
            </a:r>
          </a:p>
        </p:txBody>
      </p:sp>
      <p:sp>
        <p:nvSpPr>
          <p:cNvPr id="9254" name="ZoneTexte 37">
            <a:extLst>
              <a:ext uri="{FF2B5EF4-FFF2-40B4-BE49-F238E27FC236}">
                <a16:creationId xmlns:a16="http://schemas.microsoft.com/office/drawing/2014/main" id="{690BF7D9-09E4-70D0-4FCF-854E3B53B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1993900"/>
            <a:ext cx="2273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b="0">
                <a:solidFill>
                  <a:schemeClr val="tx1"/>
                </a:solidFill>
                <a:latin typeface="Times" panose="02020603050405020304" pitchFamily="18" charset="0"/>
              </a:rPr>
              <a:t>Electrons, charges négatives libres (mobiles)</a:t>
            </a:r>
          </a:p>
        </p:txBody>
      </p:sp>
      <p:sp>
        <p:nvSpPr>
          <p:cNvPr id="9255" name="ZoneTexte 38">
            <a:extLst>
              <a:ext uri="{FF2B5EF4-FFF2-40B4-BE49-F238E27FC236}">
                <a16:creationId xmlns:a16="http://schemas.microsoft.com/office/drawing/2014/main" id="{65A55F39-302F-CDCA-B25B-E3E5A5EB2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5676900"/>
            <a:ext cx="2273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b="0">
                <a:solidFill>
                  <a:schemeClr val="tx1"/>
                </a:solidFill>
                <a:latin typeface="Times" panose="02020603050405020304" pitchFamily="18" charset="0"/>
              </a:rPr>
              <a:t>Trous, charges positives libres (mobiles)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AE9B041-4999-40B5-4653-31F66CF36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Absorption</a:t>
            </a:r>
            <a:endParaRPr lang="fr-FR" altLang="fr-FR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02A1DA0-73D1-59BC-F7E4-6935E2A3D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Principe: Absorption d’un photon</a:t>
            </a:r>
          </a:p>
          <a:p>
            <a:pPr lvl="1" eaLnBrk="1" hangingPunct="1"/>
            <a:r>
              <a:rPr lang="fr-FR" altLang="fr-FR"/>
              <a:t>Absorption d ’un photon si son énergie h</a:t>
            </a:r>
            <a:r>
              <a:rPr lang="fr-FR" altLang="fr-FR">
                <a:latin typeface="Symbol" panose="05050102010706020507" pitchFamily="18" charset="2"/>
              </a:rPr>
              <a:t>n</a:t>
            </a:r>
            <a:r>
              <a:rPr lang="fr-FR" altLang="fr-FR"/>
              <a:t> est plus grande que l ’énergie du gap</a:t>
            </a:r>
          </a:p>
          <a:p>
            <a:pPr lvl="1" eaLnBrk="1" hangingPunct="1"/>
            <a:r>
              <a:rPr lang="fr-FR" altLang="fr-FR"/>
              <a:t>L’application d’un champ électrique crée un courant dont l’intensité dependra de la puissance du signal lumineux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CB5E3B0-E962-16BB-0799-69280C7820E1}"/>
              </a:ext>
            </a:extLst>
          </p:cNvPr>
          <p:cNvGrpSpPr>
            <a:grpSpLocks/>
          </p:cNvGrpSpPr>
          <p:nvPr/>
        </p:nvGrpSpPr>
        <p:grpSpPr bwMode="auto">
          <a:xfrm>
            <a:off x="2265363" y="3525838"/>
            <a:ext cx="5237162" cy="1727200"/>
            <a:chOff x="1384" y="1720"/>
            <a:chExt cx="3299" cy="1088"/>
          </a:xfrm>
        </p:grpSpPr>
        <p:sp>
          <p:nvSpPr>
            <p:cNvPr id="10256" name="Rectangle 5" descr="Sphères">
              <a:extLst>
                <a:ext uri="{FF2B5EF4-FFF2-40B4-BE49-F238E27FC236}">
                  <a16:creationId xmlns:a16="http://schemas.microsoft.com/office/drawing/2014/main" id="{C60CEFE0-2DA6-87DA-1EF2-403D34EE1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" y="2504"/>
              <a:ext cx="2112" cy="30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CH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257" name="Rectangle 6">
              <a:extLst>
                <a:ext uri="{FF2B5EF4-FFF2-40B4-BE49-F238E27FC236}">
                  <a16:creationId xmlns:a16="http://schemas.microsoft.com/office/drawing/2014/main" id="{9DCFC3FD-CF53-4763-294E-5BDA46BD0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1720"/>
              <a:ext cx="2072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CH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258" name="Text Box 7">
              <a:extLst>
                <a:ext uri="{FF2B5EF4-FFF2-40B4-BE49-F238E27FC236}">
                  <a16:creationId xmlns:a16="http://schemas.microsoft.com/office/drawing/2014/main" id="{F62F6ECF-C04E-01D0-7261-D12C65EB2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6" y="1795"/>
              <a:ext cx="1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600" b="0">
                  <a:solidFill>
                    <a:schemeClr val="tx1"/>
                  </a:solidFill>
                  <a:latin typeface="Times" panose="02020603050405020304" pitchFamily="18" charset="0"/>
                </a:rPr>
                <a:t>Bande de conduction</a:t>
              </a:r>
              <a:endParaRPr lang="fr-FR" altLang="fr-FR" sz="16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259" name="Text Box 8">
              <a:extLst>
                <a:ext uri="{FF2B5EF4-FFF2-40B4-BE49-F238E27FC236}">
                  <a16:creationId xmlns:a16="http://schemas.microsoft.com/office/drawing/2014/main" id="{9F1222A6-73F3-E1E2-378D-3DE5EE003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2579"/>
              <a:ext cx="101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600" b="0">
                  <a:solidFill>
                    <a:schemeClr val="tx1"/>
                  </a:solidFill>
                  <a:latin typeface="Times" panose="02020603050405020304" pitchFamily="18" charset="0"/>
                </a:rPr>
                <a:t>Bande de valence</a:t>
              </a:r>
              <a:endParaRPr lang="fr-FR" altLang="fr-FR" sz="16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260" name="Line 9">
              <a:extLst>
                <a:ext uri="{FF2B5EF4-FFF2-40B4-BE49-F238E27FC236}">
                  <a16:creationId xmlns:a16="http://schemas.microsoft.com/office/drawing/2014/main" id="{10D24669-3B63-E999-091D-81D1311103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064"/>
              <a:ext cx="0" cy="4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261" name="Text Box 10">
              <a:extLst>
                <a:ext uri="{FF2B5EF4-FFF2-40B4-BE49-F238E27FC236}">
                  <a16:creationId xmlns:a16="http://schemas.microsoft.com/office/drawing/2014/main" id="{A3C55508-C831-36D8-B390-A9586A1B5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2" y="2196"/>
              <a:ext cx="9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600" b="0">
                  <a:solidFill>
                    <a:schemeClr val="tx1"/>
                  </a:solidFill>
                  <a:latin typeface="Times" panose="02020603050405020304" pitchFamily="18" charset="0"/>
                </a:rPr>
                <a:t>Gap optique E</a:t>
              </a:r>
              <a:r>
                <a:rPr lang="fr-CH" altLang="fr-FR" sz="1200" b="0">
                  <a:solidFill>
                    <a:schemeClr val="tx1"/>
                  </a:solidFill>
                  <a:latin typeface="Times" panose="02020603050405020304" pitchFamily="18" charset="0"/>
                </a:rPr>
                <a:t>g</a:t>
              </a:r>
              <a:endParaRPr lang="fr-FR" altLang="fr-FR" sz="18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91C2A246-CB59-6F7A-06B2-791DE38CEA31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4143375"/>
            <a:ext cx="1446212" cy="457200"/>
            <a:chOff x="1270" y="2032"/>
            <a:chExt cx="911" cy="288"/>
          </a:xfrm>
        </p:grpSpPr>
        <p:sp>
          <p:nvSpPr>
            <p:cNvPr id="10254" name="Freeform 12">
              <a:extLst>
                <a:ext uri="{FF2B5EF4-FFF2-40B4-BE49-F238E27FC236}">
                  <a16:creationId xmlns:a16="http://schemas.microsoft.com/office/drawing/2014/main" id="{F5C55CEB-829B-0BBB-FD75-28B8C49A5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216"/>
              <a:ext cx="376" cy="104"/>
            </a:xfrm>
            <a:custGeom>
              <a:avLst/>
              <a:gdLst>
                <a:gd name="T0" fmla="*/ 0 w 376"/>
                <a:gd name="T1" fmla="*/ 64 h 104"/>
                <a:gd name="T2" fmla="*/ 48 w 376"/>
                <a:gd name="T3" fmla="*/ 0 h 104"/>
                <a:gd name="T4" fmla="*/ 96 w 376"/>
                <a:gd name="T5" fmla="*/ 96 h 104"/>
                <a:gd name="T6" fmla="*/ 136 w 376"/>
                <a:gd name="T7" fmla="*/ 88 h 104"/>
                <a:gd name="T8" fmla="*/ 144 w 376"/>
                <a:gd name="T9" fmla="*/ 40 h 104"/>
                <a:gd name="T10" fmla="*/ 184 w 376"/>
                <a:gd name="T11" fmla="*/ 0 h 104"/>
                <a:gd name="T12" fmla="*/ 216 w 376"/>
                <a:gd name="T13" fmla="*/ 96 h 104"/>
                <a:gd name="T14" fmla="*/ 240 w 376"/>
                <a:gd name="T15" fmla="*/ 104 h 104"/>
                <a:gd name="T16" fmla="*/ 288 w 376"/>
                <a:gd name="T17" fmla="*/ 8 h 104"/>
                <a:gd name="T18" fmla="*/ 312 w 376"/>
                <a:gd name="T19" fmla="*/ 24 h 104"/>
                <a:gd name="T20" fmla="*/ 376 w 376"/>
                <a:gd name="T21" fmla="*/ 80 h 1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76"/>
                <a:gd name="T34" fmla="*/ 0 h 104"/>
                <a:gd name="T35" fmla="*/ 376 w 376"/>
                <a:gd name="T36" fmla="*/ 104 h 10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76" h="104">
                  <a:moveTo>
                    <a:pt x="0" y="64"/>
                  </a:moveTo>
                  <a:cubicBezTo>
                    <a:pt x="11" y="32"/>
                    <a:pt x="20" y="19"/>
                    <a:pt x="48" y="0"/>
                  </a:cubicBezTo>
                  <a:cubicBezTo>
                    <a:pt x="67" y="29"/>
                    <a:pt x="85" y="63"/>
                    <a:pt x="96" y="96"/>
                  </a:cubicBezTo>
                  <a:cubicBezTo>
                    <a:pt x="109" y="93"/>
                    <a:pt x="127" y="98"/>
                    <a:pt x="136" y="88"/>
                  </a:cubicBezTo>
                  <a:cubicBezTo>
                    <a:pt x="147" y="76"/>
                    <a:pt x="139" y="55"/>
                    <a:pt x="144" y="40"/>
                  </a:cubicBezTo>
                  <a:cubicBezTo>
                    <a:pt x="152" y="17"/>
                    <a:pt x="166" y="12"/>
                    <a:pt x="184" y="0"/>
                  </a:cubicBezTo>
                  <a:cubicBezTo>
                    <a:pt x="195" y="32"/>
                    <a:pt x="205" y="64"/>
                    <a:pt x="216" y="96"/>
                  </a:cubicBezTo>
                  <a:cubicBezTo>
                    <a:pt x="219" y="104"/>
                    <a:pt x="232" y="101"/>
                    <a:pt x="240" y="104"/>
                  </a:cubicBezTo>
                  <a:cubicBezTo>
                    <a:pt x="268" y="63"/>
                    <a:pt x="245" y="37"/>
                    <a:pt x="288" y="8"/>
                  </a:cubicBezTo>
                  <a:cubicBezTo>
                    <a:pt x="296" y="13"/>
                    <a:pt x="306" y="16"/>
                    <a:pt x="312" y="24"/>
                  </a:cubicBezTo>
                  <a:cubicBezTo>
                    <a:pt x="338" y="56"/>
                    <a:pt x="313" y="80"/>
                    <a:pt x="376" y="8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255" name="Text Box 13">
              <a:extLst>
                <a:ext uri="{FF2B5EF4-FFF2-40B4-BE49-F238E27FC236}">
                  <a16:creationId xmlns:a16="http://schemas.microsoft.com/office/drawing/2014/main" id="{67E1F442-4742-CD23-750F-FDA30184E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032"/>
              <a:ext cx="9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800" b="0">
                  <a:solidFill>
                    <a:srgbClr val="FF0F12"/>
                  </a:solidFill>
                  <a:latin typeface="Times" panose="02020603050405020304" pitchFamily="18" charset="0"/>
                </a:rPr>
                <a:t>E</a:t>
              </a:r>
              <a:r>
                <a:rPr lang="fr-CH" altLang="fr-FR" sz="1400" b="0">
                  <a:solidFill>
                    <a:srgbClr val="FF0F12"/>
                  </a:solidFill>
                  <a:latin typeface="Times" panose="02020603050405020304" pitchFamily="18" charset="0"/>
                </a:rPr>
                <a:t>ph</a:t>
              </a:r>
              <a:r>
                <a:rPr lang="fr-CH" altLang="fr-FR" sz="1800" b="0">
                  <a:solidFill>
                    <a:srgbClr val="FF0F12"/>
                  </a:solidFill>
                  <a:latin typeface="Times" panose="02020603050405020304" pitchFamily="18" charset="0"/>
                </a:rPr>
                <a:t> = h</a:t>
              </a:r>
              <a:r>
                <a:rPr lang="fr-CH" altLang="fr-FR" sz="1800" b="0">
                  <a:solidFill>
                    <a:srgbClr val="FF0F12"/>
                  </a:solidFill>
                  <a:latin typeface="Symbol" panose="05050102010706020507" pitchFamily="18" charset="2"/>
                </a:rPr>
                <a:t>n &gt; E</a:t>
              </a:r>
              <a:r>
                <a:rPr lang="fr-CH" altLang="fr-FR" sz="1400" b="0">
                  <a:solidFill>
                    <a:srgbClr val="FF0F12"/>
                  </a:solidFill>
                  <a:latin typeface="Times New Roman" panose="02020603050405020304" pitchFamily="18" charset="0"/>
                </a:rPr>
                <a:t>g</a:t>
              </a:r>
              <a:endParaRPr lang="fr-FR" altLang="fr-FR" sz="1400" b="0">
                <a:solidFill>
                  <a:srgbClr val="FF0F1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A72E55AC-6D06-DB55-B0D8-F618AFE9C289}"/>
              </a:ext>
            </a:extLst>
          </p:cNvPr>
          <p:cNvGrpSpPr>
            <a:grpSpLocks/>
          </p:cNvGrpSpPr>
          <p:nvPr/>
        </p:nvGrpSpPr>
        <p:grpSpPr bwMode="auto">
          <a:xfrm>
            <a:off x="3552825" y="3587750"/>
            <a:ext cx="946150" cy="2157413"/>
            <a:chOff x="2206" y="1771"/>
            <a:chExt cx="596" cy="1359"/>
          </a:xfrm>
        </p:grpSpPr>
        <p:grpSp>
          <p:nvGrpSpPr>
            <p:cNvPr id="10247" name="Group 15">
              <a:extLst>
                <a:ext uri="{FF2B5EF4-FFF2-40B4-BE49-F238E27FC236}">
                  <a16:creationId xmlns:a16="http://schemas.microsoft.com/office/drawing/2014/main" id="{26760559-FFDA-5D34-2E9D-A5DE71730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2" y="1976"/>
              <a:ext cx="80" cy="624"/>
              <a:chOff x="2392" y="1976"/>
              <a:chExt cx="80" cy="624"/>
            </a:xfrm>
          </p:grpSpPr>
          <p:sp>
            <p:nvSpPr>
              <p:cNvPr id="10251" name="Oval 16">
                <a:extLst>
                  <a:ext uri="{FF2B5EF4-FFF2-40B4-BE49-F238E27FC236}">
                    <a16:creationId xmlns:a16="http://schemas.microsoft.com/office/drawing/2014/main" id="{95EF506A-CD3A-DECC-3B57-7AB7EA7A1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2" y="2528"/>
                <a:ext cx="72" cy="72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l"/>
                  <a:defRPr sz="2000" b="1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CH" altLang="fr-FR" sz="2400" b="0">
                  <a:solidFill>
                    <a:schemeClr val="tx1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10252" name="Oval 17">
                <a:extLst>
                  <a:ext uri="{FF2B5EF4-FFF2-40B4-BE49-F238E27FC236}">
                    <a16:creationId xmlns:a16="http://schemas.microsoft.com/office/drawing/2014/main" id="{EEB5433D-AB40-255A-09EC-AF2CCB16E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1976"/>
                <a:ext cx="72" cy="7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l"/>
                  <a:defRPr sz="2000" b="1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CH" altLang="fr-FR" sz="2400" b="0">
                  <a:solidFill>
                    <a:schemeClr val="tx1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10253" name="Line 18">
                <a:extLst>
                  <a:ext uri="{FF2B5EF4-FFF2-40B4-BE49-F238E27FC236}">
                    <a16:creationId xmlns:a16="http://schemas.microsoft.com/office/drawing/2014/main" id="{459869F5-B9F3-DE49-203F-E0C88C2E8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32" y="2040"/>
                <a:ext cx="0" cy="5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H"/>
              </a:p>
            </p:txBody>
          </p:sp>
        </p:grpSp>
        <p:sp>
          <p:nvSpPr>
            <p:cNvPr id="10248" name="Text Box 19">
              <a:extLst>
                <a:ext uri="{FF2B5EF4-FFF2-40B4-BE49-F238E27FC236}">
                  <a16:creationId xmlns:a16="http://schemas.microsoft.com/office/drawing/2014/main" id="{5985113D-C7F2-DA42-C522-B890AF097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6" y="1771"/>
              <a:ext cx="5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800" b="0">
                  <a:solidFill>
                    <a:schemeClr val="tx1"/>
                  </a:solidFill>
                  <a:latin typeface="Times" panose="02020603050405020304" pitchFamily="18" charset="0"/>
                </a:rPr>
                <a:t>electron</a:t>
              </a:r>
              <a:endParaRPr lang="fr-FR" altLang="fr-FR" sz="18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249" name="Text Box 20">
              <a:extLst>
                <a:ext uri="{FF2B5EF4-FFF2-40B4-BE49-F238E27FC236}">
                  <a16:creationId xmlns:a16="http://schemas.microsoft.com/office/drawing/2014/main" id="{912DF805-BDD1-50DC-1506-3452D98D5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4" y="2899"/>
              <a:ext cx="348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CH" altLang="fr-FR" sz="1800" b="0">
                  <a:solidFill>
                    <a:schemeClr val="tx1"/>
                  </a:solidFill>
                  <a:latin typeface="Times" panose="02020603050405020304" pitchFamily="18" charset="0"/>
                </a:rPr>
                <a:t>trou</a:t>
              </a:r>
              <a:endParaRPr lang="fr-FR" altLang="fr-FR" sz="18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250" name="Line 21">
              <a:extLst>
                <a:ext uri="{FF2B5EF4-FFF2-40B4-BE49-F238E27FC236}">
                  <a16:creationId xmlns:a16="http://schemas.microsoft.com/office/drawing/2014/main" id="{A9348E13-D0E7-67BF-3982-2CB763439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2568"/>
              <a:ext cx="160" cy="392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12015FB-708B-B1ED-E081-D2497529B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CCD/CMOS  : cellule de base , conversion photon - électron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6739944-4D54-A07E-6A28-B31F5B8398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196975"/>
            <a:ext cx="4059238" cy="5400675"/>
          </a:xfrm>
        </p:spPr>
        <p:txBody>
          <a:bodyPr/>
          <a:lstStyle/>
          <a:p>
            <a:pPr eaLnBrk="1" hangingPunct="1"/>
            <a:r>
              <a:rPr lang="fr-FR" altLang="fr-FR" sz="1800"/>
              <a:t>Cellule de base CMOS</a:t>
            </a:r>
          </a:p>
          <a:p>
            <a:pPr lvl="1" eaLnBrk="1" hangingPunct="1"/>
            <a:r>
              <a:rPr lang="fr-FR" altLang="fr-FR" sz="1800"/>
              <a:t>Jonction pn	</a:t>
            </a:r>
          </a:p>
          <a:p>
            <a:pPr lvl="1" eaLnBrk="1" hangingPunct="1"/>
            <a:endParaRPr lang="fr-FR" altLang="fr-FR" sz="1800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2E9EB8A2-871B-539A-5A71-8E58A25AF15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76813" y="1196975"/>
            <a:ext cx="4059237" cy="5400675"/>
          </a:xfrm>
        </p:spPr>
        <p:txBody>
          <a:bodyPr/>
          <a:lstStyle/>
          <a:p>
            <a:pPr eaLnBrk="1" hangingPunct="1"/>
            <a:r>
              <a:rPr lang="fr-FR" altLang="fr-FR" sz="1800"/>
              <a:t>Cellule de base CCD</a:t>
            </a:r>
          </a:p>
          <a:p>
            <a:pPr lvl="1" eaLnBrk="1" hangingPunct="1"/>
            <a:r>
              <a:rPr lang="fr-FR" altLang="fr-FR" sz="1800"/>
              <a:t>Photogate</a:t>
            </a:r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0D39FD7B-B25A-7213-7477-441B5BA69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650" y="2438400"/>
            <a:ext cx="7048500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4EF7FE3-8EEB-C3C1-0039-F1A0CBCD4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Capteur CCD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1271EB5-5463-E1C8-D349-B2B4F8642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33475"/>
            <a:ext cx="8280400" cy="403225"/>
          </a:xfrm>
        </p:spPr>
        <p:txBody>
          <a:bodyPr/>
          <a:lstStyle/>
          <a:p>
            <a:pPr eaLnBrk="1" hangingPunct="1"/>
            <a:r>
              <a:rPr lang="fr-FR" altLang="fr-FR"/>
              <a:t>Principe :  Cellule de base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C0107473-77A6-B198-3035-24A9B8BCBA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5275" y="1646238"/>
          <a:ext cx="6140450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090416" imgH="1411224" progId="Word.Document.8">
                  <p:embed/>
                </p:oleObj>
              </mc:Choice>
              <mc:Fallback>
                <p:oleObj name="Document" r:id="rId2" imgW="4090416" imgH="141122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1646238"/>
                        <a:ext cx="6140450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>
            <a:extLst>
              <a:ext uri="{FF2B5EF4-FFF2-40B4-BE49-F238E27FC236}">
                <a16:creationId xmlns:a16="http://schemas.microsoft.com/office/drawing/2014/main" id="{516BD2FE-A699-F080-37B6-37743D2A86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6863" y="3665538"/>
          <a:ext cx="6373812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255008" imgH="1380744" progId="Word.Document.8">
                  <p:embed/>
                </p:oleObj>
              </mc:Choice>
              <mc:Fallback>
                <p:oleObj name="Document" r:id="rId4" imgW="4255008" imgH="1380744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3665538"/>
                        <a:ext cx="6373812" cy="206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Line 6">
            <a:extLst>
              <a:ext uri="{FF2B5EF4-FFF2-40B4-BE49-F238E27FC236}">
                <a16:creationId xmlns:a16="http://schemas.microsoft.com/office/drawing/2014/main" id="{85B2FC37-27DE-5B96-76F5-D010FDD34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0000" y="3657600"/>
            <a:ext cx="1092200" cy="939800"/>
          </a:xfrm>
          <a:prstGeom prst="line">
            <a:avLst/>
          </a:prstGeom>
          <a:noFill/>
          <a:ln w="25400">
            <a:solidFill>
              <a:srgbClr val="FF0F1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0E7EAA9E-8603-2C3C-FF02-732052071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3221038"/>
            <a:ext cx="7429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rgbClr val="FF0B51"/>
                </a:solidFill>
                <a:latin typeface="Times" panose="02020603050405020304" pitchFamily="18" charset="0"/>
              </a:rPr>
              <a:t>h</a:t>
            </a:r>
            <a:r>
              <a:rPr lang="fr-FR" altLang="fr-FR" sz="2400" b="0">
                <a:solidFill>
                  <a:srgbClr val="FF0B51"/>
                </a:solidFill>
                <a:latin typeface="Symbol" panose="05050102010706020507" pitchFamily="18" charset="2"/>
              </a:rPr>
              <a:t>n</a:t>
            </a:r>
            <a:endParaRPr lang="fr-FR" altLang="fr-FR" sz="2400" b="0">
              <a:solidFill>
                <a:srgbClr val="FF0B51"/>
              </a:solidFill>
              <a:latin typeface="Times" panose="02020603050405020304" pitchFamily="18" charset="0"/>
            </a:endParaRPr>
          </a:p>
        </p:txBody>
      </p:sp>
      <p:grpSp>
        <p:nvGrpSpPr>
          <p:cNvPr id="13320" name="Group 10">
            <a:extLst>
              <a:ext uri="{FF2B5EF4-FFF2-40B4-BE49-F238E27FC236}">
                <a16:creationId xmlns:a16="http://schemas.microsoft.com/office/drawing/2014/main" id="{8F45EBDB-6816-A99A-EB1F-1DE70058A6C9}"/>
              </a:ext>
            </a:extLst>
          </p:cNvPr>
          <p:cNvGrpSpPr>
            <a:grpSpLocks/>
          </p:cNvGrpSpPr>
          <p:nvPr/>
        </p:nvGrpSpPr>
        <p:grpSpPr bwMode="auto">
          <a:xfrm>
            <a:off x="2359025" y="4276725"/>
            <a:ext cx="285750" cy="457200"/>
            <a:chOff x="1510" y="3294"/>
            <a:chExt cx="180" cy="288"/>
          </a:xfrm>
        </p:grpSpPr>
        <p:sp>
          <p:nvSpPr>
            <p:cNvPr id="13322" name="Oval 8">
              <a:extLst>
                <a:ext uri="{FF2B5EF4-FFF2-40B4-BE49-F238E27FC236}">
                  <a16:creationId xmlns:a16="http://schemas.microsoft.com/office/drawing/2014/main" id="{6B26460B-6EF8-03D3-5A38-CA1F6B5DF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3400"/>
              <a:ext cx="112" cy="10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CH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3323" name="Text Box 9">
              <a:extLst>
                <a:ext uri="{FF2B5EF4-FFF2-40B4-BE49-F238E27FC236}">
                  <a16:creationId xmlns:a16="http://schemas.microsoft.com/office/drawing/2014/main" id="{A1F5757E-DCA5-2C3B-79C6-FEB52063E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0" y="3294"/>
              <a:ext cx="1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2400" b="0">
                  <a:solidFill>
                    <a:schemeClr val="tx1"/>
                  </a:solidFill>
                  <a:latin typeface="Times" panose="02020603050405020304" pitchFamily="18" charset="0"/>
                </a:rPr>
                <a:t>-</a:t>
              </a:r>
            </a:p>
          </p:txBody>
        </p:sp>
      </p:grpSp>
      <p:sp>
        <p:nvSpPr>
          <p:cNvPr id="13321" name="ZoneTexte 10">
            <a:extLst>
              <a:ext uri="{FF2B5EF4-FFF2-40B4-BE49-F238E27FC236}">
                <a16:creationId xmlns:a16="http://schemas.microsoft.com/office/drawing/2014/main" id="{0177589C-BA4E-B364-E57C-5B3ECE9C5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5803900"/>
            <a:ext cx="74295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400" b="0">
                <a:solidFill>
                  <a:schemeClr val="tx1"/>
                </a:solidFill>
                <a:latin typeface="Times" panose="02020603050405020304" pitchFamily="18" charset="0"/>
              </a:rPr>
              <a:t>Chaque photodétecteur est associée à une capacité qui se charge en fonction de l’illumination. A la fin du temps d’exposition, l’intégration de la charge est bloquée et on peut commencer la lecture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A6126AE-B995-4648-1A1C-13188B04A7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Capteurs d’image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34A63E2-8934-0476-E962-EE1C407839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2400"/>
              <a:t>Historique</a:t>
            </a:r>
          </a:p>
          <a:p>
            <a:pPr marL="3613150" lvl="1" indent="-3079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/>
              <a:t>Fin des années 60:		Premier capteur d’images CMOS</a:t>
            </a:r>
          </a:p>
          <a:p>
            <a:pPr marL="3613150" lvl="1" indent="-3079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/>
              <a:t>1971:	Invention du capteur d’images CCD, Bell Lab., M. F. Tompsett</a:t>
            </a:r>
          </a:p>
          <a:p>
            <a:pPr marL="3613150" lvl="1" indent="-3079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/>
              <a:t>1986-1987:	CCD de haute qualité</a:t>
            </a:r>
          </a:p>
          <a:p>
            <a:pPr marL="3613150" lvl="1" indent="-3079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/>
              <a:t>1994-1995:	Capteur d’images APS (E.Fossum), nouvelles technologies d’intégration CMOS</a:t>
            </a:r>
          </a:p>
          <a:p>
            <a:pPr marL="3613150" lvl="1" indent="-3079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/>
              <a:t>2015:	Sony annonce l’arrêt de la production de CCDs pour le 31 mars 2017.</a:t>
            </a:r>
          </a:p>
          <a:p>
            <a:pPr marL="3613150" lvl="1" indent="-307975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altLang="fr-FR"/>
          </a:p>
          <a:p>
            <a:pPr marL="4324350" lvl="2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endParaRPr lang="fr-FR" altLang="fr-FR" sz="2400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72AE23EF-19B5-5316-41A0-FFA9671C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464050"/>
            <a:ext cx="20193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491606B-DC6C-9414-575A-B2B2CE2EC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Cameras</a:t>
            </a:r>
            <a:endParaRPr lang="fr-FR" altLang="fr-FR"/>
          </a:p>
        </p:txBody>
      </p:sp>
      <p:pic>
        <p:nvPicPr>
          <p:cNvPr id="15363" name="Picture 3">
            <a:extLst>
              <a:ext uri="{FF2B5EF4-FFF2-40B4-BE49-F238E27FC236}">
                <a16:creationId xmlns:a16="http://schemas.microsoft.com/office/drawing/2014/main" id="{86C5DDF9-9490-3FF1-22A8-57F9B7D18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1408113"/>
            <a:ext cx="6848475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54E402E-18D6-326A-22D4-72728E8F3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2600" y="622300"/>
            <a:ext cx="7366000" cy="584200"/>
          </a:xfrm>
        </p:spPr>
        <p:txBody>
          <a:bodyPr/>
          <a:lstStyle/>
          <a:p>
            <a:pPr eaLnBrk="1" hangingPunct="1"/>
            <a:r>
              <a:rPr lang="fr-CH" altLang="fr-FR"/>
              <a:t>CCD Lecture des pixels   </a:t>
            </a:r>
            <a:r>
              <a:rPr lang="fr-CH" altLang="fr-FR" b="0"/>
              <a:t>(analogie du verre d’eau)</a:t>
            </a:r>
            <a:endParaRPr lang="fr-FR" altLang="fr-FR" b="0"/>
          </a:p>
        </p:txBody>
      </p:sp>
      <p:sp>
        <p:nvSpPr>
          <p:cNvPr id="16387" name="Rectangle 6">
            <a:extLst>
              <a:ext uri="{FF2B5EF4-FFF2-40B4-BE49-F238E27FC236}">
                <a16:creationId xmlns:a16="http://schemas.microsoft.com/office/drawing/2014/main" id="{05A17A37-9027-25A2-D78B-21A725E20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1625600"/>
            <a:ext cx="38100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pic>
        <p:nvPicPr>
          <p:cNvPr id="183303" name="Picture 7" descr="im1">
            <a:extLst>
              <a:ext uri="{FF2B5EF4-FFF2-40B4-BE49-F238E27FC236}">
                <a16:creationId xmlns:a16="http://schemas.microsoft.com/office/drawing/2014/main" id="{0F4CB873-526E-BFB6-488D-AD2238212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3" y="2014538"/>
            <a:ext cx="4141787" cy="404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0">
            <a:extLst>
              <a:ext uri="{FF2B5EF4-FFF2-40B4-BE49-F238E27FC236}">
                <a16:creationId xmlns:a16="http://schemas.microsoft.com/office/drawing/2014/main" id="{4FEB4CF5-505C-EFE1-044B-400E784127E6}"/>
              </a:ext>
            </a:extLst>
          </p:cNvPr>
          <p:cNvGrpSpPr>
            <a:grpSpLocks/>
          </p:cNvGrpSpPr>
          <p:nvPr/>
        </p:nvGrpSpPr>
        <p:grpSpPr bwMode="auto">
          <a:xfrm>
            <a:off x="1778000" y="1638300"/>
            <a:ext cx="5740400" cy="4953000"/>
            <a:chOff x="1120" y="1032"/>
            <a:chExt cx="3616" cy="3120"/>
          </a:xfrm>
        </p:grpSpPr>
        <p:sp>
          <p:nvSpPr>
            <p:cNvPr id="16397" name="Rectangle 8">
              <a:extLst>
                <a:ext uri="{FF2B5EF4-FFF2-40B4-BE49-F238E27FC236}">
                  <a16:creationId xmlns:a16="http://schemas.microsoft.com/office/drawing/2014/main" id="{CF857B49-4E6D-3E45-E491-B17FA5891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" y="1032"/>
              <a:ext cx="3616" cy="3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CH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pic>
          <p:nvPicPr>
            <p:cNvPr id="16398" name="Picture 9" descr="im2">
              <a:extLst>
                <a:ext uri="{FF2B5EF4-FFF2-40B4-BE49-F238E27FC236}">
                  <a16:creationId xmlns:a16="http://schemas.microsoft.com/office/drawing/2014/main" id="{E09F626F-0215-8AEC-4F9E-8600B220EB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2" y="1648"/>
              <a:ext cx="2739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83307" name="Picture 11" descr="im3">
            <a:extLst>
              <a:ext uri="{FF2B5EF4-FFF2-40B4-BE49-F238E27FC236}">
                <a16:creationId xmlns:a16="http://schemas.microsoft.com/office/drawing/2014/main" id="{2F365AB8-B040-9860-48F2-368421307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2822575"/>
            <a:ext cx="4186237" cy="265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08" name="Picture 12" descr="im4">
            <a:extLst>
              <a:ext uri="{FF2B5EF4-FFF2-40B4-BE49-F238E27FC236}">
                <a16:creationId xmlns:a16="http://schemas.microsoft.com/office/drawing/2014/main" id="{FE374E51-478A-BFC1-8755-3418E6A0E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84338"/>
            <a:ext cx="4114800" cy="381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09" name="Picture 13" descr="im5">
            <a:extLst>
              <a:ext uri="{FF2B5EF4-FFF2-40B4-BE49-F238E27FC236}">
                <a16:creationId xmlns:a16="http://schemas.microsoft.com/office/drawing/2014/main" id="{28387072-F247-AB7B-A15C-7E36C2E12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75" y="2759075"/>
            <a:ext cx="4132263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10" name="Picture 14" descr="im6">
            <a:extLst>
              <a:ext uri="{FF2B5EF4-FFF2-40B4-BE49-F238E27FC236}">
                <a16:creationId xmlns:a16="http://schemas.microsoft.com/office/drawing/2014/main" id="{A5678A17-5573-59FC-3786-2835A6259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63" y="1701800"/>
            <a:ext cx="4230687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11" name="Picture 15" descr="im7">
            <a:extLst>
              <a:ext uri="{FF2B5EF4-FFF2-40B4-BE49-F238E27FC236}">
                <a16:creationId xmlns:a16="http://schemas.microsoft.com/office/drawing/2014/main" id="{46BE09D1-26B2-5C4A-448E-67F08835A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00" y="1773238"/>
            <a:ext cx="4114800" cy="369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12" name="Picture 16" descr="im8">
            <a:extLst>
              <a:ext uri="{FF2B5EF4-FFF2-40B4-BE49-F238E27FC236}">
                <a16:creationId xmlns:a16="http://schemas.microsoft.com/office/drawing/2014/main" id="{ED0E85C6-0C34-000A-72ED-B7F08061B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200" y="1735138"/>
            <a:ext cx="4087813" cy="379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13" name="Picture 17" descr="im9">
            <a:extLst>
              <a:ext uri="{FF2B5EF4-FFF2-40B4-BE49-F238E27FC236}">
                <a16:creationId xmlns:a16="http://schemas.microsoft.com/office/drawing/2014/main" id="{5FF0926D-DA1E-8AAC-EA73-04A4E91A2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350" y="1654175"/>
            <a:ext cx="43053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re 1">
            <a:extLst>
              <a:ext uri="{FF2B5EF4-FFF2-40B4-BE49-F238E27FC236}">
                <a16:creationId xmlns:a16="http://schemas.microsoft.com/office/drawing/2014/main" id="{AB6BCAB3-03BB-463D-4637-A4359BF6B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CCD collection de photoélectrons</a:t>
            </a:r>
          </a:p>
        </p:txBody>
      </p:sp>
      <p:sp>
        <p:nvSpPr>
          <p:cNvPr id="17411" name="Espace réservé du contenu 2">
            <a:extLst>
              <a:ext uri="{FF2B5EF4-FFF2-40B4-BE49-F238E27FC236}">
                <a16:creationId xmlns:a16="http://schemas.microsoft.com/office/drawing/2014/main" id="{CE723BDC-E783-09CC-2BED-8E8C647EB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Barrières de potentiel</a:t>
            </a:r>
          </a:p>
          <a:p>
            <a:r>
              <a:rPr lang="fr-CH" altLang="fr-FR" i="1"/>
              <a:t>Well capacity</a:t>
            </a:r>
          </a:p>
          <a:p>
            <a:r>
              <a:rPr lang="fr-CH" altLang="fr-FR"/>
              <a:t>Temps d’exposition</a:t>
            </a:r>
          </a:p>
        </p:txBody>
      </p:sp>
      <p:pic>
        <p:nvPicPr>
          <p:cNvPr id="17412" name="Image 3">
            <a:extLst>
              <a:ext uri="{FF2B5EF4-FFF2-40B4-BE49-F238E27FC236}">
                <a16:creationId xmlns:a16="http://schemas.microsoft.com/office/drawing/2014/main" id="{9EC66315-BEBA-13A9-6D2E-891C3A650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8" y="2847975"/>
            <a:ext cx="40894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re 1">
            <a:extLst>
              <a:ext uri="{FF2B5EF4-FFF2-40B4-BE49-F238E27FC236}">
                <a16:creationId xmlns:a16="http://schemas.microsoft.com/office/drawing/2014/main" id="{273FD5AC-0ABC-9C59-2B2A-C438B69E2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CCD: Transfert des charges</a:t>
            </a:r>
          </a:p>
        </p:txBody>
      </p:sp>
      <p:sp>
        <p:nvSpPr>
          <p:cNvPr id="18435" name="Espace réservé du contenu 2">
            <a:extLst>
              <a:ext uri="{FF2B5EF4-FFF2-40B4-BE49-F238E27FC236}">
                <a16:creationId xmlns:a16="http://schemas.microsoft.com/office/drawing/2014/main" id="{DCEBE831-502C-34F0-42A2-D4BB8B00C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Exemple 3-phase CCD</a:t>
            </a:r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endParaRPr lang="fr-CH" altLang="fr-FR"/>
          </a:p>
          <a:p>
            <a:r>
              <a:rPr lang="fr-CH" altLang="fr-FR"/>
              <a:t>Des solutions à 2 ou 4 phases existent aussi</a:t>
            </a:r>
          </a:p>
        </p:txBody>
      </p:sp>
      <p:pic>
        <p:nvPicPr>
          <p:cNvPr id="18436" name="Image 4">
            <a:extLst>
              <a:ext uri="{FF2B5EF4-FFF2-40B4-BE49-F238E27FC236}">
                <a16:creationId xmlns:a16="http://schemas.microsoft.com/office/drawing/2014/main" id="{79178467-C743-67CB-9C32-ADCF9B744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31963"/>
            <a:ext cx="3328988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Image 5">
            <a:extLst>
              <a:ext uri="{FF2B5EF4-FFF2-40B4-BE49-F238E27FC236}">
                <a16:creationId xmlns:a16="http://schemas.microsoft.com/office/drawing/2014/main" id="{4413EB31-1BCD-3AC7-189B-E768AC8E7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2935288"/>
            <a:ext cx="332898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re 1">
            <a:extLst>
              <a:ext uri="{FF2B5EF4-FFF2-40B4-BE49-F238E27FC236}">
                <a16:creationId xmlns:a16="http://schemas.microsoft.com/office/drawing/2014/main" id="{6983EE57-4799-18C5-7BFA-5B0034059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CCD: Readout/Amplification</a:t>
            </a:r>
          </a:p>
        </p:txBody>
      </p:sp>
      <p:sp>
        <p:nvSpPr>
          <p:cNvPr id="19459" name="Espace réservé du contenu 2">
            <a:extLst>
              <a:ext uri="{FF2B5EF4-FFF2-40B4-BE49-F238E27FC236}">
                <a16:creationId xmlns:a16="http://schemas.microsoft.com/office/drawing/2014/main" id="{E87F2958-C36A-6CC2-D278-07162530B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123950"/>
            <a:ext cx="8280400" cy="5400675"/>
          </a:xfrm>
        </p:spPr>
        <p:txBody>
          <a:bodyPr/>
          <a:lstStyle/>
          <a:p>
            <a:r>
              <a:rPr lang="fr-CH" altLang="fr-FR"/>
              <a:t>Floating-difusion readout structure</a:t>
            </a:r>
          </a:p>
        </p:txBody>
      </p:sp>
      <p:pic>
        <p:nvPicPr>
          <p:cNvPr id="19460" name="Image 3">
            <a:extLst>
              <a:ext uri="{FF2B5EF4-FFF2-40B4-BE49-F238E27FC236}">
                <a16:creationId xmlns:a16="http://schemas.microsoft.com/office/drawing/2014/main" id="{C648A281-E2D4-D7BE-691E-ECCE5B283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8" y="1760538"/>
            <a:ext cx="2525712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Image 4">
            <a:extLst>
              <a:ext uri="{FF2B5EF4-FFF2-40B4-BE49-F238E27FC236}">
                <a16:creationId xmlns:a16="http://schemas.microsoft.com/office/drawing/2014/main" id="{A67BDAA4-1FB2-0313-884E-298430DB0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5470525"/>
            <a:ext cx="27559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Image 5">
            <a:extLst>
              <a:ext uri="{FF2B5EF4-FFF2-40B4-BE49-F238E27FC236}">
                <a16:creationId xmlns:a16="http://schemas.microsoft.com/office/drawing/2014/main" id="{7E31DF79-1C6B-0B38-6E0D-0651FA1B2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41513"/>
            <a:ext cx="3462338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ZoneTexte 6">
            <a:extLst>
              <a:ext uri="{FF2B5EF4-FFF2-40B4-BE49-F238E27FC236}">
                <a16:creationId xmlns:a16="http://schemas.microsoft.com/office/drawing/2014/main" id="{D3EC797C-DC0E-F6F5-65C0-9F7B72B1C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5084763"/>
            <a:ext cx="2185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Δ</a:t>
            </a: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V = </a:t>
            </a:r>
            <a:r>
              <a:rPr lang="el-G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Δ</a:t>
            </a: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q/C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AA9C1A0-AC6D-CDD3-806A-A578F3CA3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Caméra CCD</a:t>
            </a:r>
            <a:endParaRPr lang="fr-FR" altLang="fr-FR"/>
          </a:p>
        </p:txBody>
      </p:sp>
      <p:pic>
        <p:nvPicPr>
          <p:cNvPr id="20483" name="Picture 4">
            <a:extLst>
              <a:ext uri="{FF2B5EF4-FFF2-40B4-BE49-F238E27FC236}">
                <a16:creationId xmlns:a16="http://schemas.microsoft.com/office/drawing/2014/main" id="{9AEBE6D0-42D9-2453-4353-DE263A14D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357313"/>
            <a:ext cx="62484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A27128F-6A52-21DF-81F4-A0178932E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CCD (suite)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EAD8F8-D872-5BB4-3C4A-912FF82081B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196975"/>
            <a:ext cx="8280400" cy="43211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600"/>
              <a:t>Le signal est une charge électrique, la lecture se fait de manière sérielle.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600"/>
              <a:t>Architecture possible</a:t>
            </a:r>
          </a:p>
          <a:p>
            <a:pPr eaLnBrk="1" hangingPunct="1">
              <a:lnSpc>
                <a:spcPct val="90000"/>
              </a:lnSpc>
            </a:pPr>
            <a:endParaRPr lang="fr-FR" altLang="fr-FR" sz="16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altLang="fr-FR" sz="1600"/>
          </a:p>
        </p:txBody>
      </p:sp>
      <p:pic>
        <p:nvPicPr>
          <p:cNvPr id="21508" name="Picture 9">
            <a:extLst>
              <a:ext uri="{FF2B5EF4-FFF2-40B4-BE49-F238E27FC236}">
                <a16:creationId xmlns:a16="http://schemas.microsoft.com/office/drawing/2014/main" id="{AA48B967-EEB8-1248-13E9-9C0120F42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3051175"/>
            <a:ext cx="7762875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10">
            <a:extLst>
              <a:ext uri="{FF2B5EF4-FFF2-40B4-BE49-F238E27FC236}">
                <a16:creationId xmlns:a16="http://schemas.microsoft.com/office/drawing/2014/main" id="{B9FE84AF-3610-267C-CF68-E430DC150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689225"/>
            <a:ext cx="1968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Frame transfer</a:t>
            </a:r>
          </a:p>
        </p:txBody>
      </p:sp>
      <p:sp>
        <p:nvSpPr>
          <p:cNvPr id="21510" name="Text Box 11">
            <a:extLst>
              <a:ext uri="{FF2B5EF4-FFF2-40B4-BE49-F238E27FC236}">
                <a16:creationId xmlns:a16="http://schemas.microsoft.com/office/drawing/2014/main" id="{C52FC1C5-DD53-C7E0-A86E-6A1B9DC99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925" y="2752725"/>
            <a:ext cx="2220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Interline transfer</a:t>
            </a: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A6D6C3F2-96E9-C63B-7556-19CD08482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504950"/>
            <a:ext cx="2628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6">
            <a:extLst>
              <a:ext uri="{FF2B5EF4-FFF2-40B4-BE49-F238E27FC236}">
                <a16:creationId xmlns:a16="http://schemas.microsoft.com/office/drawing/2014/main" id="{A58D9684-A451-FDE9-B60E-FEDBD8CC6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Artefacts des CCDs</a:t>
            </a:r>
          </a:p>
        </p:txBody>
      </p:sp>
      <p:pic>
        <p:nvPicPr>
          <p:cNvPr id="22531" name="Espace réservé du contenu 10" descr="Une image contenant extérieur, lumière, nuit, rue&#10;&#10;Description générée automatiquement">
            <a:extLst>
              <a:ext uri="{FF2B5EF4-FFF2-40B4-BE49-F238E27FC236}">
                <a16:creationId xmlns:a16="http://schemas.microsoft.com/office/drawing/2014/main" id="{E0917A87-CC43-B18E-AE9A-868EB55ABF1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2373313"/>
            <a:ext cx="4064000" cy="3048000"/>
          </a:xfrm>
        </p:spPr>
      </p:pic>
      <p:pic>
        <p:nvPicPr>
          <p:cNvPr id="22532" name="Espace réservé du contenu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CC5BE99-E913-D3F0-9E74-0D206AD43B8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86338" y="2379663"/>
            <a:ext cx="4035425" cy="3035300"/>
          </a:xfrm>
        </p:spPr>
      </p:pic>
      <p:sp>
        <p:nvSpPr>
          <p:cNvPr id="22533" name="ZoneTexte 11">
            <a:extLst>
              <a:ext uri="{FF2B5EF4-FFF2-40B4-BE49-F238E27FC236}">
                <a16:creationId xmlns:a16="http://schemas.microsoft.com/office/drawing/2014/main" id="{39DBA327-B6C3-C788-EECB-41B39CC77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238" y="5565775"/>
            <a:ext cx="2790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Streaking/smearing</a:t>
            </a:r>
          </a:p>
        </p:txBody>
      </p:sp>
      <p:sp>
        <p:nvSpPr>
          <p:cNvPr id="22534" name="ZoneTexte 14">
            <a:extLst>
              <a:ext uri="{FF2B5EF4-FFF2-40B4-BE49-F238E27FC236}">
                <a16:creationId xmlns:a16="http://schemas.microsoft.com/office/drawing/2014/main" id="{295AB61E-E163-6FDB-02C6-265C7CE4B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75" y="5565775"/>
            <a:ext cx="1758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Blooming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>
            <a:extLst>
              <a:ext uri="{FF2B5EF4-FFF2-40B4-BE49-F238E27FC236}">
                <a16:creationId xmlns:a16="http://schemas.microsoft.com/office/drawing/2014/main" id="{916049F4-6BC6-F702-C6C8-70FC636FF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CCD: avantages et 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FD4880-D72F-3D69-0052-B360C9D7C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196975"/>
            <a:ext cx="5068888" cy="5400675"/>
          </a:xfrm>
        </p:spPr>
        <p:txBody>
          <a:bodyPr/>
          <a:lstStyle/>
          <a:p>
            <a:pPr>
              <a:defRPr/>
            </a:pPr>
            <a:r>
              <a:rPr lang="fr-CH" b="0" dirty="0">
                <a:solidFill>
                  <a:srgbClr val="00B050"/>
                </a:solidFill>
              </a:rPr>
              <a:t>Haute dynamique (&gt;100dB)</a:t>
            </a:r>
          </a:p>
          <a:p>
            <a:pPr>
              <a:defRPr/>
            </a:pPr>
            <a:r>
              <a:rPr lang="fr-CH" b="0" dirty="0">
                <a:solidFill>
                  <a:srgbClr val="00B050"/>
                </a:solidFill>
              </a:rPr>
              <a:t>Faible bruit (&lt;1e)</a:t>
            </a:r>
          </a:p>
          <a:p>
            <a:pPr>
              <a:defRPr/>
            </a:pPr>
            <a:r>
              <a:rPr lang="fr-CH" b="0" dirty="0">
                <a:solidFill>
                  <a:srgbClr val="00B050"/>
                </a:solidFill>
              </a:rPr>
              <a:t>Faible courant d’obscurité</a:t>
            </a:r>
          </a:p>
          <a:p>
            <a:pPr>
              <a:defRPr/>
            </a:pPr>
            <a:r>
              <a:rPr lang="fr-CH" b="0" dirty="0">
                <a:solidFill>
                  <a:srgbClr val="FFC000"/>
                </a:solidFill>
              </a:rPr>
              <a:t>Résolution limitée</a:t>
            </a:r>
          </a:p>
          <a:p>
            <a:pPr>
              <a:defRPr/>
            </a:pPr>
            <a:r>
              <a:rPr lang="fr-CH" b="0" dirty="0">
                <a:solidFill>
                  <a:srgbClr val="FFC000"/>
                </a:solidFill>
              </a:rPr>
              <a:t>Blooming, </a:t>
            </a:r>
            <a:r>
              <a:rPr lang="fr-CH" b="0" dirty="0" err="1">
                <a:solidFill>
                  <a:srgbClr val="FFC000"/>
                </a:solidFill>
              </a:rPr>
              <a:t>streaking</a:t>
            </a:r>
            <a:r>
              <a:rPr lang="fr-CH" b="0" dirty="0">
                <a:solidFill>
                  <a:srgbClr val="FFC000"/>
                </a:solidFill>
              </a:rPr>
              <a:t>/</a:t>
            </a:r>
            <a:r>
              <a:rPr lang="fr-CH" b="0" dirty="0" err="1">
                <a:solidFill>
                  <a:srgbClr val="FFC000"/>
                </a:solidFill>
              </a:rPr>
              <a:t>smearing</a:t>
            </a:r>
            <a:endParaRPr lang="fr-CH" b="0" dirty="0">
              <a:solidFill>
                <a:srgbClr val="FFC000"/>
              </a:solidFill>
            </a:endParaRPr>
          </a:p>
          <a:p>
            <a:pPr>
              <a:defRPr/>
            </a:pPr>
            <a:r>
              <a:rPr lang="fr-CH" b="0" dirty="0">
                <a:solidFill>
                  <a:srgbClr val="FF0000"/>
                </a:solidFill>
              </a:rPr>
              <a:t>Accès séquentiel: vitesse limitée</a:t>
            </a:r>
          </a:p>
          <a:p>
            <a:pPr>
              <a:defRPr/>
            </a:pPr>
            <a:r>
              <a:rPr lang="fr-CH" b="0" dirty="0">
                <a:solidFill>
                  <a:srgbClr val="FF0000"/>
                </a:solidFill>
              </a:rPr>
              <a:t>Intégration complexe:</a:t>
            </a:r>
          </a:p>
          <a:p>
            <a:pPr lvl="1">
              <a:defRPr/>
            </a:pPr>
            <a:r>
              <a:rPr lang="fr-CH" dirty="0">
                <a:solidFill>
                  <a:srgbClr val="FF0000"/>
                </a:solidFill>
              </a:rPr>
              <a:t>Multiples tensions requises</a:t>
            </a:r>
          </a:p>
          <a:p>
            <a:pPr lvl="1">
              <a:defRPr/>
            </a:pPr>
            <a:r>
              <a:rPr lang="fr-CH" dirty="0">
                <a:solidFill>
                  <a:srgbClr val="FF0000"/>
                </a:solidFill>
              </a:rPr>
              <a:t>≥2 chips nécessaires</a:t>
            </a:r>
          </a:p>
          <a:p>
            <a:pPr>
              <a:defRPr/>
            </a:pPr>
            <a:r>
              <a:rPr lang="fr-CH" b="0" dirty="0">
                <a:solidFill>
                  <a:srgbClr val="FF0000"/>
                </a:solidFill>
              </a:rPr>
              <a:t>Consommation énergie plus élevée</a:t>
            </a:r>
          </a:p>
          <a:p>
            <a:pPr>
              <a:defRPr/>
            </a:pPr>
            <a:r>
              <a:rPr lang="fr-CH" b="0" dirty="0">
                <a:solidFill>
                  <a:srgbClr val="FF0000"/>
                </a:solidFill>
              </a:rPr>
              <a:t>Fabrication plus coûteuse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r-CH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r-CH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fr-CH" b="1" dirty="0"/>
              <a:t>Marché de niche</a:t>
            </a:r>
          </a:p>
          <a:p>
            <a:pPr>
              <a:defRPr/>
            </a:pPr>
            <a:endParaRPr lang="fr-CH" b="0" dirty="0"/>
          </a:p>
          <a:p>
            <a:pPr>
              <a:defRPr/>
            </a:pPr>
            <a:endParaRPr lang="fr-CH" b="0" dirty="0"/>
          </a:p>
          <a:p>
            <a:pPr>
              <a:defRPr/>
            </a:pPr>
            <a:endParaRPr lang="fr-CH" b="0" dirty="0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E24A9146-2269-E11A-05A3-121952075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73"/>
          <a:stretch>
            <a:fillRect/>
          </a:stretch>
        </p:blipFill>
        <p:spPr bwMode="auto">
          <a:xfrm>
            <a:off x="5824538" y="1506538"/>
            <a:ext cx="3251200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BFBB0A6-47B4-510D-ED6D-747FA0851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Cameras</a:t>
            </a:r>
            <a:endParaRPr lang="fr-FR" altLang="fr-FR"/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E6F5D732-610E-B137-AEC5-5C5CFCBC6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1408113"/>
            <a:ext cx="6848475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296C45D-9C29-F924-1F7D-551AA2AE5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Camera CMOS</a:t>
            </a:r>
            <a:endParaRPr lang="fr-FR" altLang="fr-FR"/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05517E7D-09D9-A7AA-B81C-24D81DFCB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1228725"/>
            <a:ext cx="8570912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Rectangle 5">
            <a:extLst>
              <a:ext uri="{FF2B5EF4-FFF2-40B4-BE49-F238E27FC236}">
                <a16:creationId xmlns:a16="http://schemas.microsoft.com/office/drawing/2014/main" id="{6C161AF8-5CA3-C2B7-1A6C-C68E04669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473700"/>
            <a:ext cx="2578100" cy="711200"/>
          </a:xfrm>
          <a:prstGeom prst="rect">
            <a:avLst/>
          </a:prstGeom>
          <a:solidFill>
            <a:srgbClr val="99FFCC"/>
          </a:solidFill>
          <a:ln w="9525">
            <a:solidFill>
              <a:srgbClr val="E0FFD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648EA39-38FE-7249-8EEA-6342EC87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692150"/>
            <a:ext cx="8640762" cy="431800"/>
          </a:xfrm>
        </p:spPr>
        <p:txBody>
          <a:bodyPr/>
          <a:lstStyle/>
          <a:p>
            <a:pPr eaLnBrk="1" hangingPunct="1"/>
            <a:r>
              <a:rPr lang="fr-FR" altLang="fr-FR"/>
              <a:t>CMOS principe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F22FF8A-8BF7-32EF-2839-8B09A8D43C2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181100"/>
            <a:ext cx="8153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600"/>
              <a:t>Photodiode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Équivalent à une source de courant commandée par une puissance optique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On utilise ce courant pour charger une capacité</a:t>
            </a:r>
          </a:p>
        </p:txBody>
      </p:sp>
      <p:pic>
        <p:nvPicPr>
          <p:cNvPr id="26628" name="Picture 11">
            <a:extLst>
              <a:ext uri="{FF2B5EF4-FFF2-40B4-BE49-F238E27FC236}">
                <a16:creationId xmlns:a16="http://schemas.microsoft.com/office/drawing/2014/main" id="{C3055B97-7F4A-1A35-0DCC-53C9F02B5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46413"/>
            <a:ext cx="3913188" cy="272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Image 2">
            <a:extLst>
              <a:ext uri="{FF2B5EF4-FFF2-40B4-BE49-F238E27FC236}">
                <a16:creationId xmlns:a16="http://schemas.microsoft.com/office/drawing/2014/main" id="{671E3316-03C6-A9FB-1D85-2973FD06C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3333750"/>
            <a:ext cx="2484437" cy="245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5F571BE-7376-E331-906E-783849A45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CMOS adressage</a:t>
            </a:r>
          </a:p>
        </p:txBody>
      </p:sp>
      <p:pic>
        <p:nvPicPr>
          <p:cNvPr id="28675" name="Picture 191">
            <a:extLst>
              <a:ext uri="{FF2B5EF4-FFF2-40B4-BE49-F238E27FC236}">
                <a16:creationId xmlns:a16="http://schemas.microsoft.com/office/drawing/2014/main" id="{DBAA8472-07BE-4F9D-BDE1-220D8D499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644650"/>
            <a:ext cx="8216900" cy="457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Image 3">
            <a:extLst>
              <a:ext uri="{FF2B5EF4-FFF2-40B4-BE49-F238E27FC236}">
                <a16:creationId xmlns:a16="http://schemas.microsoft.com/office/drawing/2014/main" id="{09116AE0-4132-E130-6CBB-FB68BC74D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763" y="3940175"/>
            <a:ext cx="1285875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1">
            <a:extLst>
              <a:ext uri="{FF2B5EF4-FFF2-40B4-BE49-F238E27FC236}">
                <a16:creationId xmlns:a16="http://schemas.microsoft.com/office/drawing/2014/main" id="{9D213188-A419-7B24-FFD5-D30915E87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00" y="3813175"/>
            <a:ext cx="1682750" cy="16621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794A27E-ACAB-D449-4494-F2FB60346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CMOS obturateur (shutter)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2EFF069-8513-057E-DC60-43DF84220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Rolling </a:t>
            </a:r>
            <a:r>
              <a:rPr lang="fr-CH" dirty="0" err="1"/>
              <a:t>shutter</a:t>
            </a:r>
            <a:r>
              <a:rPr lang="fr-CH" dirty="0"/>
              <a:t>: exposition </a:t>
            </a:r>
            <a:r>
              <a:rPr lang="fr-CH" dirty="0" err="1"/>
              <a:t>desynchronisée</a:t>
            </a:r>
            <a:r>
              <a:rPr lang="fr-CH"/>
              <a:t> de chaque pixel </a:t>
            </a:r>
            <a:endParaRPr lang="fr-CH" dirty="0"/>
          </a:p>
          <a:p>
            <a:pPr lvl="1">
              <a:defRPr/>
            </a:pPr>
            <a:r>
              <a:rPr lang="fr-CH" dirty="0"/>
              <a:t>Moins cher (moins de circuiterie par pixel)</a:t>
            </a:r>
          </a:p>
          <a:p>
            <a:pPr lvl="1">
              <a:defRPr/>
            </a:pPr>
            <a:r>
              <a:rPr lang="fr-CH" dirty="0"/>
              <a:t>Cadence plus élevée</a:t>
            </a:r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 lvl="1">
              <a:defRPr/>
            </a:pPr>
            <a:endParaRPr lang="fr-CH" dirty="0"/>
          </a:p>
          <a:p>
            <a:pPr>
              <a:defRPr/>
            </a:pPr>
            <a:r>
              <a:rPr lang="fr-CH" dirty="0"/>
              <a:t>Global </a:t>
            </a:r>
            <a:r>
              <a:rPr lang="fr-CH" dirty="0" err="1"/>
              <a:t>shutter</a:t>
            </a:r>
            <a:r>
              <a:rPr lang="fr-CH" dirty="0"/>
              <a:t>: exposition synchronisée entre pixels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r-CH" dirty="0"/>
          </a:p>
          <a:p>
            <a:pPr lvl="1">
              <a:defRPr/>
            </a:pPr>
            <a:endParaRPr lang="en-US" dirty="0"/>
          </a:p>
        </p:txBody>
      </p:sp>
      <p:pic>
        <p:nvPicPr>
          <p:cNvPr id="29700" name="Picture 2" descr="http://s3files.core77.com/blog/images/2010/08/0sorenragsdale002.jpg">
            <a:extLst>
              <a:ext uri="{FF2B5EF4-FFF2-40B4-BE49-F238E27FC236}">
                <a16:creationId xmlns:a16="http://schemas.microsoft.com/office/drawing/2014/main" id="{D52CCAF6-B0A8-3968-3D61-5A88CE06F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2530475"/>
            <a:ext cx="1825625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6" descr="camion">
            <a:extLst>
              <a:ext uri="{FF2B5EF4-FFF2-40B4-BE49-F238E27FC236}">
                <a16:creationId xmlns:a16="http://schemas.microsoft.com/office/drawing/2014/main" id="{CA4C279A-6457-B009-C2A4-B58134DF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8" b="23180"/>
          <a:stretch>
            <a:fillRect/>
          </a:stretch>
        </p:blipFill>
        <p:spPr bwMode="auto">
          <a:xfrm>
            <a:off x="1497013" y="2765425"/>
            <a:ext cx="4529137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D13543C-7236-F153-DCB0-F5684B2BE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Active Pixel sensor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F216AF7A-789F-ACAF-FAAB-09BFFCABF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1720850"/>
            <a:ext cx="8555037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CD9636F-02CF-3D86-45AF-1958DF653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Active Pixel sensor</a:t>
            </a:r>
          </a:p>
        </p:txBody>
      </p:sp>
      <p:pic>
        <p:nvPicPr>
          <p:cNvPr id="31747" name="Picture 4">
            <a:extLst>
              <a:ext uri="{FF2B5EF4-FFF2-40B4-BE49-F238E27FC236}">
                <a16:creationId xmlns:a16="http://schemas.microsoft.com/office/drawing/2014/main" id="{4A8B8AD2-7B2B-7BF3-1500-7AEC84164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1530350"/>
            <a:ext cx="8674100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re 1">
            <a:extLst>
              <a:ext uri="{FF2B5EF4-FFF2-40B4-BE49-F238E27FC236}">
                <a16:creationId xmlns:a16="http://schemas.microsoft.com/office/drawing/2014/main" id="{47AB16D7-22AD-964A-EE18-EB4E83D41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CMOS: avantages et inconvénients</a:t>
            </a:r>
          </a:p>
        </p:txBody>
      </p:sp>
      <p:sp>
        <p:nvSpPr>
          <p:cNvPr id="33795" name="Espace réservé du contenu 2">
            <a:extLst>
              <a:ext uri="{FF2B5EF4-FFF2-40B4-BE49-F238E27FC236}">
                <a16:creationId xmlns:a16="http://schemas.microsoft.com/office/drawing/2014/main" id="{8431A88B-BB33-7974-C347-5AD85FE39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49" y="1196975"/>
            <a:ext cx="5344067" cy="5400675"/>
          </a:xfrm>
        </p:spPr>
        <p:txBody>
          <a:bodyPr/>
          <a:lstStyle/>
          <a:p>
            <a:r>
              <a:rPr lang="fr-CH" altLang="fr-FR" b="0" dirty="0">
                <a:solidFill>
                  <a:srgbClr val="00B050"/>
                </a:solidFill>
              </a:rPr>
              <a:t>Lecture signal de tension: +vitesse lecture</a:t>
            </a:r>
          </a:p>
          <a:p>
            <a:r>
              <a:rPr lang="fr-CH" altLang="fr-FR" b="0" dirty="0">
                <a:solidFill>
                  <a:srgbClr val="00B050"/>
                </a:solidFill>
              </a:rPr>
              <a:t>Accès aléatoire: +vitesse de lecture</a:t>
            </a:r>
          </a:p>
          <a:p>
            <a:r>
              <a:rPr lang="fr-CH" altLang="fr-FR" b="0" dirty="0">
                <a:solidFill>
                  <a:srgbClr val="00B050"/>
                </a:solidFill>
              </a:rPr>
              <a:t>Multiples sorties (</a:t>
            </a:r>
            <a:r>
              <a:rPr lang="fr-CH" altLang="fr-FR" b="0" i="1" dirty="0" err="1">
                <a:solidFill>
                  <a:srgbClr val="00B050"/>
                </a:solidFill>
              </a:rPr>
              <a:t>taps</a:t>
            </a:r>
            <a:r>
              <a:rPr lang="fr-CH" altLang="fr-FR" b="0" dirty="0">
                <a:solidFill>
                  <a:srgbClr val="00B050"/>
                </a:solidFill>
              </a:rPr>
              <a:t>): +vitesse lecture</a:t>
            </a:r>
          </a:p>
          <a:p>
            <a:r>
              <a:rPr lang="fr-CH" altLang="fr-FR" b="0" dirty="0">
                <a:solidFill>
                  <a:srgbClr val="00B050"/>
                </a:solidFill>
              </a:rPr>
              <a:t>Résolution image élevée</a:t>
            </a:r>
          </a:p>
          <a:p>
            <a:r>
              <a:rPr lang="fr-CH" altLang="fr-FR" b="0" dirty="0">
                <a:solidFill>
                  <a:srgbClr val="00B050"/>
                </a:solidFill>
              </a:rPr>
              <a:t>Intégration simplifiée: single-chip</a:t>
            </a:r>
          </a:p>
          <a:p>
            <a:r>
              <a:rPr lang="fr-CH" altLang="fr-FR" b="0" dirty="0">
                <a:solidFill>
                  <a:srgbClr val="00B050"/>
                </a:solidFill>
              </a:rPr>
              <a:t>Coût fabrication réduit </a:t>
            </a:r>
          </a:p>
          <a:p>
            <a:r>
              <a:rPr lang="fr-CH" altLang="fr-FR" b="0" dirty="0">
                <a:solidFill>
                  <a:srgbClr val="00B050"/>
                </a:solidFill>
              </a:rPr>
              <a:t>Consommation énergie plus faible</a:t>
            </a:r>
          </a:p>
          <a:p>
            <a:r>
              <a:rPr lang="fr-CH" altLang="fr-FR" b="0" dirty="0">
                <a:solidFill>
                  <a:srgbClr val="00B050"/>
                </a:solidFill>
              </a:rPr>
              <a:t>No blooming, no </a:t>
            </a:r>
            <a:r>
              <a:rPr lang="fr-CH" altLang="fr-FR" b="0" dirty="0" err="1">
                <a:solidFill>
                  <a:srgbClr val="00B050"/>
                </a:solidFill>
              </a:rPr>
              <a:t>streaking</a:t>
            </a:r>
            <a:endParaRPr lang="fr-CH" altLang="fr-FR" b="0" dirty="0">
              <a:solidFill>
                <a:srgbClr val="00B050"/>
              </a:solidFill>
            </a:endParaRPr>
          </a:p>
          <a:p>
            <a:endParaRPr lang="fr-CH" altLang="fr-FR" b="0" dirty="0">
              <a:solidFill>
                <a:srgbClr val="00B050"/>
              </a:solidFill>
            </a:endParaRPr>
          </a:p>
          <a:p>
            <a:r>
              <a:rPr lang="fr-CH" altLang="fr-FR" b="0" dirty="0">
                <a:solidFill>
                  <a:srgbClr val="FFC000"/>
                </a:solidFill>
              </a:rPr>
              <a:t>Bruit fixe (FPN) </a:t>
            </a:r>
            <a:r>
              <a:rPr lang="fr-CH" altLang="fr-FR" b="0" dirty="0">
                <a:solidFill>
                  <a:srgbClr val="FFC000"/>
                </a:solidFill>
                <a:sym typeface="Wingdings" panose="05000000000000000000" pitchFamily="2" charset="2"/>
              </a:rPr>
              <a:t> calibration</a:t>
            </a:r>
          </a:p>
          <a:p>
            <a:r>
              <a:rPr lang="fr-CH" altLang="fr-FR" b="0" dirty="0">
                <a:solidFill>
                  <a:srgbClr val="FFC000"/>
                </a:solidFill>
                <a:sym typeface="Wingdings" panose="05000000000000000000" pitchFamily="2" charset="2"/>
              </a:rPr>
              <a:t>Rolling </a:t>
            </a:r>
            <a:r>
              <a:rPr lang="fr-CH" altLang="fr-FR" b="0" dirty="0" err="1">
                <a:solidFill>
                  <a:srgbClr val="FFC000"/>
                </a:solidFill>
                <a:sym typeface="Wingdings" panose="05000000000000000000" pitchFamily="2" charset="2"/>
              </a:rPr>
              <a:t>shutter</a:t>
            </a:r>
            <a:r>
              <a:rPr lang="fr-CH" altLang="fr-FR" b="0" dirty="0">
                <a:solidFill>
                  <a:srgbClr val="FFC000"/>
                </a:solidFill>
                <a:sym typeface="Wingdings" panose="05000000000000000000" pitchFamily="2" charset="2"/>
              </a:rPr>
              <a:t>  </a:t>
            </a:r>
            <a:r>
              <a:rPr lang="fr-CH" altLang="fr-FR" b="0" dirty="0">
                <a:solidFill>
                  <a:srgbClr val="00B050"/>
                </a:solidFill>
                <a:sym typeface="Wingdings" panose="05000000000000000000" pitchFamily="2" charset="2"/>
              </a:rPr>
              <a:t>global </a:t>
            </a:r>
            <a:r>
              <a:rPr lang="fr-CH" altLang="fr-FR" b="0" dirty="0" err="1">
                <a:solidFill>
                  <a:srgbClr val="00B050"/>
                </a:solidFill>
                <a:sym typeface="Wingdings" panose="05000000000000000000" pitchFamily="2" charset="2"/>
              </a:rPr>
              <a:t>shutter</a:t>
            </a:r>
            <a:endParaRPr lang="fr-CH" altLang="fr-FR" b="0" dirty="0">
              <a:solidFill>
                <a:srgbClr val="00B050"/>
              </a:solidFill>
            </a:endParaRPr>
          </a:p>
          <a:p>
            <a:r>
              <a:rPr lang="fr-CH" altLang="fr-FR" b="0" dirty="0">
                <a:solidFill>
                  <a:srgbClr val="FF0F12"/>
                </a:solidFill>
              </a:rPr>
              <a:t>Courant d’obscurité (thermique)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fr-CH" altLang="fr-FR" dirty="0"/>
          </a:p>
          <a:p>
            <a:pPr marL="457200" lvl="1" indent="0">
              <a:buFont typeface="Wingdings" panose="05000000000000000000" pitchFamily="2" charset="2"/>
              <a:buNone/>
            </a:pPr>
            <a:endParaRPr lang="fr-CH" altLang="fr-FR" dirty="0"/>
          </a:p>
          <a:p>
            <a:endParaRPr lang="fr-CH" altLang="fr-FR" b="0" dirty="0"/>
          </a:p>
          <a:p>
            <a:endParaRPr lang="fr-CH" altLang="fr-FR" b="0" dirty="0"/>
          </a:p>
          <a:p>
            <a:endParaRPr lang="fr-CH" altLang="fr-FR" b="0" dirty="0"/>
          </a:p>
        </p:txBody>
      </p:sp>
      <p:pic>
        <p:nvPicPr>
          <p:cNvPr id="33796" name="Image 1">
            <a:extLst>
              <a:ext uri="{FF2B5EF4-FFF2-40B4-BE49-F238E27FC236}">
                <a16:creationId xmlns:a16="http://schemas.microsoft.com/office/drawing/2014/main" id="{90575959-C511-9D54-705A-6122867D9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825" y="2097088"/>
            <a:ext cx="2890838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Image 6" descr="CanonEOS5D.jpg">
            <a:extLst>
              <a:ext uri="{FF2B5EF4-FFF2-40B4-BE49-F238E27FC236}">
                <a16:creationId xmlns:a16="http://schemas.microsoft.com/office/drawing/2014/main" id="{FD77A800-DC54-41B5-1C44-94D9A6984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150" y="5327650"/>
            <a:ext cx="1768475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2">
            <a:extLst>
              <a:ext uri="{FF2B5EF4-FFF2-40B4-BE49-F238E27FC236}">
                <a16:creationId xmlns:a16="http://schemas.microsoft.com/office/drawing/2014/main" id="{0B545797-011B-C440-E0DB-8CD1C6BD4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 sz="1800"/>
              <a:t>Caméra CMOS du commerce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2C0DA8C-D6B6-CFC7-D66A-CD401955E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9911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altLang="fr-FR" sz="1600" dirty="0"/>
              <a:t>Webcams, Téléphones portables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fr-FR" altLang="fr-FR" sz="1600" dirty="0"/>
              <a:t>Low-cost </a:t>
            </a:r>
            <a:r>
              <a:rPr lang="fr-FR" altLang="fr-FR" sz="1600" dirty="0" err="1"/>
              <a:t>sensors</a:t>
            </a: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fr-FR" altLang="fr-FR" sz="1600" dirty="0"/>
              <a:t>Capteurs « intelligents » CMOS souris :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fr-FR" altLang="fr-FR" sz="1600" dirty="0"/>
              <a:t>permet l’intégration d’une unité de traitement de signal « on chip »</a:t>
            </a:r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fr-FR" altLang="fr-FR" sz="1600" dirty="0"/>
              <a:t>Caméras industrielles</a:t>
            </a:r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fr-FR" altLang="fr-FR" sz="1600" dirty="0"/>
              <a:t>Appareil </a:t>
            </a:r>
            <a:r>
              <a:rPr lang="fr-FR" altLang="fr-FR" sz="1600" dirty="0" err="1"/>
              <a:t>photonumérique</a:t>
            </a:r>
            <a:r>
              <a:rPr lang="fr-FR" altLang="fr-FR" sz="1600" dirty="0"/>
              <a:t> CANON EOS 5D, Sony Alpha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</p:txBody>
      </p:sp>
      <p:pic>
        <p:nvPicPr>
          <p:cNvPr id="34821" name="Picture 25" descr="B0000AGRYX">
            <a:hlinkClick r:id="rId4"/>
            <a:extLst>
              <a:ext uri="{FF2B5EF4-FFF2-40B4-BE49-F238E27FC236}">
                <a16:creationId xmlns:a16="http://schemas.microsoft.com/office/drawing/2014/main" id="{94456252-BC9C-ECEB-59E5-8B0794438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836613"/>
            <a:ext cx="788988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AutoShape 8" descr="https://en.ids-imaging.com/tl_files/img/landingpage/usb3_landingpage/CP/ids-usb3-ueye-cp-rev2-machine-vision-cameras.jpg">
            <a:extLst>
              <a:ext uri="{FF2B5EF4-FFF2-40B4-BE49-F238E27FC236}">
                <a16:creationId xmlns:a16="http://schemas.microsoft.com/office/drawing/2014/main" id="{AF12AD33-FAD3-DA8D-BF82-DECCEFC31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pic>
        <p:nvPicPr>
          <p:cNvPr id="34823" name="Picture 10" descr="https://en.ids-imaging.com/tl_files/img/landingpage/usb3_landingpage/CP/ids-usb3-ueye-cp-rev2-machine-vision-cameras.jpg">
            <a:extLst>
              <a:ext uri="{FF2B5EF4-FFF2-40B4-BE49-F238E27FC236}">
                <a16:creationId xmlns:a16="http://schemas.microsoft.com/office/drawing/2014/main" id="{1E1DFDA2-D749-A6AB-8FB6-BEDC5A1B9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3054350"/>
            <a:ext cx="24765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8CE9EB9-1E75-DE9A-BA08-D358DE0BE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Paramètres importants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945FF5D-D6CE-CD00-04D2-DA9F1E94D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 sz="1600"/>
              <a:t>Nombre de pixels: 640x480, 768x576, etc…</a:t>
            </a:r>
          </a:p>
          <a:p>
            <a:pPr eaLnBrk="1" hangingPunct="1"/>
            <a:r>
              <a:rPr lang="fr-FR" altLang="fr-FR" sz="1600"/>
              <a:t>Taille des pixels</a:t>
            </a:r>
            <a:r>
              <a:rPr lang="fr-FR" altLang="fr-FR" sz="1600">
                <a:sym typeface="Wingdings" panose="05000000000000000000" pitchFamily="2" charset="2"/>
              </a:rPr>
              <a:t>: (pixel pitch)</a:t>
            </a:r>
            <a:endParaRPr lang="fr-FR" altLang="fr-FR" sz="1600"/>
          </a:p>
          <a:p>
            <a:pPr eaLnBrk="1" hangingPunct="1"/>
            <a:r>
              <a:rPr lang="fr-FR" altLang="fr-FR" sz="1600"/>
              <a:t>Facteur de remplissage</a:t>
            </a:r>
          </a:p>
          <a:p>
            <a:pPr lvl="1" eaLnBrk="1" hangingPunct="1"/>
            <a:r>
              <a:rPr lang="fr-FR" altLang="fr-FR" sz="1600"/>
              <a:t>Surface sensible/surface totale du pixel</a:t>
            </a:r>
          </a:p>
          <a:p>
            <a:pPr lvl="1" eaLnBrk="1" hangingPunct="1"/>
            <a:endParaRPr lang="fr-FR" altLang="fr-FR" sz="1600"/>
          </a:p>
          <a:p>
            <a:pPr lvl="1" eaLnBrk="1" hangingPunct="1"/>
            <a:endParaRPr lang="fr-FR" altLang="fr-FR" sz="1600"/>
          </a:p>
          <a:p>
            <a:pPr lvl="1" eaLnBrk="1" hangingPunct="1"/>
            <a:endParaRPr lang="fr-FR" altLang="fr-FR" sz="1600"/>
          </a:p>
          <a:p>
            <a:pPr lvl="1" eaLnBrk="1" hangingPunct="1"/>
            <a:endParaRPr lang="fr-FR" altLang="fr-FR" sz="1600"/>
          </a:p>
          <a:p>
            <a:pPr eaLnBrk="1" hangingPunct="1"/>
            <a:r>
              <a:rPr lang="fr-FR" altLang="fr-FR" sz="1600"/>
              <a:t>Courant d’obscurité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E57A6861-445B-21D6-09C9-83C4E7596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88" y="2424113"/>
            <a:ext cx="4448175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4ACBF05F-EAE0-6FCC-F6E8-469551368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3986213"/>
            <a:ext cx="640238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B37A5AE-5DAF-14DA-0901-87DD3BF43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Paramètres importants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FDC1919-16F9-9485-E035-C12AC18F2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 sz="1600"/>
              <a:t>Rendement quantique</a:t>
            </a:r>
          </a:p>
          <a:p>
            <a:pPr eaLnBrk="1" hangingPunct="1"/>
            <a:endParaRPr lang="fr-FR" altLang="fr-FR" sz="1600"/>
          </a:p>
          <a:p>
            <a:pPr eaLnBrk="1" hangingPunct="1"/>
            <a:endParaRPr lang="fr-FR" altLang="fr-FR" sz="1600"/>
          </a:p>
          <a:p>
            <a:pPr lvl="1" eaLnBrk="1" hangingPunct="1"/>
            <a:r>
              <a:rPr lang="fr-FR" altLang="fr-FR" sz="1600"/>
              <a:t>Dépend fortement de la couleur (longueur d’onde de la lumière)</a:t>
            </a:r>
          </a:p>
        </p:txBody>
      </p:sp>
      <p:graphicFrame>
        <p:nvGraphicFramePr>
          <p:cNvPr id="37892" name="Object 6">
            <a:extLst>
              <a:ext uri="{FF2B5EF4-FFF2-40B4-BE49-F238E27FC236}">
                <a16:creationId xmlns:a16="http://schemas.microsoft.com/office/drawing/2014/main" id="{69393B1E-9921-40D8-1A44-FF6031884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4113" y="1092200"/>
          <a:ext cx="3708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08400" imgH="787400" progId="Equation.DSMT4">
                  <p:embed/>
                </p:oleObj>
              </mc:Choice>
              <mc:Fallback>
                <p:oleObj name="Equation" r:id="rId2" imgW="3708400" imgH="78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4113" y="1092200"/>
                        <a:ext cx="3708400" cy="787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B3291B85-BEFD-A66D-CBDB-51C2A7062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49" y="2610978"/>
            <a:ext cx="4423840" cy="355487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7DEFB3E-6A56-8AB5-3E4D-CA4D48DFEBE6}"/>
              </a:ext>
            </a:extLst>
          </p:cNvPr>
          <p:cNvSpPr txBox="1"/>
          <p:nvPr/>
        </p:nvSpPr>
        <p:spPr>
          <a:xfrm>
            <a:off x="3596850" y="6320651"/>
            <a:ext cx="1951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EMVA report for </a:t>
            </a:r>
            <a:r>
              <a:rPr lang="fr-CH" sz="1200" dirty="0" err="1"/>
              <a:t>Basler</a:t>
            </a:r>
            <a:r>
              <a:rPr lang="fr-CH" sz="1200" dirty="0"/>
              <a:t> Ace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BFEA0C2-49DB-2E06-D0A9-C228FD111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En resumé  : Marché CCD / CMOS  (en révolution…)</a:t>
            </a:r>
            <a:endParaRPr lang="fr-FR" altLang="fr-FR"/>
          </a:p>
        </p:txBody>
      </p:sp>
      <p:sp>
        <p:nvSpPr>
          <p:cNvPr id="38915" name="Text Box 4">
            <a:extLst>
              <a:ext uri="{FF2B5EF4-FFF2-40B4-BE49-F238E27FC236}">
                <a16:creationId xmlns:a16="http://schemas.microsoft.com/office/drawing/2014/main" id="{254CF15D-FBDD-167B-C17E-7F272B02A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74800"/>
            <a:ext cx="6057900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Marché CMOS : webcam, industriel, appareil de photo, caméscope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Marché CCD : scientifique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pic>
        <p:nvPicPr>
          <p:cNvPr id="38916" name="Image 3" descr="Sony HDR- CX700.jpg">
            <a:extLst>
              <a:ext uri="{FF2B5EF4-FFF2-40B4-BE49-F238E27FC236}">
                <a16:creationId xmlns:a16="http://schemas.microsoft.com/office/drawing/2014/main" id="{A8BED4BC-DD9B-6031-29B8-1774FFFBF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4171950"/>
            <a:ext cx="23241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ZoneTexte 4">
            <a:extLst>
              <a:ext uri="{FF2B5EF4-FFF2-40B4-BE49-F238E27FC236}">
                <a16:creationId xmlns:a16="http://schemas.microsoft.com/office/drawing/2014/main" id="{5BF7C44D-D427-1FA1-295D-ED94B1354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550" y="4171950"/>
            <a:ext cx="2895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400" b="0">
                <a:solidFill>
                  <a:schemeClr val="tx1"/>
                </a:solidFill>
                <a:latin typeface="Times" panose="02020603050405020304" pitchFamily="18" charset="0"/>
              </a:rPr>
              <a:t>Caméscope Sony HDR-CX700.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400" b="0">
                <a:solidFill>
                  <a:schemeClr val="tx1"/>
                </a:solidFill>
                <a:latin typeface="Times" panose="02020603050405020304" pitchFamily="18" charset="0"/>
              </a:rPr>
              <a:t>Capteur CMOS 1/2.8  6 MégaPixels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3CB9644-5F19-44EF-A13D-3DB09B500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Capteurs couleur: buts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D8C5A58-CC2C-3DD1-020B-AD85B2666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8280400" cy="4125913"/>
          </a:xfrm>
        </p:spPr>
        <p:txBody>
          <a:bodyPr/>
          <a:lstStyle/>
          <a:p>
            <a:pPr eaLnBrk="1" hangingPunct="1"/>
            <a:r>
              <a:rPr lang="fr-FR" altLang="fr-FR" sz="1800"/>
              <a:t>Inspection des couleurs</a:t>
            </a:r>
          </a:p>
          <a:p>
            <a:pPr lvl="1" eaLnBrk="1" hangingPunct="1"/>
            <a:r>
              <a:rPr lang="fr-FR" altLang="fr-FR" sz="1800"/>
              <a:t>Bien que bon nombres d’applications n’utilisent que des images en niveau de gris, l’utilisation de la couleur est parfois nécessaire (reconnaissance d’objets de différentes couleurs, etc...)</a:t>
            </a:r>
          </a:p>
          <a:p>
            <a:pPr eaLnBrk="1" hangingPunct="1"/>
            <a:r>
              <a:rPr lang="fr-FR" altLang="fr-FR" sz="1800"/>
              <a:t>Perceptions des couleurs.</a:t>
            </a:r>
          </a:p>
          <a:p>
            <a:pPr lvl="1" eaLnBrk="1" hangingPunct="1"/>
            <a:r>
              <a:rPr lang="fr-FR" altLang="fr-FR" sz="1800"/>
              <a:t>Combinaison de 3 couleurs </a:t>
            </a:r>
            <a:br>
              <a:rPr lang="fr-FR" altLang="fr-FR" sz="1800"/>
            </a:br>
            <a:r>
              <a:rPr lang="fr-FR" altLang="fr-FR" sz="1800"/>
              <a:t>fondamentales</a:t>
            </a:r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B9B93B5D-A8A7-D48F-5FD5-D84FE54A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4078288"/>
            <a:ext cx="2241550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9347F21-17D7-4F57-8E19-9DB128EFF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Capteurs d’images couleurs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D37104F-C16C-6C72-201A-E647210BF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9938" y="1196975"/>
            <a:ext cx="5938837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600"/>
              <a:t>Color Filter Array (CFA)  (dont Bayer filter)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Chaque pixel du CCD est recouvert d’un filtre soit rouge, vert ou bleu. La densité de filtres verts est plus importante, vu la sensibilité spectrale de l’oeil à cette longueur d’onde.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L’image est reconstituée à partir des images rouges, vertes et bleues entrelacées par interpolation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400"/>
              <a:t>Avantages/désavantages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Solution compacte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Perte de la résolution spatiale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Temps de calcul additionnel</a:t>
            </a:r>
          </a:p>
          <a:p>
            <a:pPr eaLnBrk="1" hangingPunct="1">
              <a:lnSpc>
                <a:spcPct val="90000"/>
              </a:lnSpc>
            </a:pPr>
            <a:endParaRPr lang="fr-FR" altLang="fr-FR" sz="1600"/>
          </a:p>
          <a:p>
            <a:pPr eaLnBrk="1" hangingPunct="1">
              <a:lnSpc>
                <a:spcPct val="90000"/>
              </a:lnSpc>
            </a:pPr>
            <a:endParaRPr lang="fr-FR" altLang="fr-FR" sz="1600"/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id="{216B159E-8E6B-235C-7CE1-21D93DEFF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24" y="4071511"/>
            <a:ext cx="2694440" cy="2244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2" descr="Une image contenant capture d’écran, Caractère coloré, ligne, Bleu électrique&#10;&#10;Description générée automatiquement">
            <a:extLst>
              <a:ext uri="{FF2B5EF4-FFF2-40B4-BE49-F238E27FC236}">
                <a16:creationId xmlns:a16="http://schemas.microsoft.com/office/drawing/2014/main" id="{98121F77-0A4B-5DCD-11FD-DC6676BD12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09" t="34634" r="32829" b="19187"/>
          <a:stretch/>
        </p:blipFill>
        <p:spPr>
          <a:xfrm>
            <a:off x="4906538" y="3038727"/>
            <a:ext cx="3092539" cy="32771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49C174B-B4CA-6D12-7955-F2764F0F4904}"/>
              </a:ext>
            </a:extLst>
          </p:cNvPr>
          <p:cNvSpPr txBox="1"/>
          <p:nvPr/>
        </p:nvSpPr>
        <p:spPr>
          <a:xfrm>
            <a:off x="5203361" y="6300872"/>
            <a:ext cx="3010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600" dirty="0"/>
              <a:t>Sony ICX665, 3.45um </a:t>
            </a:r>
            <a:r>
              <a:rPr lang="fr-CH" sz="1600" dirty="0" err="1"/>
              <a:t>pixsize</a:t>
            </a:r>
            <a:endParaRPr lang="fr-CH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1E32CBD-FDA6-E972-BEBA-F1266459D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Capteurs d’images couleurs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AD2C28AC-5287-C3EB-6093-760223AFB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9938" y="1196975"/>
            <a:ext cx="8170862" cy="322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600"/>
              <a:t>3-CCDs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A l’aide d’un prisme et de filtres dichroïques, les 3 images rouges, vertes et bleues sont prises simultanément par trois capteurs indépendants.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600"/>
              <a:t>Avantages/Désavantages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Pas de pertes de résolution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Plus cher et moins compact</a:t>
            </a: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CCB3CABF-5EB9-0221-3361-75CAD9FBD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" y="3457575"/>
            <a:ext cx="3281363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5">
            <a:extLst>
              <a:ext uri="{FF2B5EF4-FFF2-40B4-BE49-F238E27FC236}">
                <a16:creationId xmlns:a16="http://schemas.microsoft.com/office/drawing/2014/main" id="{9EC01747-8643-4CC6-A612-93508FFD4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275" y="3606800"/>
            <a:ext cx="4719638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33ED881-B8BB-8D8F-89BD-DDD3C1313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Capteurs d’images couleurs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9238B44-CA8C-CF13-163A-315762EAF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9938" y="1196975"/>
            <a:ext cx="8170862" cy="3721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600"/>
              <a:t>Utilisation des propriétés d’absorptions du Silicium en fonction de la longueur d’onde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Chaque pixel peut se décomposer en trois couches photosensibles, chacune ayant une différente sensibilité spectrale.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Technologie X3 de chez Foveon</a:t>
            </a:r>
          </a:p>
          <a:p>
            <a:pPr lvl="1" eaLnBrk="1" hangingPunct="1">
              <a:lnSpc>
                <a:spcPct val="90000"/>
              </a:lnSpc>
            </a:pPr>
            <a:endParaRPr lang="fr-FR" altLang="fr-FR" sz="1600"/>
          </a:p>
          <a:p>
            <a:pPr eaLnBrk="1" hangingPunct="1">
              <a:lnSpc>
                <a:spcPct val="90000"/>
              </a:lnSpc>
            </a:pPr>
            <a:r>
              <a:rPr lang="fr-FR" altLang="fr-FR" sz="1600"/>
              <a:t>Avantages/Désavantages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Pas de pertes de résolution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Compacts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Encore peu utilisé...</a:t>
            </a: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A17BC2DE-02BC-9428-6518-E3D5693D3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4251325"/>
            <a:ext cx="6326187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5">
            <a:extLst>
              <a:ext uri="{FF2B5EF4-FFF2-40B4-BE49-F238E27FC236}">
                <a16:creationId xmlns:a16="http://schemas.microsoft.com/office/drawing/2014/main" id="{A5F83427-E2EB-6EC2-29CE-C360A9932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0" y="5799138"/>
            <a:ext cx="276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color CMOS sensors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411F9DB-15BF-6F8B-43FE-25E8F73CB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Représentation des couleurs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6877ABD-7EF4-74BF-90FB-003C6C24F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/>
              <a:t>Système RGB (Red, Green, Blue)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/>
              <a:t>Chaque couleur peut s’exprimer comme une combinaison linéaire de 3 couleurs fondamentales: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/>
              <a:t>Rouge: 	700 nm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/>
              <a:t>Vert:		546.1 nm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/>
              <a:t>Bleu:		435.8 nm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/>
              <a:t>Couleur C: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/>
              <a:t>Pour représenter certaines couleurs, les coefficients r, g et b peuvent être négatifs !</a:t>
            </a:r>
          </a:p>
        </p:txBody>
      </p:sp>
      <p:graphicFrame>
        <p:nvGraphicFramePr>
          <p:cNvPr id="44036" name="Object 4">
            <a:extLst>
              <a:ext uri="{FF2B5EF4-FFF2-40B4-BE49-F238E27FC236}">
                <a16:creationId xmlns:a16="http://schemas.microsoft.com/office/drawing/2014/main" id="{33927E34-B768-3B0C-4EB5-3A7BF15598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75" y="4406900"/>
          <a:ext cx="207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100" imgH="304800" progId="Equation.3">
                  <p:embed/>
                </p:oleObj>
              </mc:Choice>
              <mc:Fallback>
                <p:oleObj name="Equation" r:id="rId2" imgW="2070100" imgH="30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4406900"/>
                        <a:ext cx="2070100" cy="304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7" name="Picture 6" descr="http://www.mathworks.com/help/toolbox/images/color7.gif">
            <a:extLst>
              <a:ext uri="{FF2B5EF4-FFF2-40B4-BE49-F238E27FC236}">
                <a16:creationId xmlns:a16="http://schemas.microsoft.com/office/drawing/2014/main" id="{1472596B-1EFE-D97D-2F98-903C2343B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3848100"/>
            <a:ext cx="3359150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F8337A5-C2B7-E7E7-17C8-A5CA4102F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Représentation HSV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44A2583-4ECE-3FC5-53EE-3AE949810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5953125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800"/>
              <a:t>La couleur d’un pixel : 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fr-FR" altLang="fr-FR" sz="1800"/>
              <a:t>Son intensité (ou luminance) (Value V)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fr-FR" altLang="fr-FR" sz="1800"/>
              <a:t>Sa teinte ou couleur dominante (Hue H)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fr-FR" altLang="fr-FR" sz="1800"/>
              <a:t>Sa pureté ou saturation </a:t>
            </a:r>
            <a:br>
              <a:rPr lang="fr-FR" altLang="fr-FR" sz="1800"/>
            </a:br>
            <a:r>
              <a:rPr lang="fr-FR" altLang="fr-FR" sz="1800"/>
              <a:t>(Saturation S)</a:t>
            </a:r>
          </a:p>
          <a:p>
            <a:pPr marL="819150" lvl="1" eaLnBrk="1" hangingPunct="1">
              <a:lnSpc>
                <a:spcPct val="90000"/>
              </a:lnSpc>
            </a:pPr>
            <a:endParaRPr lang="fr-FR" altLang="fr-FR" sz="1800"/>
          </a:p>
          <a:p>
            <a:pPr marL="819150"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800"/>
              <a:t>	Bien que cette description n’est pas plus complète que le système RGB, elle est plus proche de notre perception visuelle !</a:t>
            </a:r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883D05E4-DD74-3385-35B3-3428D096B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1703388"/>
            <a:ext cx="2346325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BC2A862-3258-6BC6-1788-D35C96E7F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Diagramme de chromaticité</a:t>
            </a:r>
          </a:p>
        </p:txBody>
      </p:sp>
      <p:graphicFrame>
        <p:nvGraphicFramePr>
          <p:cNvPr id="46083" name="Rectangle 3">
            <a:extLst>
              <a:ext uri="{FF2B5EF4-FFF2-40B4-BE49-F238E27FC236}">
                <a16:creationId xmlns:a16="http://schemas.microsoft.com/office/drawing/2014/main" id="{54EE5F24-8388-714C-2B62-1E8420BE0BDA}"/>
              </a:ext>
            </a:extLst>
          </p:cNvPr>
          <p:cNvGraphicFramePr>
            <a:graphicFrameLocks/>
          </p:cNvGraphicFramePr>
          <p:nvPr/>
        </p:nvGraphicFramePr>
        <p:xfrm>
          <a:off x="1143000" y="1397000"/>
          <a:ext cx="6858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Rectangle 3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97000"/>
                        <a:ext cx="6858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Rectangle 4">
            <a:extLst>
              <a:ext uri="{FF2B5EF4-FFF2-40B4-BE49-F238E27FC236}">
                <a16:creationId xmlns:a16="http://schemas.microsoft.com/office/drawing/2014/main" id="{639DF99B-19C3-0C14-DE3B-9533B4764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8280400" cy="5310188"/>
          </a:xfrm>
        </p:spPr>
        <p:txBody>
          <a:bodyPr/>
          <a:lstStyle/>
          <a:p>
            <a:pPr eaLnBrk="1" hangingPunct="1"/>
            <a:r>
              <a:rPr lang="fr-FR" altLang="fr-FR"/>
              <a:t>CIE (1931): y vs x</a:t>
            </a:r>
          </a:p>
        </p:txBody>
      </p:sp>
      <p:pic>
        <p:nvPicPr>
          <p:cNvPr id="46085" name="Picture 5">
            <a:extLst>
              <a:ext uri="{FF2B5EF4-FFF2-40B4-BE49-F238E27FC236}">
                <a16:creationId xmlns:a16="http://schemas.microsoft.com/office/drawing/2014/main" id="{30B01110-E08E-54D0-D948-4EE8DCCA5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2417763"/>
            <a:ext cx="4189413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Text Box 6">
            <a:extLst>
              <a:ext uri="{FF2B5EF4-FFF2-40B4-BE49-F238E27FC236}">
                <a16:creationId xmlns:a16="http://schemas.microsoft.com/office/drawing/2014/main" id="{B5B34563-5CAF-BF06-A8F4-7BB215BB1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2706688"/>
            <a:ext cx="3228975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2100" indent="-29210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fr-FR" altLang="fr-FR" sz="1600" b="0">
                <a:solidFill>
                  <a:schemeClr val="tx1"/>
                </a:solidFill>
                <a:latin typeface="Times" panose="02020603050405020304" pitchFamily="18" charset="0"/>
              </a:rPr>
              <a:t>Les couleurs sur le contour de la courbe ont une pureté idéale (saturation)</a:t>
            </a: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fr-FR" altLang="fr-FR" sz="1600" b="0">
                <a:solidFill>
                  <a:schemeClr val="tx1"/>
                </a:solidFill>
                <a:latin typeface="Times" panose="02020603050405020304" pitchFamily="18" charset="0"/>
              </a:rPr>
              <a:t>Les couleurs de type « pastel » sont à l’intérieur de la courbe.</a:t>
            </a: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fr-FR" altLang="fr-FR" sz="1600" b="0">
                <a:solidFill>
                  <a:schemeClr val="tx1"/>
                </a:solidFill>
                <a:latin typeface="Times" panose="02020603050405020304" pitchFamily="18" charset="0"/>
              </a:rPr>
              <a:t>Le point (1/3, 1/3) est le blanc.</a:t>
            </a: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r>
              <a:rPr lang="fr-FR" altLang="fr-FR" sz="1600" b="0">
                <a:solidFill>
                  <a:schemeClr val="tx1"/>
                </a:solidFill>
                <a:latin typeface="Times" panose="02020603050405020304" pitchFamily="18" charset="0"/>
              </a:rPr>
              <a:t>Longueur d’onde ou couleur dominante: on trace sur le diagramme la droite passant par le point représentant le blanc, et le point représentant la couleur d’intérêt. L’intersection avec le contour nous donne la couleur dominante</a:t>
            </a: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endParaRPr lang="fr-FR" altLang="fr-FR" sz="1600" b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Char char="-"/>
            </a:pPr>
            <a:endParaRPr lang="fr-FR" altLang="fr-FR" sz="16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re 1">
            <a:extLst>
              <a:ext uri="{FF2B5EF4-FFF2-40B4-BE49-F238E27FC236}">
                <a16:creationId xmlns:a16="http://schemas.microsoft.com/office/drawing/2014/main" id="{82DFE61A-D950-0F52-3BDD-B96E988AE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Caméras</a:t>
            </a:r>
            <a:endParaRPr lang="en-US" altLang="fr-FR"/>
          </a:p>
        </p:txBody>
      </p:sp>
      <p:sp>
        <p:nvSpPr>
          <p:cNvPr id="47107" name="Espace réservé du contenu 2">
            <a:extLst>
              <a:ext uri="{FF2B5EF4-FFF2-40B4-BE49-F238E27FC236}">
                <a16:creationId xmlns:a16="http://schemas.microsoft.com/office/drawing/2014/main" id="{F9D1669E-8D9B-6930-E454-988A026BE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Discrétisation du champ de vue (FOV)</a:t>
            </a:r>
            <a:endParaRPr lang="en-US" altLang="fr-FR"/>
          </a:p>
        </p:txBody>
      </p:sp>
      <p:sp>
        <p:nvSpPr>
          <p:cNvPr id="6" name="Text Box 29">
            <a:extLst>
              <a:ext uri="{FF2B5EF4-FFF2-40B4-BE49-F238E27FC236}">
                <a16:creationId xmlns:a16="http://schemas.microsoft.com/office/drawing/2014/main" id="{314399F3-69F7-E00E-6B6F-0A86F4CBE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300" y="4305300"/>
            <a:ext cx="7505700" cy="2308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marL="285750" indent="-285750">
              <a:spcBef>
                <a:spcPct val="50000"/>
              </a:spcBef>
              <a:buClrTx/>
              <a:buSzTx/>
              <a:defRPr/>
            </a:pP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Résolution: plus petite variation mesurable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	                  </a:t>
            </a: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  <a:sym typeface="Wingdings" panose="05000000000000000000" pitchFamily="2" charset="2"/>
              </a:rPr>
              <a:t></a:t>
            </a: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  taille d’un pixel sur l’espace objet ou FOV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Résolution (</a:t>
            </a:r>
            <a:r>
              <a:rPr lang="fr-CH" altLang="fr-FR" sz="1800" b="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Rm</a:t>
            </a: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) = Taille FOV / nb de pixel   (en mm/pixel ou </a:t>
            </a:r>
            <a:r>
              <a:rPr lang="fr-CH" altLang="fr-FR" sz="1800" b="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um</a:t>
            </a: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/pixel) </a:t>
            </a:r>
          </a:p>
          <a:p>
            <a:pPr marL="285750" indent="-285750">
              <a:spcBef>
                <a:spcPct val="50000"/>
              </a:spcBef>
              <a:buClrTx/>
              <a:buSzTx/>
              <a:defRPr/>
            </a:pP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Ne dépend  pas de l’optique !!</a:t>
            </a:r>
          </a:p>
          <a:p>
            <a:pPr marL="285750" indent="-285750">
              <a:spcBef>
                <a:spcPct val="50000"/>
              </a:spcBef>
              <a:buClrTx/>
              <a:buSzTx/>
              <a:defRPr/>
            </a:pP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Il faut calculer </a:t>
            </a:r>
            <a:r>
              <a:rPr lang="fr-CH" altLang="fr-FR" sz="1800" b="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Rm</a:t>
            </a: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 dans les deux axes de la caméras : </a:t>
            </a:r>
            <a:r>
              <a:rPr lang="fr-CH" altLang="fr-FR" sz="1800" b="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ResX</a:t>
            </a: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, </a:t>
            </a:r>
            <a:r>
              <a:rPr lang="fr-CH" altLang="fr-FR" sz="1800" b="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ResY</a:t>
            </a:r>
            <a:r>
              <a:rPr lang="fr-CH" altLang="fr-FR" sz="1800" b="0" dirty="0">
                <a:solidFill>
                  <a:schemeClr val="tx1"/>
                </a:solidFill>
                <a:latin typeface="Arial Unicode MS" panose="020B0604020202020204" pitchFamily="34" charset="-128"/>
              </a:rPr>
              <a:t> ensuite choisir la caméra judicieusement</a:t>
            </a:r>
            <a:endParaRPr lang="fr-FR" altLang="fr-FR" sz="1800" b="0" dirty="0">
              <a:solidFill>
                <a:schemeClr val="tx1"/>
              </a:solidFill>
              <a:latin typeface="Arial Unicode MS" panose="020B0604020202020204" pitchFamily="34" charset="-128"/>
            </a:endParaRPr>
          </a:p>
        </p:txBody>
      </p:sp>
      <p:pic>
        <p:nvPicPr>
          <p:cNvPr id="47109" name="Image 29" descr="Une image contenant motif, carré, capture d’écran, Symétrie&#10;&#10;Description générée automatiquement">
            <a:extLst>
              <a:ext uri="{FF2B5EF4-FFF2-40B4-BE49-F238E27FC236}">
                <a16:creationId xmlns:a16="http://schemas.microsoft.com/office/drawing/2014/main" id="{E74D5CBB-AB72-68F6-2A57-9D87EFAEE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1755775"/>
            <a:ext cx="2554288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10" name="Groupe 42">
            <a:extLst>
              <a:ext uri="{FF2B5EF4-FFF2-40B4-BE49-F238E27FC236}">
                <a16:creationId xmlns:a16="http://schemas.microsoft.com/office/drawing/2014/main" id="{0D0F4E9A-EB07-46C5-F912-C9B35AB45EDF}"/>
              </a:ext>
            </a:extLst>
          </p:cNvPr>
          <p:cNvGrpSpPr>
            <a:grpSpLocks/>
          </p:cNvGrpSpPr>
          <p:nvPr/>
        </p:nvGrpSpPr>
        <p:grpSpPr bwMode="auto">
          <a:xfrm>
            <a:off x="1439863" y="1755775"/>
            <a:ext cx="2574925" cy="2471738"/>
            <a:chOff x="1439208" y="1755654"/>
            <a:chExt cx="2574926" cy="2472220"/>
          </a:xfrm>
        </p:grpSpPr>
        <p:pic>
          <p:nvPicPr>
            <p:cNvPr id="47111" name="Image 2" descr="Une image contenant horloge, cercle, regarder, pièce&#10;&#10;Description générée automatiquement">
              <a:extLst>
                <a:ext uri="{FF2B5EF4-FFF2-40B4-BE49-F238E27FC236}">
                  <a16:creationId xmlns:a16="http://schemas.microsoft.com/office/drawing/2014/main" id="{F84CB355-4267-5978-859C-E99D405C5F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208" y="1765301"/>
              <a:ext cx="2554606" cy="2443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7112" name="Connecteur droit 6">
              <a:extLst>
                <a:ext uri="{FF2B5EF4-FFF2-40B4-BE49-F238E27FC236}">
                  <a16:creationId xmlns:a16="http://schemas.microsoft.com/office/drawing/2014/main" id="{493D03F2-85E9-6F74-4C51-9ED89D2E77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08881" y="1765300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3" name="Connecteur droit 8">
              <a:extLst>
                <a:ext uri="{FF2B5EF4-FFF2-40B4-BE49-F238E27FC236}">
                  <a16:creationId xmlns:a16="http://schemas.microsoft.com/office/drawing/2014/main" id="{1D98C926-84AD-D342-355E-E1F68D091E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61281" y="1778800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4" name="Connecteur droit 9">
              <a:extLst>
                <a:ext uri="{FF2B5EF4-FFF2-40B4-BE49-F238E27FC236}">
                  <a16:creationId xmlns:a16="http://schemas.microsoft.com/office/drawing/2014/main" id="{0A89A0FF-63B3-12C0-9B40-2EF07FC4C9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13681" y="1769153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5" name="Connecteur droit 10">
              <a:extLst>
                <a:ext uri="{FF2B5EF4-FFF2-40B4-BE49-F238E27FC236}">
                  <a16:creationId xmlns:a16="http://schemas.microsoft.com/office/drawing/2014/main" id="{515262A1-9621-8FA1-3581-D6E781786B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66081" y="1771080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6" name="Connecteur droit 11">
              <a:extLst>
                <a:ext uri="{FF2B5EF4-FFF2-40B4-BE49-F238E27FC236}">
                  <a16:creationId xmlns:a16="http://schemas.microsoft.com/office/drawing/2014/main" id="{DAA6F743-6466-2BD0-09CB-9E669D2C44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2693" y="1755654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7" name="Connecteur droit 12">
              <a:extLst>
                <a:ext uri="{FF2B5EF4-FFF2-40B4-BE49-F238E27FC236}">
                  <a16:creationId xmlns:a16="http://schemas.microsoft.com/office/drawing/2014/main" id="{AC2AA6CA-DF6A-F6AB-6D06-27E41D8225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5093" y="1769154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8" name="Connecteur droit 13">
              <a:extLst>
                <a:ext uri="{FF2B5EF4-FFF2-40B4-BE49-F238E27FC236}">
                  <a16:creationId xmlns:a16="http://schemas.microsoft.com/office/drawing/2014/main" id="{B55107CB-DBAA-F08D-6496-E9AA386909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17493" y="1759507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19" name="Connecteur droit 14">
              <a:extLst>
                <a:ext uri="{FF2B5EF4-FFF2-40B4-BE49-F238E27FC236}">
                  <a16:creationId xmlns:a16="http://schemas.microsoft.com/office/drawing/2014/main" id="{2FE3023A-D338-1747-8EE0-23D94F7BF5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69893" y="1761434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0" name="Connecteur droit 15">
              <a:extLst>
                <a:ext uri="{FF2B5EF4-FFF2-40B4-BE49-F238E27FC236}">
                  <a16:creationId xmlns:a16="http://schemas.microsoft.com/office/drawing/2014/main" id="{A61D3134-2172-FA7B-68FC-8F7E34D039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1229" y="1769154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1" name="Connecteur droit 16">
              <a:extLst>
                <a:ext uri="{FF2B5EF4-FFF2-40B4-BE49-F238E27FC236}">
                  <a16:creationId xmlns:a16="http://schemas.microsoft.com/office/drawing/2014/main" id="{6136C461-64AD-E2BC-CF33-802CB407BA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03629" y="1782654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2" name="Connecteur droit 17">
              <a:extLst>
                <a:ext uri="{FF2B5EF4-FFF2-40B4-BE49-F238E27FC236}">
                  <a16:creationId xmlns:a16="http://schemas.microsoft.com/office/drawing/2014/main" id="{0B9655C1-DEA1-5E48-EFFE-603A2C0DE5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56029" y="1773007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3" name="Connecteur droit 18">
              <a:extLst>
                <a:ext uri="{FF2B5EF4-FFF2-40B4-BE49-F238E27FC236}">
                  <a16:creationId xmlns:a16="http://schemas.microsoft.com/office/drawing/2014/main" id="{2B6681A6-637A-7F8E-2C5B-DEE40F24A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08429" y="1774934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4" name="Connecteur droit 19">
              <a:extLst>
                <a:ext uri="{FF2B5EF4-FFF2-40B4-BE49-F238E27FC236}">
                  <a16:creationId xmlns:a16="http://schemas.microsoft.com/office/drawing/2014/main" id="{714974CD-5699-331B-822F-8CA2FC3C35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66619" y="1771079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5" name="Connecteur droit 20">
              <a:extLst>
                <a:ext uri="{FF2B5EF4-FFF2-40B4-BE49-F238E27FC236}">
                  <a16:creationId xmlns:a16="http://schemas.microsoft.com/office/drawing/2014/main" id="{B98F6FF9-AC9B-62A8-2AE8-75B405B25D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19019" y="1784579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6" name="Connecteur droit 21">
              <a:extLst>
                <a:ext uri="{FF2B5EF4-FFF2-40B4-BE49-F238E27FC236}">
                  <a16:creationId xmlns:a16="http://schemas.microsoft.com/office/drawing/2014/main" id="{860A4D89-3CCD-251E-90DB-5E0D1F4682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71419" y="1774932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7" name="Connecteur droit 22">
              <a:extLst>
                <a:ext uri="{FF2B5EF4-FFF2-40B4-BE49-F238E27FC236}">
                  <a16:creationId xmlns:a16="http://schemas.microsoft.com/office/drawing/2014/main" id="{9E265BF1-84B1-8428-A304-C6507584F0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23819" y="1776859"/>
              <a:ext cx="0" cy="244329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8" name="Connecteur droit 24">
              <a:extLst>
                <a:ext uri="{FF2B5EF4-FFF2-40B4-BE49-F238E27FC236}">
                  <a16:creationId xmlns:a16="http://schemas.microsoft.com/office/drawing/2014/main" id="{DDDFB7D8-32BF-EECA-7971-7808B1A5EB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39208" y="19100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29" name="Connecteur droit 25">
              <a:extLst>
                <a:ext uri="{FF2B5EF4-FFF2-40B4-BE49-F238E27FC236}">
                  <a16:creationId xmlns:a16="http://schemas.microsoft.com/office/drawing/2014/main" id="{9128FBC3-2666-8E0D-51DF-64E686B998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20624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0" name="Connecteur droit 26">
              <a:extLst>
                <a:ext uri="{FF2B5EF4-FFF2-40B4-BE49-F238E27FC236}">
                  <a16:creationId xmlns:a16="http://schemas.microsoft.com/office/drawing/2014/main" id="{4AF2AA8C-BA80-C421-7F15-8CE99CC072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22148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1" name="Connecteur droit 27">
              <a:extLst>
                <a:ext uri="{FF2B5EF4-FFF2-40B4-BE49-F238E27FC236}">
                  <a16:creationId xmlns:a16="http://schemas.microsoft.com/office/drawing/2014/main" id="{17EB9FC1-A11A-6123-4FF3-54C423B8D3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39208" y="23672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2" name="Connecteur droit 30">
              <a:extLst>
                <a:ext uri="{FF2B5EF4-FFF2-40B4-BE49-F238E27FC236}">
                  <a16:creationId xmlns:a16="http://schemas.microsoft.com/office/drawing/2014/main" id="{BE2A6ADD-43DC-372C-67A6-630730D72C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25196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3" name="Connecteur droit 31">
              <a:extLst>
                <a:ext uri="{FF2B5EF4-FFF2-40B4-BE49-F238E27FC236}">
                  <a16:creationId xmlns:a16="http://schemas.microsoft.com/office/drawing/2014/main" id="{32B232C5-0A80-33D2-1CE7-9F4C6327FD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59528" y="26720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4" name="Connecteur droit 32">
              <a:extLst>
                <a:ext uri="{FF2B5EF4-FFF2-40B4-BE49-F238E27FC236}">
                  <a16:creationId xmlns:a16="http://schemas.microsoft.com/office/drawing/2014/main" id="{87A19A4F-99C9-2E7B-8387-58FB01792E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59528" y="28244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5" name="Connecteur droit 33">
              <a:extLst>
                <a:ext uri="{FF2B5EF4-FFF2-40B4-BE49-F238E27FC236}">
                  <a16:creationId xmlns:a16="http://schemas.microsoft.com/office/drawing/2014/main" id="{9BBFA14C-DB00-54FA-B092-D233034F7A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297688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6" name="Connecteur droit 34">
              <a:extLst>
                <a:ext uri="{FF2B5EF4-FFF2-40B4-BE49-F238E27FC236}">
                  <a16:creationId xmlns:a16="http://schemas.microsoft.com/office/drawing/2014/main" id="{2AC1895C-8F93-583D-3171-8D1C02EE99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39208" y="31496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7" name="Connecteur droit 35">
              <a:extLst>
                <a:ext uri="{FF2B5EF4-FFF2-40B4-BE49-F238E27FC236}">
                  <a16:creationId xmlns:a16="http://schemas.microsoft.com/office/drawing/2014/main" id="{B52C9614-4560-92A0-221B-BCF32385DA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33020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8" name="Connecteur droit 36">
              <a:extLst>
                <a:ext uri="{FF2B5EF4-FFF2-40B4-BE49-F238E27FC236}">
                  <a16:creationId xmlns:a16="http://schemas.microsoft.com/office/drawing/2014/main" id="{E6583C21-F292-10E7-2D81-7974420D71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34544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39" name="Connecteur droit 37">
              <a:extLst>
                <a:ext uri="{FF2B5EF4-FFF2-40B4-BE49-F238E27FC236}">
                  <a16:creationId xmlns:a16="http://schemas.microsoft.com/office/drawing/2014/main" id="{D5281416-27A8-D466-BAEB-3F654ACF7F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39208" y="36068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40" name="Connecteur droit 38">
              <a:extLst>
                <a:ext uri="{FF2B5EF4-FFF2-40B4-BE49-F238E27FC236}">
                  <a16:creationId xmlns:a16="http://schemas.microsoft.com/office/drawing/2014/main" id="{D5CC99C1-C1B5-6271-4D94-26D33005D2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37592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41" name="Connecteur droit 39">
              <a:extLst>
                <a:ext uri="{FF2B5EF4-FFF2-40B4-BE49-F238E27FC236}">
                  <a16:creationId xmlns:a16="http://schemas.microsoft.com/office/drawing/2014/main" id="{96973358-B5EC-8DE9-C8DA-04195A722D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59528" y="39116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42" name="Connecteur droit 40">
              <a:extLst>
                <a:ext uri="{FF2B5EF4-FFF2-40B4-BE49-F238E27FC236}">
                  <a16:creationId xmlns:a16="http://schemas.microsoft.com/office/drawing/2014/main" id="{B7F06E06-5031-6B5B-3543-1F185C2038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59528" y="40640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143" name="Connecteur droit 41">
              <a:extLst>
                <a:ext uri="{FF2B5EF4-FFF2-40B4-BE49-F238E27FC236}">
                  <a16:creationId xmlns:a16="http://schemas.microsoft.com/office/drawing/2014/main" id="{E36FA686-3AD0-647E-5569-9AADC99A85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49368" y="4216400"/>
              <a:ext cx="255460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re 1">
            <a:extLst>
              <a:ext uri="{FF2B5EF4-FFF2-40B4-BE49-F238E27FC236}">
                <a16:creationId xmlns:a16="http://schemas.microsoft.com/office/drawing/2014/main" id="{FDC74C4D-D99C-17F3-69E7-9135EC47F7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Caméras</a:t>
            </a:r>
            <a:endParaRPr lang="en-US" altLang="fr-FR"/>
          </a:p>
        </p:txBody>
      </p:sp>
      <p:sp>
        <p:nvSpPr>
          <p:cNvPr id="48131" name="Espace réservé du contenu 2">
            <a:extLst>
              <a:ext uri="{FF2B5EF4-FFF2-40B4-BE49-F238E27FC236}">
                <a16:creationId xmlns:a16="http://schemas.microsoft.com/office/drawing/2014/main" id="{7916A306-3C19-5366-31FE-D0C98657D0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196975"/>
            <a:ext cx="4927600" cy="3133725"/>
          </a:xfrm>
        </p:spPr>
        <p:txBody>
          <a:bodyPr/>
          <a:lstStyle/>
          <a:p>
            <a:r>
              <a:rPr lang="fr-CH" altLang="fr-FR" dirty="0"/>
              <a:t>Si on voulait déterminer la présence d’un perçage, 1 pixel serait trop risqué (bruit)</a:t>
            </a:r>
          </a:p>
          <a:p>
            <a:endParaRPr lang="fr-CH" altLang="fr-FR" dirty="0"/>
          </a:p>
          <a:p>
            <a:r>
              <a:rPr lang="fr-CH" altLang="fr-FR" dirty="0">
                <a:sym typeface="Wingdings" panose="05000000000000000000" pitchFamily="2" charset="2"/>
              </a:rPr>
              <a:t> «Plus petit défaut» &gt;= 2 pixels</a:t>
            </a:r>
          </a:p>
          <a:p>
            <a:endParaRPr lang="fr-CH" altLang="fr-FR" dirty="0">
              <a:sym typeface="Wingdings" panose="05000000000000000000" pitchFamily="2" charset="2"/>
            </a:endParaRPr>
          </a:p>
          <a:p>
            <a:r>
              <a:rPr lang="fr-CH" altLang="fr-FR" dirty="0">
                <a:sym typeface="Wingdings" panose="05000000000000000000" pitchFamily="2" charset="2"/>
              </a:rPr>
              <a:t>Ainsi le choix de la résolution de la caméra est donné par le plus petit détail (PPD) à détecter</a:t>
            </a:r>
          </a:p>
          <a:p>
            <a:endParaRPr lang="fr-CH" altLang="fr-FR" dirty="0">
              <a:sym typeface="Wingdings" panose="05000000000000000000" pitchFamily="2" charset="2"/>
            </a:endParaRPr>
          </a:p>
          <a:p>
            <a:r>
              <a:rPr lang="fr-CH" altLang="fr-FR" dirty="0">
                <a:sym typeface="Wingdings" panose="05000000000000000000" pitchFamily="2" charset="2"/>
              </a:rPr>
              <a:t>Attention: détecter ≠ mesurer</a:t>
            </a:r>
            <a:endParaRPr lang="en-US" altLang="fr-FR" dirty="0"/>
          </a:p>
        </p:txBody>
      </p:sp>
      <p:pic>
        <p:nvPicPr>
          <p:cNvPr id="48132" name="Image 1" descr="Une image contenant motif, carré, capture d’écran, Symétrie&#10;&#10;Description générée automatiquement">
            <a:extLst>
              <a:ext uri="{FF2B5EF4-FFF2-40B4-BE49-F238E27FC236}">
                <a16:creationId xmlns:a16="http://schemas.microsoft.com/office/drawing/2014/main" id="{56EC50D5-B699-513E-F9A6-7293AC239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1400175"/>
            <a:ext cx="2554287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re 1">
            <a:extLst>
              <a:ext uri="{FF2B5EF4-FFF2-40B4-BE49-F238E27FC236}">
                <a16:creationId xmlns:a16="http://schemas.microsoft.com/office/drawing/2014/main" id="{8F9500E0-278F-9C59-0667-20B6C6749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Caméras</a:t>
            </a:r>
            <a:endParaRPr lang="en-US" altLang="fr-FR"/>
          </a:p>
        </p:txBody>
      </p:sp>
      <p:sp>
        <p:nvSpPr>
          <p:cNvPr id="49155" name="Espace réservé du contenu 2">
            <a:extLst>
              <a:ext uri="{FF2B5EF4-FFF2-40B4-BE49-F238E27FC236}">
                <a16:creationId xmlns:a16="http://schemas.microsoft.com/office/drawing/2014/main" id="{97277180-D6D9-198C-0459-34AF685877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Quelques dimensions standardisées</a:t>
            </a:r>
          </a:p>
          <a:p>
            <a:pPr lvl="1"/>
            <a:r>
              <a:rPr lang="fr-CH" altLang="fr-FR"/>
              <a:t>640 x 480 pixels (VGA)</a:t>
            </a:r>
          </a:p>
          <a:p>
            <a:pPr lvl="1"/>
            <a:r>
              <a:rPr lang="fr-CH" altLang="fr-FR"/>
              <a:t>800 x 600</a:t>
            </a:r>
          </a:p>
          <a:p>
            <a:pPr lvl="1"/>
            <a:r>
              <a:rPr lang="fr-CH" altLang="fr-FR"/>
              <a:t>1280 x 1024</a:t>
            </a:r>
          </a:p>
          <a:p>
            <a:pPr lvl="1"/>
            <a:r>
              <a:rPr lang="fr-CH" altLang="fr-FR"/>
              <a:t>1600 x 1200</a:t>
            </a:r>
          </a:p>
          <a:p>
            <a:pPr lvl="1"/>
            <a:r>
              <a:rPr lang="fr-CH" altLang="fr-FR"/>
              <a:t>1920 x 1080 (HD)</a:t>
            </a:r>
          </a:p>
          <a:p>
            <a:pPr lvl="1"/>
            <a:r>
              <a:rPr lang="fr-CH" altLang="fr-FR"/>
              <a:t>2500 x 2000</a:t>
            </a:r>
          </a:p>
          <a:p>
            <a:pPr lvl="1"/>
            <a:endParaRPr lang="fr-CH" altLang="fr-FR"/>
          </a:p>
          <a:p>
            <a:r>
              <a:rPr lang="fr-CH" altLang="fr-FR"/>
              <a:t>Ensuite plus de règles! </a:t>
            </a:r>
            <a:r>
              <a:rPr lang="fr-CH" altLang="fr-FR">
                <a:sym typeface="Wingdings" panose="05000000000000000000" pitchFamily="2" charset="2"/>
              </a:rPr>
              <a:t> voir le catalogue</a:t>
            </a:r>
          </a:p>
          <a:p>
            <a:pPr lvl="1"/>
            <a:r>
              <a:rPr lang="en-US" altLang="fr-FR"/>
              <a:t>2454 x 2056, </a:t>
            </a:r>
            <a:r>
              <a:rPr lang="fr-CH" altLang="fr-FR">
                <a:sym typeface="Wingdings" panose="05000000000000000000" pitchFamily="2" charset="2"/>
              </a:rPr>
              <a:t>3840 x 2748, 4608 x 3288, 5120 x 5120</a:t>
            </a:r>
          </a:p>
          <a:p>
            <a:pPr lvl="1"/>
            <a:endParaRPr lang="en-US" altLang="fr-FR"/>
          </a:p>
        </p:txBody>
      </p:sp>
      <p:sp>
        <p:nvSpPr>
          <p:cNvPr id="49156" name="ZoneTexte 3">
            <a:extLst>
              <a:ext uri="{FF2B5EF4-FFF2-40B4-BE49-F238E27FC236}">
                <a16:creationId xmlns:a16="http://schemas.microsoft.com/office/drawing/2014/main" id="{267EC156-D82F-0E0D-E0C2-4120780B8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5" y="1841500"/>
            <a:ext cx="2117725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Issues de la TV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Ratio 4:3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re 1">
            <a:extLst>
              <a:ext uri="{FF2B5EF4-FFF2-40B4-BE49-F238E27FC236}">
                <a16:creationId xmlns:a16="http://schemas.microsoft.com/office/drawing/2014/main" id="{C30F6942-375F-066A-57DB-001148ECB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Caméras</a:t>
            </a:r>
            <a:endParaRPr lang="en-US" altLang="fr-FR"/>
          </a:p>
        </p:txBody>
      </p:sp>
      <p:sp>
        <p:nvSpPr>
          <p:cNvPr id="50179" name="Espace réservé du contenu 2">
            <a:extLst>
              <a:ext uri="{FF2B5EF4-FFF2-40B4-BE49-F238E27FC236}">
                <a16:creationId xmlns:a16="http://schemas.microsoft.com/office/drawing/2014/main" id="{7EEB1FAE-4DC9-0296-4C22-762CCDED5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Paramètres guidant la sélection des caméras</a:t>
            </a:r>
          </a:p>
          <a:p>
            <a:pPr lvl="1"/>
            <a:r>
              <a:rPr lang="fr-CH" altLang="fr-FR"/>
              <a:t>Nombre  de pixels: (Image Resolution)</a:t>
            </a:r>
          </a:p>
          <a:p>
            <a:pPr lvl="1"/>
            <a:endParaRPr lang="fr-CH" altLang="fr-FR"/>
          </a:p>
          <a:p>
            <a:pPr lvl="1"/>
            <a:r>
              <a:rPr lang="fr-CH" altLang="fr-FR"/>
              <a:t>Taille du pixel (pixel size, pitch) ou taille de l’imageur </a:t>
            </a:r>
          </a:p>
          <a:p>
            <a:pPr lvl="1"/>
            <a:endParaRPr lang="fr-CH" altLang="fr-FR"/>
          </a:p>
          <a:p>
            <a:r>
              <a:rPr lang="fr-CH" altLang="fr-FR"/>
              <a:t>Selon le </a:t>
            </a:r>
            <a:r>
              <a:rPr lang="fr-CH" altLang="fr-FR" i="1"/>
              <a:t>plus petit défaut (PPD) </a:t>
            </a:r>
            <a:r>
              <a:rPr lang="fr-CH" altLang="fr-FR"/>
              <a:t>à détecter</a:t>
            </a:r>
            <a:endParaRPr lang="en-US" altLang="fr-F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6EF4E95-C15A-ADD8-A9C3-0A5A56832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/>
              <a:t>Taille des capteurs</a:t>
            </a:r>
          </a:p>
        </p:txBody>
      </p:sp>
      <p:pic>
        <p:nvPicPr>
          <p:cNvPr id="51203" name="Picture 5">
            <a:extLst>
              <a:ext uri="{FF2B5EF4-FFF2-40B4-BE49-F238E27FC236}">
                <a16:creationId xmlns:a16="http://schemas.microsoft.com/office/drawing/2014/main" id="{7C614802-9DE8-1746-2B07-F6D64C7C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771650"/>
            <a:ext cx="779145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6">
            <a:extLst>
              <a:ext uri="{FF2B5EF4-FFF2-40B4-BE49-F238E27FC236}">
                <a16:creationId xmlns:a16="http://schemas.microsoft.com/office/drawing/2014/main" id="{81F55CEF-5837-7DB7-5A7E-9BCA225B5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0" y="4089400"/>
            <a:ext cx="26289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ZoneTexte 5">
            <a:extLst>
              <a:ext uri="{FF2B5EF4-FFF2-40B4-BE49-F238E27FC236}">
                <a16:creationId xmlns:a16="http://schemas.microsoft.com/office/drawing/2014/main" id="{9B81AA85-554E-0578-CEBA-930860D97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1219200"/>
            <a:ext cx="2819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b="0">
                <a:solidFill>
                  <a:schemeClr val="tx1"/>
                </a:solidFill>
                <a:latin typeface="Times" panose="02020603050405020304" pitchFamily="18" charset="0"/>
              </a:rPr>
              <a:t>Caméras industrielles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2A00222F-DD9A-F8B2-5F3D-8B92ABF81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/>
              <a:t>Taille des capteurs</a:t>
            </a:r>
          </a:p>
        </p:txBody>
      </p:sp>
      <p:pic>
        <p:nvPicPr>
          <p:cNvPr id="53251" name="Picture 2" descr="File:SensorSizes.svg">
            <a:hlinkClick r:id="rId3"/>
            <a:extLst>
              <a:ext uri="{FF2B5EF4-FFF2-40B4-BE49-F238E27FC236}">
                <a16:creationId xmlns:a16="http://schemas.microsoft.com/office/drawing/2014/main" id="{773B3A8E-88FA-E693-DE2A-50E303FAE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779463"/>
            <a:ext cx="407670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ZoneTexte 5">
            <a:extLst>
              <a:ext uri="{FF2B5EF4-FFF2-40B4-BE49-F238E27FC236}">
                <a16:creationId xmlns:a16="http://schemas.microsoft.com/office/drawing/2014/main" id="{3063FFE3-3208-DEF8-E09F-C7E320C62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1219200"/>
            <a:ext cx="2819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b="0">
                <a:solidFill>
                  <a:schemeClr val="tx1"/>
                </a:solidFill>
                <a:latin typeface="Times" panose="02020603050405020304" pitchFamily="18" charset="0"/>
              </a:rPr>
              <a:t>Formats des appareils photo « grand public »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11EA62E-E041-7714-8710-7E84AE21AE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/>
              <a:t>Taille des capteurs</a:t>
            </a:r>
          </a:p>
        </p:txBody>
      </p:sp>
      <p:sp>
        <p:nvSpPr>
          <p:cNvPr id="55299" name="Espace réservé du contenu 1">
            <a:extLst>
              <a:ext uri="{FF2B5EF4-FFF2-40B4-BE49-F238E27FC236}">
                <a16:creationId xmlns:a16="http://schemas.microsoft.com/office/drawing/2014/main" id="{85EAE9DE-BD01-3808-E9C1-7CA1681CC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H" altLang="fr-FR"/>
              <a:t>Les tailles des capteurs suivent de moins en moins les standards</a:t>
            </a:r>
          </a:p>
          <a:p>
            <a:r>
              <a:rPr lang="fr-CH" altLang="fr-FR"/>
              <a:t>Il est recommandé d’utiliser </a:t>
            </a:r>
          </a:p>
          <a:p>
            <a:pPr lvl="1"/>
            <a:r>
              <a:rPr lang="fr-CH" altLang="fr-FR"/>
              <a:t>Taille capteur = nombre de pixels x taille de pixels</a:t>
            </a:r>
            <a:endParaRPr lang="en-US" altLang="fr-FR"/>
          </a:p>
        </p:txBody>
      </p:sp>
      <p:pic>
        <p:nvPicPr>
          <p:cNvPr id="55300" name="Image 4">
            <a:extLst>
              <a:ext uri="{FF2B5EF4-FFF2-40B4-BE49-F238E27FC236}">
                <a16:creationId xmlns:a16="http://schemas.microsoft.com/office/drawing/2014/main" id="{3C50E6D2-3CCC-A1F6-8BDF-34FFC1AE8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5" y="3425825"/>
            <a:ext cx="52292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Image 5">
            <a:extLst>
              <a:ext uri="{FF2B5EF4-FFF2-40B4-BE49-F238E27FC236}">
                <a16:creationId xmlns:a16="http://schemas.microsoft.com/office/drawing/2014/main" id="{77F87A34-A276-DB65-5A80-0D6EB3375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225" y="5238750"/>
            <a:ext cx="44481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31F7E1C-B92D-5285-976A-02BCECACF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/>
              <a:t>Camera Sensors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0EEB1131-0054-E38D-EF2F-BEA36AAA9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1196975"/>
            <a:ext cx="8280400" cy="1290638"/>
          </a:xfrm>
        </p:spPr>
        <p:txBody>
          <a:bodyPr/>
          <a:lstStyle/>
          <a:p>
            <a:pPr eaLnBrk="1" hangingPunct="1"/>
            <a:r>
              <a:rPr lang="en-US" altLang="fr-FR" sz="1400"/>
              <a:t>Les capteurs des cameras sont fabriqués avec des résolutions image standardisées</a:t>
            </a:r>
          </a:p>
          <a:p>
            <a:pPr eaLnBrk="1" hangingPunct="1"/>
            <a:r>
              <a:rPr lang="en-US" altLang="fr-FR" sz="1400"/>
              <a:t>Exemples de résolutions standard 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>
              <a:buFont typeface="Wingdings" panose="05000000000000000000" pitchFamily="2" charset="2"/>
              <a:buNone/>
            </a:pPr>
            <a:endParaRPr lang="fr-CH" altLang="fr-FR" sz="1400"/>
          </a:p>
          <a:p>
            <a:pPr eaLnBrk="1" hangingPunct="1"/>
            <a:r>
              <a:rPr lang="fr-CH" altLang="fr-FR" sz="1400"/>
              <a:t>Nouveaux capteurs ne suivent plus les standards «TV»:</a:t>
            </a:r>
          </a:p>
          <a:p>
            <a:pPr lvl="1" eaLnBrk="1" hangingPunct="1"/>
            <a:r>
              <a:rPr lang="en-US" altLang="fr-FR" sz="1400"/>
              <a:t>4608 x 3288, 2048 x 2048, 2048 x 1088</a:t>
            </a:r>
          </a:p>
        </p:txBody>
      </p:sp>
      <p:graphicFrame>
        <p:nvGraphicFramePr>
          <p:cNvPr id="141360" name="Group 48">
            <a:extLst>
              <a:ext uri="{FF2B5EF4-FFF2-40B4-BE49-F238E27FC236}">
                <a16:creationId xmlns:a16="http://schemas.microsoft.com/office/drawing/2014/main" id="{51C1D5C8-43D9-A7C6-F510-FAC54D9418C4}"/>
              </a:ext>
            </a:extLst>
          </p:cNvPr>
          <p:cNvGraphicFramePr>
            <a:graphicFrameLocks noGrp="1"/>
          </p:cNvGraphicFramePr>
          <p:nvPr/>
        </p:nvGraphicFramePr>
        <p:xfrm>
          <a:off x="5180013" y="1638300"/>
          <a:ext cx="1782762" cy="2381252"/>
        </p:xfrm>
        <a:graphic>
          <a:graphicData uri="http://schemas.openxmlformats.org/drawingml/2006/table">
            <a:tbl>
              <a:tblPr/>
              <a:tblGrid>
                <a:gridCol w="178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7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Nombre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 de pixels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640 x 480 (VGA)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768 x 576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1280 x 1024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H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1600 x 1200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7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H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1920 x 1080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6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charset="0"/>
                        </a:rPr>
                        <a:t>2500 x 2048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1">
            <a:extLst>
              <a:ext uri="{FF2B5EF4-FFF2-40B4-BE49-F238E27FC236}">
                <a16:creationId xmlns:a16="http://schemas.microsoft.com/office/drawing/2014/main" id="{0BE63878-489B-3DBD-9D70-B0FD7ED66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4381500"/>
            <a:ext cx="8559800" cy="2235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4C27BCE-B588-67DD-5C5A-F0A19D61E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Camera linéaires et cameras matricielles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3DB3E8DC-0DCD-E3AB-5C3D-A3C58E2AA4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117600"/>
            <a:ext cx="2501900" cy="2971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fr-FR" altLang="fr-FR" sz="1400"/>
              <a:t>Camera matricielle</a:t>
            </a:r>
          </a:p>
          <a:p>
            <a:pPr eaLnBrk="1" hangingPunct="1"/>
            <a:r>
              <a:rPr lang="fr-FR" altLang="fr-FR" sz="1400"/>
              <a:t>Scanne une zone de pixels à la fois</a:t>
            </a:r>
          </a:p>
          <a:p>
            <a:pPr lvl="1" eaLnBrk="1" hangingPunct="1"/>
            <a:r>
              <a:rPr lang="fr-FR" altLang="fr-FR" sz="1600"/>
              <a:t>Acquisition plus lente</a:t>
            </a:r>
          </a:p>
          <a:p>
            <a:pPr eaLnBrk="1" hangingPunct="1"/>
            <a:r>
              <a:rPr lang="fr-FR" altLang="fr-FR" sz="1400"/>
              <a:t>Acquière l’image entière</a:t>
            </a:r>
          </a:p>
          <a:p>
            <a:pPr lvl="1" eaLnBrk="1" hangingPunct="1"/>
            <a:r>
              <a:rPr lang="fr-FR" altLang="fr-FR" sz="1600"/>
              <a:t>Moins de process</a:t>
            </a:r>
          </a:p>
          <a:p>
            <a:pPr eaLnBrk="1" hangingPunct="1"/>
            <a:r>
              <a:rPr lang="fr-FR" altLang="fr-FR" sz="1400"/>
              <a:t>Moins cher</a:t>
            </a:r>
          </a:p>
          <a:p>
            <a:pPr eaLnBrk="1" hangingPunct="1"/>
            <a:r>
              <a:rPr lang="fr-FR" altLang="fr-FR" sz="1400"/>
              <a:t>Utilisées dans la plupart des applications</a:t>
            </a: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6D5214EC-33CD-F63E-4906-5743E650BC4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45200" y="1333500"/>
            <a:ext cx="3098800" cy="2590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altLang="fr-FR" sz="1400"/>
              <a:t>Caméras linéaire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400"/>
              <a:t>Scanne une ligne à la fois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Acquisition rapide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400"/>
              <a:t>Il faut reconstruire l’image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Plus de process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400"/>
              <a:t>Plus cher (volume moindre)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400"/>
              <a:t>Indiqué pour des objets en déplacement ou en rotation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altLang="fr-FR" sz="1400"/>
          </a:p>
        </p:txBody>
      </p:sp>
      <p:grpSp>
        <p:nvGrpSpPr>
          <p:cNvPr id="59398" name="Group 5">
            <a:extLst>
              <a:ext uri="{FF2B5EF4-FFF2-40B4-BE49-F238E27FC236}">
                <a16:creationId xmlns:a16="http://schemas.microsoft.com/office/drawing/2014/main" id="{EE12219C-C6C3-CE82-339D-39F506C6FCA3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5092700"/>
            <a:ext cx="3276600" cy="1127125"/>
            <a:chOff x="431" y="2927"/>
            <a:chExt cx="2064" cy="710"/>
          </a:xfrm>
        </p:grpSpPr>
        <p:grpSp>
          <p:nvGrpSpPr>
            <p:cNvPr id="59409" name="Group 6">
              <a:extLst>
                <a:ext uri="{FF2B5EF4-FFF2-40B4-BE49-F238E27FC236}">
                  <a16:creationId xmlns:a16="http://schemas.microsoft.com/office/drawing/2014/main" id="{9276D7F4-082D-E4DD-5648-AE671579D883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666" y="2852"/>
              <a:ext cx="356" cy="826"/>
              <a:chOff x="4276" y="1396"/>
              <a:chExt cx="328" cy="760"/>
            </a:xfrm>
          </p:grpSpPr>
          <p:sp>
            <p:nvSpPr>
              <p:cNvPr id="59413" name="AutoShape 7">
                <a:extLst>
                  <a:ext uri="{FF2B5EF4-FFF2-40B4-BE49-F238E27FC236}">
                    <a16:creationId xmlns:a16="http://schemas.microsoft.com/office/drawing/2014/main" id="{C7B22E4B-2DB7-6943-2D5C-EBEE329D1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300" y="1908"/>
                <a:ext cx="280" cy="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4 w 21600"/>
                  <a:gd name="T13" fmla="*/ 4529 h 21600"/>
                  <a:gd name="T14" fmla="*/ 17126 w 21600"/>
                  <a:gd name="T15" fmla="*/ 17071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9696"/>
              </a:solidFill>
              <a:ln w="12700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H"/>
              </a:p>
            </p:txBody>
          </p:sp>
          <p:sp>
            <p:nvSpPr>
              <p:cNvPr id="59414" name="Rectangle 8">
                <a:extLst>
                  <a:ext uri="{FF2B5EF4-FFF2-40B4-BE49-F238E27FC236}">
                    <a16:creationId xmlns:a16="http://schemas.microsoft.com/office/drawing/2014/main" id="{067C177F-99A0-9A2A-8418-39F4ADBD9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6" y="1396"/>
                <a:ext cx="328" cy="504"/>
              </a:xfrm>
              <a:prstGeom prst="rect">
                <a:avLst/>
              </a:prstGeom>
              <a:solidFill>
                <a:srgbClr val="969696"/>
              </a:solidFill>
              <a:ln w="12700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l"/>
                  <a:defRPr sz="2000" b="1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CH" altLang="fr-FR" sz="2400" b="0">
                  <a:solidFill>
                    <a:schemeClr val="tx1"/>
                  </a:solidFill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59410" name="Line 9">
              <a:extLst>
                <a:ext uri="{FF2B5EF4-FFF2-40B4-BE49-F238E27FC236}">
                  <a16:creationId xmlns:a16="http://schemas.microsoft.com/office/drawing/2014/main" id="{5ADD92ED-D45C-70BC-09D0-6FC34D5698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529" y="3163"/>
              <a:ext cx="194" cy="7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fr-CH"/>
            </a:p>
          </p:txBody>
        </p:sp>
        <p:sp>
          <p:nvSpPr>
            <p:cNvPr id="59411" name="Line 10">
              <a:extLst>
                <a:ext uri="{FF2B5EF4-FFF2-40B4-BE49-F238E27FC236}">
                  <a16:creationId xmlns:a16="http://schemas.microsoft.com/office/drawing/2014/main" id="{C91CFF7B-FFCA-7937-06E5-45B1A64C33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528" y="2669"/>
              <a:ext cx="194" cy="7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fr-CH"/>
            </a:p>
          </p:txBody>
        </p:sp>
        <p:sp>
          <p:nvSpPr>
            <p:cNvPr id="59412" name="Rectangle 11">
              <a:extLst>
                <a:ext uri="{FF2B5EF4-FFF2-40B4-BE49-F238E27FC236}">
                  <a16:creationId xmlns:a16="http://schemas.microsoft.com/office/drawing/2014/main" id="{047B9225-35BE-9F3C-441F-2105177C1E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1882" y="3024"/>
              <a:ext cx="710" cy="5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CH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59399" name="Group 12">
            <a:extLst>
              <a:ext uri="{FF2B5EF4-FFF2-40B4-BE49-F238E27FC236}">
                <a16:creationId xmlns:a16="http://schemas.microsoft.com/office/drawing/2014/main" id="{E98762CF-0E51-2B9D-468A-462A5BF9900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168231" y="4118769"/>
            <a:ext cx="1100138" cy="3200400"/>
            <a:chOff x="3312" y="2496"/>
            <a:chExt cx="528" cy="1536"/>
          </a:xfrm>
        </p:grpSpPr>
        <p:grpSp>
          <p:nvGrpSpPr>
            <p:cNvPr id="59403" name="Group 13">
              <a:extLst>
                <a:ext uri="{FF2B5EF4-FFF2-40B4-BE49-F238E27FC236}">
                  <a16:creationId xmlns:a16="http://schemas.microsoft.com/office/drawing/2014/main" id="{03AFE3E0-BF36-844D-A594-DAE2C214F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496"/>
              <a:ext cx="265" cy="615"/>
              <a:chOff x="4276" y="1396"/>
              <a:chExt cx="328" cy="760"/>
            </a:xfrm>
          </p:grpSpPr>
          <p:sp>
            <p:nvSpPr>
              <p:cNvPr id="59407" name="AutoShape 14">
                <a:extLst>
                  <a:ext uri="{FF2B5EF4-FFF2-40B4-BE49-F238E27FC236}">
                    <a16:creationId xmlns:a16="http://schemas.microsoft.com/office/drawing/2014/main" id="{88B941D8-8FC6-2BF6-20AC-FEE5F074C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300" y="1908"/>
                <a:ext cx="280" cy="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4 w 21600"/>
                  <a:gd name="T13" fmla="*/ 4529 h 21600"/>
                  <a:gd name="T14" fmla="*/ 17126 w 21600"/>
                  <a:gd name="T15" fmla="*/ 17071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399" y="21600"/>
                    </a:lnTo>
                    <a:lnTo>
                      <a:pt x="16201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69696"/>
              </a:solidFill>
              <a:ln w="12700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H"/>
              </a:p>
            </p:txBody>
          </p:sp>
          <p:sp>
            <p:nvSpPr>
              <p:cNvPr id="59408" name="Rectangle 15">
                <a:extLst>
                  <a:ext uri="{FF2B5EF4-FFF2-40B4-BE49-F238E27FC236}">
                    <a16:creationId xmlns:a16="http://schemas.microsoft.com/office/drawing/2014/main" id="{CA347D9F-E52E-BCE1-274E-CD1E60D27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6" y="1396"/>
                <a:ext cx="328" cy="504"/>
              </a:xfrm>
              <a:prstGeom prst="rect">
                <a:avLst/>
              </a:prstGeom>
              <a:solidFill>
                <a:srgbClr val="969696"/>
              </a:solidFill>
              <a:ln w="12700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l"/>
                  <a:defRPr sz="2000" b="1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Wingdings" panose="05000000000000000000" pitchFamily="2" charset="2"/>
                  <a:buChar char="Ø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75000"/>
                  <a:buFont typeface="Tahoma" panose="020B0604030504040204" pitchFamily="34" charset="0"/>
                  <a:buChar char="–"/>
                  <a:defRPr sz="20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CH" altLang="fr-FR" sz="2400" b="0">
                  <a:solidFill>
                    <a:schemeClr val="tx1"/>
                  </a:solidFill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59404" name="Line 16">
              <a:extLst>
                <a:ext uri="{FF2B5EF4-FFF2-40B4-BE49-F238E27FC236}">
                  <a16:creationId xmlns:a16="http://schemas.microsoft.com/office/drawing/2014/main" id="{77446979-AA5D-E58B-DA15-6BF18C1EE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120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fr-CH"/>
            </a:p>
          </p:txBody>
        </p:sp>
        <p:sp>
          <p:nvSpPr>
            <p:cNvPr id="59405" name="Rectangle 17">
              <a:extLst>
                <a:ext uri="{FF2B5EF4-FFF2-40B4-BE49-F238E27FC236}">
                  <a16:creationId xmlns:a16="http://schemas.microsoft.com/office/drawing/2014/main" id="{03F9823A-4233-FE03-2526-A629F3C82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648"/>
              <a:ext cx="528" cy="3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l"/>
                <a:defRPr sz="2000" b="1">
                  <a:solidFill>
                    <a:srgbClr val="00000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0000"/>
                </a:buClr>
                <a:buSzPct val="75000"/>
                <a:buFont typeface="Wingdings" panose="05000000000000000000" pitchFamily="2" charset="2"/>
                <a:buChar char="Ø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75000"/>
                <a:buFont typeface="Tahoma" panose="020B0604030504040204" pitchFamily="34" charset="0"/>
                <a:buChar char="–"/>
                <a:defRPr sz="2000">
                  <a:solidFill>
                    <a:srgbClr val="000000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CH" altLang="fr-FR" sz="2400" b="0">
                <a:solidFill>
                  <a:schemeClr val="tx1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59406" name="Line 18">
              <a:extLst>
                <a:ext uri="{FF2B5EF4-FFF2-40B4-BE49-F238E27FC236}">
                  <a16:creationId xmlns:a16="http://schemas.microsoft.com/office/drawing/2014/main" id="{7E806744-451A-922F-23A7-E3237CB33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648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fr-CH"/>
            </a:p>
          </p:txBody>
        </p:sp>
      </p:grpSp>
      <p:sp>
        <p:nvSpPr>
          <p:cNvPr id="59400" name="Rectangle 19">
            <a:extLst>
              <a:ext uri="{FF2B5EF4-FFF2-40B4-BE49-F238E27FC236}">
                <a16:creationId xmlns:a16="http://schemas.microsoft.com/office/drawing/2014/main" id="{545726E1-A67A-523D-3E1E-8825B2AF9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339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rgbClr val="FFFFFF"/>
                </a:solidFill>
                <a:latin typeface="Arial" panose="020B0604020202020204" pitchFamily="34" charset="0"/>
              </a:rPr>
              <a:t>Camera matricielle</a:t>
            </a:r>
          </a:p>
        </p:txBody>
      </p:sp>
      <p:sp>
        <p:nvSpPr>
          <p:cNvPr id="59401" name="Rectangle 20">
            <a:extLst>
              <a:ext uri="{FF2B5EF4-FFF2-40B4-BE49-F238E27FC236}">
                <a16:creationId xmlns:a16="http://schemas.microsoft.com/office/drawing/2014/main" id="{486DF996-02DD-53DD-5560-C034522CC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466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rgbClr val="FFFFFF"/>
                </a:solidFill>
                <a:latin typeface="Arial" panose="020B0604020202020204" pitchFamily="34" charset="0"/>
              </a:rPr>
              <a:t>Camera linéaire</a:t>
            </a:r>
          </a:p>
        </p:txBody>
      </p:sp>
      <p:pic>
        <p:nvPicPr>
          <p:cNvPr id="59402" name="Picture 22">
            <a:extLst>
              <a:ext uri="{FF2B5EF4-FFF2-40B4-BE49-F238E27FC236}">
                <a16:creationId xmlns:a16="http://schemas.microsoft.com/office/drawing/2014/main" id="{1A44398E-1C0F-B7F3-B2F9-E427E0A99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5" y="1101725"/>
            <a:ext cx="302895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re 1">
            <a:extLst>
              <a:ext uri="{FF2B5EF4-FFF2-40B4-BE49-F238E27FC236}">
                <a16:creationId xmlns:a16="http://schemas.microsoft.com/office/drawing/2014/main" id="{56BD1AF3-7A48-AB9C-8E37-DC8E9C3A7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 dirty="0"/>
              <a:t>Protocoles digitaux</a:t>
            </a:r>
          </a:p>
        </p:txBody>
      </p:sp>
      <p:pic>
        <p:nvPicPr>
          <p:cNvPr id="70659" name="Picture 2" descr="http://t1.gstatic.com/images?q=tbn:ANd9GcSgLhdVkGJCGybzNAJJdKJgSipi9WKJoYeMb4groFnyhZhHWyqNBg">
            <a:extLst>
              <a:ext uri="{FF2B5EF4-FFF2-40B4-BE49-F238E27FC236}">
                <a16:creationId xmlns:a16="http://schemas.microsoft.com/office/drawing/2014/main" id="{D2EBCEA2-AD60-9510-9B56-3EC4EB99B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1018381"/>
            <a:ext cx="16764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0" name="Picture 4" descr="http://www.visiononline.org/images/usb3vision-logo.png">
            <a:extLst>
              <a:ext uri="{FF2B5EF4-FFF2-40B4-BE49-F238E27FC236}">
                <a16:creationId xmlns:a16="http://schemas.microsoft.com/office/drawing/2014/main" id="{0D78BB49-9FC0-6297-F35B-DECC4AD86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7" y="1365115"/>
            <a:ext cx="121761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1" name="Picture 6" descr="http://www.visiononline.org/images/gigeVision-logo.gif">
            <a:extLst>
              <a:ext uri="{FF2B5EF4-FFF2-40B4-BE49-F238E27FC236}">
                <a16:creationId xmlns:a16="http://schemas.microsoft.com/office/drawing/2014/main" id="{FD21902D-362F-749D-DC18-53367F342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1403350"/>
            <a:ext cx="1122362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2" name="Picture 8" descr="http://www.visiononline.org/images/cameraLink-logo.gif">
            <a:extLst>
              <a:ext uri="{FF2B5EF4-FFF2-40B4-BE49-F238E27FC236}">
                <a16:creationId xmlns:a16="http://schemas.microsoft.com/office/drawing/2014/main" id="{A58D1597-2739-9A10-5DDB-132382B00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403350"/>
            <a:ext cx="10128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EBA73B3-F395-0E4F-609E-D94E35179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347779"/>
              </p:ext>
            </p:extLst>
          </p:nvPr>
        </p:nvGraphicFramePr>
        <p:xfrm>
          <a:off x="520699" y="1992313"/>
          <a:ext cx="8065739" cy="4065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4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4345">
                <a:tc>
                  <a:txBody>
                    <a:bodyPr/>
                    <a:lstStyle/>
                    <a:p>
                      <a:endParaRPr lang="fr-CH" sz="18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endParaRPr lang="fr-CH" sz="18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endParaRPr lang="fr-CH" sz="18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endParaRPr lang="fr-CH" sz="18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endParaRPr lang="fr-CH" sz="1800" dirty="0"/>
                    </a:p>
                  </a:txBody>
                  <a:tcPr marL="91445" marR="91445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652">
                <a:tc>
                  <a:txBody>
                    <a:bodyPr/>
                    <a:lstStyle/>
                    <a:p>
                      <a:r>
                        <a:rPr lang="fr-CH" sz="1800" i="1" dirty="0"/>
                        <a:t>BW</a:t>
                      </a:r>
                    </a:p>
                    <a:p>
                      <a:r>
                        <a:rPr lang="fr-CH" sz="1800" i="1" dirty="0"/>
                        <a:t>(net)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255, 510</a:t>
                      </a:r>
                      <a:r>
                        <a:rPr lang="fr-CH" sz="1400" baseline="0" dirty="0"/>
                        <a:t> ou  850 MB/s</a:t>
                      </a:r>
                    </a:p>
                    <a:p>
                      <a:r>
                        <a:rPr lang="fr-CH" sz="1400" baseline="0" dirty="0"/>
                        <a:t>VGA@870fps (base)</a:t>
                      </a:r>
                      <a:endParaRPr lang="fr-CH" sz="14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100 MB/s</a:t>
                      </a:r>
                    </a:p>
                    <a:p>
                      <a:r>
                        <a:rPr lang="fr-CH" sz="1400" dirty="0"/>
                        <a:t>VGA@340fps</a:t>
                      </a:r>
                    </a:p>
                    <a:p>
                      <a:endParaRPr lang="fr-CH" sz="14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800 MB/s</a:t>
                      </a:r>
                    </a:p>
                    <a:p>
                      <a:r>
                        <a:rPr lang="fr-CH" sz="1400" dirty="0"/>
                        <a:t>VGA@2700fps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350 MB/s</a:t>
                      </a:r>
                    </a:p>
                    <a:p>
                      <a:r>
                        <a:rPr lang="fr-CH" sz="1400" dirty="0"/>
                        <a:t>VGA@1100fps</a:t>
                      </a:r>
                    </a:p>
                  </a:txBody>
                  <a:tcPr marL="91445" marR="91445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800" i="1" dirty="0"/>
                        <a:t>Câble</a:t>
                      </a:r>
                    </a:p>
                    <a:p>
                      <a:endParaRPr lang="fr-CH" sz="1800" i="1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10 m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100 m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&gt;100m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 8 m </a:t>
                      </a:r>
                    </a:p>
                  </a:txBody>
                  <a:tcPr marL="91445" marR="91445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345">
                <a:tc>
                  <a:txBody>
                    <a:bodyPr/>
                    <a:lstStyle/>
                    <a:p>
                      <a:r>
                        <a:rPr lang="fr-CH" sz="1800" i="1" dirty="0"/>
                        <a:t>Pro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BW</a:t>
                      </a:r>
                    </a:p>
                    <a:p>
                      <a:r>
                        <a:rPr lang="fr-CH" sz="1400" dirty="0" err="1"/>
                        <a:t>PoCL</a:t>
                      </a:r>
                      <a:endParaRPr lang="fr-CH" sz="14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H" sz="1400" dirty="0" err="1"/>
                        <a:t>Gen</a:t>
                      </a:r>
                      <a:r>
                        <a:rPr lang="fr-CH" sz="1400" dirty="0"/>
                        <a:t>&lt;I&gt;Cam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H" sz="1400" dirty="0"/>
                        <a:t>Coût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CH" sz="1400" dirty="0" err="1"/>
                        <a:t>PoE</a:t>
                      </a:r>
                      <a:endParaRPr lang="fr-CH" sz="14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/>
                        <a:t>BW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dirty="0" err="1"/>
                        <a:t>PoCXP</a:t>
                      </a:r>
                      <a:endParaRPr lang="fr-FR" sz="1400" b="0" dirty="0"/>
                    </a:p>
                    <a:p>
                      <a:endParaRPr lang="fr-CH" sz="14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Coût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dirty="0" err="1"/>
                        <a:t>Gen</a:t>
                      </a:r>
                      <a:r>
                        <a:rPr lang="fr-CH" sz="1400" dirty="0"/>
                        <a:t>&lt;I&gt;Cam</a:t>
                      </a:r>
                    </a:p>
                    <a:p>
                      <a:endParaRPr lang="fr-CH" sz="1400" dirty="0"/>
                    </a:p>
                  </a:txBody>
                  <a:tcPr marL="91445" marR="91445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051">
                <a:tc>
                  <a:txBody>
                    <a:bodyPr/>
                    <a:lstStyle/>
                    <a:p>
                      <a:r>
                        <a:rPr lang="fr-CH" sz="1800" i="1" dirty="0"/>
                        <a:t>Contre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baseline="0" dirty="0"/>
                        <a:t>Coût (</a:t>
                      </a:r>
                      <a:r>
                        <a:rPr lang="fr-CH" sz="1400" b="0" baseline="0" dirty="0" err="1"/>
                        <a:t>Framegrabber</a:t>
                      </a:r>
                      <a:r>
                        <a:rPr lang="fr-CH" sz="1400" b="0" baseline="0" dirty="0"/>
                        <a:t>+ Cable)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400" b="0" baseline="0" dirty="0"/>
                        <a:t>Sans </a:t>
                      </a:r>
                      <a:r>
                        <a:rPr lang="fr-CH" sz="1400" b="0" baseline="0" dirty="0" err="1"/>
                        <a:t>Gen</a:t>
                      </a:r>
                      <a:r>
                        <a:rPr lang="fr-CH" sz="1400" b="0" baseline="0" dirty="0"/>
                        <a:t>&lt;i&gt;Cam</a:t>
                      </a:r>
                      <a:endParaRPr lang="fr-CH" sz="1400" b="0" dirty="0"/>
                    </a:p>
                    <a:p>
                      <a:endParaRPr lang="fr-CH" sz="14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fr-CH" sz="1400" dirty="0"/>
                        <a:t>Timing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fr-CH" sz="1400" dirty="0"/>
                        <a:t>CPU </a:t>
                      </a:r>
                      <a:r>
                        <a:rPr lang="fr-CH" sz="1400" dirty="0" err="1"/>
                        <a:t>load</a:t>
                      </a:r>
                      <a:endParaRPr lang="fr-CH" sz="1400" dirty="0"/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Coût (</a:t>
                      </a:r>
                      <a:r>
                        <a:rPr lang="fr-CH" sz="1400" dirty="0" err="1"/>
                        <a:t>Fgrab</a:t>
                      </a:r>
                      <a:r>
                        <a:rPr lang="fr-CH" sz="1400" dirty="0"/>
                        <a:t>)</a:t>
                      </a:r>
                    </a:p>
                  </a:txBody>
                  <a:tcPr marL="91445" marR="91445" marT="45727" marB="45727"/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Longueur</a:t>
                      </a:r>
                    </a:p>
                  </a:txBody>
                  <a:tcPr marL="91445" marR="91445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0708" name="Picture 6" descr="http://www.alysium-tech.com/website/var/tmp/thumb_88__article-single-top-image.jpeg">
            <a:extLst>
              <a:ext uri="{FF2B5EF4-FFF2-40B4-BE49-F238E27FC236}">
                <a16:creationId xmlns:a16="http://schemas.microsoft.com/office/drawing/2014/main" id="{D5B29423-B764-7928-36B8-85024DDC8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543" y="2252663"/>
            <a:ext cx="1322388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709" name="Picture 2" descr="http://www.alysium-tech.com/website/var/tmp/thumb_281__article-single-top-image.jpeg">
            <a:extLst>
              <a:ext uri="{FF2B5EF4-FFF2-40B4-BE49-F238E27FC236}">
                <a16:creationId xmlns:a16="http://schemas.microsoft.com/office/drawing/2014/main" id="{187C6CCF-6E75-0061-AC03-49F4FF05F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716" y="2196674"/>
            <a:ext cx="15033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710" name="Picture 2" descr="http://1stvision.com/cameras/accessories/CB-CL-HCL.jpg">
            <a:extLst>
              <a:ext uri="{FF2B5EF4-FFF2-40B4-BE49-F238E27FC236}">
                <a16:creationId xmlns:a16="http://schemas.microsoft.com/office/drawing/2014/main" id="{EC0332AD-0D90-3663-D87B-D30F66559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028825"/>
            <a:ext cx="98425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711" name="Picture 2" descr="http://www.coaxpress.com/coaxpress-images/coaxpress-bnc.jpg">
            <a:extLst>
              <a:ext uri="{FF2B5EF4-FFF2-40B4-BE49-F238E27FC236}">
                <a16:creationId xmlns:a16="http://schemas.microsoft.com/office/drawing/2014/main" id="{9786225F-9DCA-0599-36A5-4B90ACF20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530" y="1993669"/>
            <a:ext cx="6175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44083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re 1">
            <a:extLst>
              <a:ext uri="{FF2B5EF4-FFF2-40B4-BE49-F238E27FC236}">
                <a16:creationId xmlns:a16="http://schemas.microsoft.com/office/drawing/2014/main" id="{3253CC33-C410-F9E6-AE45-E4C0E0DB9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 dirty="0"/>
              <a:t>Protocoles digitaux</a:t>
            </a:r>
          </a:p>
        </p:txBody>
      </p:sp>
      <p:pic>
        <p:nvPicPr>
          <p:cNvPr id="72707" name="Image 2">
            <a:extLst>
              <a:ext uri="{FF2B5EF4-FFF2-40B4-BE49-F238E27FC236}">
                <a16:creationId xmlns:a16="http://schemas.microsoft.com/office/drawing/2014/main" id="{21406A5E-0D18-5CC2-58B7-AC5C14106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308100"/>
            <a:ext cx="7575550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ZoneTexte 3">
            <a:extLst>
              <a:ext uri="{FF2B5EF4-FFF2-40B4-BE49-F238E27FC236}">
                <a16:creationId xmlns:a16="http://schemas.microsoft.com/office/drawing/2014/main" id="{6B3065D1-3BAA-1CE3-AF98-3911C1675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0025" y="5540375"/>
            <a:ext cx="14112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b="0">
                <a:solidFill>
                  <a:schemeClr val="tx1"/>
                </a:solidFill>
                <a:latin typeface="Times" panose="02020603050405020304" pitchFamily="18" charset="0"/>
              </a:rPr>
              <a:t>From www.ptgrey.com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re 1">
            <a:extLst>
              <a:ext uri="{FF2B5EF4-FFF2-40B4-BE49-F238E27FC236}">
                <a16:creationId xmlns:a16="http://schemas.microsoft.com/office/drawing/2014/main" id="{3CC3A467-A220-0005-6481-9B3924870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Protocoles en développement</a:t>
            </a:r>
          </a:p>
        </p:txBody>
      </p:sp>
      <p:sp>
        <p:nvSpPr>
          <p:cNvPr id="73731" name="Espace réservé du contenu 2">
            <a:extLst>
              <a:ext uri="{FF2B5EF4-FFF2-40B4-BE49-F238E27FC236}">
                <a16:creationId xmlns:a16="http://schemas.microsoft.com/office/drawing/2014/main" id="{0D5E6FF3-B9A0-3730-679D-27C1037C2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/>
              <a:t>Nbase-T: (</a:t>
            </a:r>
            <a:r>
              <a:rPr lang="en-US" altLang="fr-FR">
                <a:hlinkClick r:id="rId2"/>
              </a:rPr>
              <a:t>http://www.nbaset.org/</a:t>
            </a:r>
            <a:r>
              <a:rPr lang="en-US" altLang="fr-FR"/>
              <a:t>)</a:t>
            </a:r>
          </a:p>
          <a:p>
            <a:r>
              <a:rPr lang="fr-CH" altLang="fr-FR"/>
              <a:t>BCON: Propriétaire Basler (</a:t>
            </a:r>
            <a:r>
              <a:rPr lang="fr-CH" altLang="fr-FR">
                <a:hlinkClick r:id="rId3"/>
              </a:rPr>
              <a:t>http://www.baslerweb.com</a:t>
            </a:r>
            <a:r>
              <a:rPr lang="fr-CH" altLang="fr-FR"/>
              <a:t>)</a:t>
            </a:r>
          </a:p>
          <a:p>
            <a:r>
              <a:rPr lang="fr-CH" altLang="fr-FR"/>
              <a:t>PCIe: Ximea (</a:t>
            </a:r>
            <a:r>
              <a:rPr lang="fr-CH" altLang="fr-FR">
                <a:hlinkClick r:id="rId4"/>
              </a:rPr>
              <a:t>https://www.ximea.com/en/pci-express-camera/pci-express-camera</a:t>
            </a:r>
            <a:r>
              <a:rPr lang="fr-CH" altLang="fr-FR"/>
              <a:t>)</a:t>
            </a:r>
          </a:p>
          <a:p>
            <a:r>
              <a:rPr lang="fr-CH" altLang="fr-FR"/>
              <a:t>CameraLinkHS: (</a:t>
            </a:r>
            <a:r>
              <a:rPr lang="fr-CH" altLang="fr-FR">
                <a:hlinkClick r:id="rId5"/>
              </a:rPr>
              <a:t>https://www.visiononline.org/vision-standards-details.cfm?id=159&amp;type=10</a:t>
            </a:r>
            <a:r>
              <a:rPr lang="fr-CH" altLang="fr-FR"/>
              <a:t>)</a:t>
            </a:r>
          </a:p>
          <a:p>
            <a:pPr lvl="1"/>
            <a:r>
              <a:rPr lang="fr-CH" altLang="fr-FR"/>
              <a:t>GenICam</a:t>
            </a:r>
          </a:p>
          <a:p>
            <a:pPr lvl="1"/>
            <a:r>
              <a:rPr lang="fr-CH" altLang="fr-FR"/>
              <a:t>1200-10’000 MB/s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asque de base">
  <a:themeElements>
    <a:clrScheme name="1_Masque de base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1_Masque de ba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1_Masque de base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25a44f-af47-42f1-a93d-4686b8a69ea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47CDC4897AE64985629944AABB1830" ma:contentTypeVersion="14" ma:contentTypeDescription="Create a new document." ma:contentTypeScope="" ma:versionID="281920fc26f08963f890f5729c053eb5">
  <xsd:schema xmlns:xsd="http://www.w3.org/2001/XMLSchema" xmlns:xs="http://www.w3.org/2001/XMLSchema" xmlns:p="http://schemas.microsoft.com/office/2006/metadata/properties" xmlns:ns3="4c166a0c-de17-4eb5-ac63-e306c943e43f" xmlns:ns4="2b25a44f-af47-42f1-a93d-4686b8a69ea4" targetNamespace="http://schemas.microsoft.com/office/2006/metadata/properties" ma:root="true" ma:fieldsID="c37ab93eb0312729ed583205bfb8b01e" ns3:_="" ns4:_="">
    <xsd:import namespace="4c166a0c-de17-4eb5-ac63-e306c943e43f"/>
    <xsd:import namespace="2b25a44f-af47-42f1-a93d-4686b8a69ea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OCR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66a0c-de17-4eb5-ac63-e306c943e43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25a44f-af47-42f1-a93d-4686b8a69e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F2BF39-758B-417C-A4FC-1D0F43DE58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ACDD9A-8C5A-40AF-B872-661A064D3D68}">
  <ds:schemaRefs>
    <ds:schemaRef ds:uri="2b25a44f-af47-42f1-a93d-4686b8a69ea4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4c166a0c-de17-4eb5-ac63-e306c943e43f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0A9FB5-47E1-4CF2-B28F-37072C4F8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66a0c-de17-4eb5-ac63-e306c943e43f"/>
    <ds:schemaRef ds:uri="2b25a44f-af47-42f1-a93d-4686b8a69e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6250</TotalTime>
  <Words>1932</Words>
  <Application>Microsoft Office PowerPoint</Application>
  <PresentationFormat>Affichage à l'écran (4:3)</PresentationFormat>
  <Paragraphs>370</Paragraphs>
  <Slides>48</Slides>
  <Notes>10</Notes>
  <HiddenSlides>5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48</vt:i4>
      </vt:variant>
    </vt:vector>
  </HeadingPairs>
  <TitlesOfParts>
    <vt:vector size="58" baseType="lpstr">
      <vt:lpstr>Arial</vt:lpstr>
      <vt:lpstr>Arial Unicode MS</vt:lpstr>
      <vt:lpstr>Symbol</vt:lpstr>
      <vt:lpstr>Tahoma</vt:lpstr>
      <vt:lpstr>Times</vt:lpstr>
      <vt:lpstr>Times New Roman</vt:lpstr>
      <vt:lpstr>Wingdings</vt:lpstr>
      <vt:lpstr>1_Masque de base</vt:lpstr>
      <vt:lpstr>Document</vt:lpstr>
      <vt:lpstr>Equation</vt:lpstr>
      <vt:lpstr>Vision industrielle Technologie des Caméras</vt:lpstr>
      <vt:lpstr>Rôle d’un capteur d’image</vt:lpstr>
      <vt:lpstr>Bandes d’énergie des électrons (cf cours capteurs)</vt:lpstr>
      <vt:lpstr>Semiconducteurs extrinsèques</vt:lpstr>
      <vt:lpstr>Absorption</vt:lpstr>
      <vt:lpstr>CCD/CMOS  : cellule de base , conversion photon - électron</vt:lpstr>
      <vt:lpstr>Capteur CCD</vt:lpstr>
      <vt:lpstr>Capteurs d’image</vt:lpstr>
      <vt:lpstr>Cameras</vt:lpstr>
      <vt:lpstr>CCD Lecture des pixels   (analogie du verre d’eau)</vt:lpstr>
      <vt:lpstr>CCD collection de photoélectrons</vt:lpstr>
      <vt:lpstr>CCD: Transfert des charges</vt:lpstr>
      <vt:lpstr>CCD: Readout/Amplification</vt:lpstr>
      <vt:lpstr>Caméra CCD</vt:lpstr>
      <vt:lpstr>CCD (suite)</vt:lpstr>
      <vt:lpstr>Artefacts des CCDs</vt:lpstr>
      <vt:lpstr>CCD: avantages et inconvénients</vt:lpstr>
      <vt:lpstr>Cameras</vt:lpstr>
      <vt:lpstr>Camera CMOS</vt:lpstr>
      <vt:lpstr>CMOS principe</vt:lpstr>
      <vt:lpstr>CMOS adressage</vt:lpstr>
      <vt:lpstr>CMOS obturateur (shutter)</vt:lpstr>
      <vt:lpstr>Active Pixel sensor</vt:lpstr>
      <vt:lpstr>Active Pixel sensor</vt:lpstr>
      <vt:lpstr>CMOS: avantages et inconvénients</vt:lpstr>
      <vt:lpstr>Caméra CMOS du commerce</vt:lpstr>
      <vt:lpstr>Paramètres importants</vt:lpstr>
      <vt:lpstr>Paramètres importants</vt:lpstr>
      <vt:lpstr>En resumé  : Marché CCD / CMOS  (en révolution…)</vt:lpstr>
      <vt:lpstr>Capteurs couleur: buts</vt:lpstr>
      <vt:lpstr>Capteurs d’images couleurs</vt:lpstr>
      <vt:lpstr>Capteurs d’images couleurs</vt:lpstr>
      <vt:lpstr>Capteurs d’images couleurs</vt:lpstr>
      <vt:lpstr>Représentation des couleurs</vt:lpstr>
      <vt:lpstr>Représentation HSV</vt:lpstr>
      <vt:lpstr>Diagramme de chromaticité</vt:lpstr>
      <vt:lpstr>Caméras</vt:lpstr>
      <vt:lpstr>Caméras</vt:lpstr>
      <vt:lpstr>Caméras</vt:lpstr>
      <vt:lpstr>Caméras</vt:lpstr>
      <vt:lpstr>Taille des capteurs</vt:lpstr>
      <vt:lpstr>Taille des capteurs</vt:lpstr>
      <vt:lpstr>Taille des capteurs</vt:lpstr>
      <vt:lpstr>Camera Sensors</vt:lpstr>
      <vt:lpstr>Camera linéaires et cameras matricielles</vt:lpstr>
      <vt:lpstr>Protocoles digitaux</vt:lpstr>
      <vt:lpstr>Protocoles digitaux</vt:lpstr>
      <vt:lpstr>Protocoles en développement</vt:lpstr>
    </vt:vector>
  </TitlesOfParts>
  <Company>He-arc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industrielle</dc:title>
  <dc:subject>Camera et acquisition d'images</dc:subject>
  <dc:creator>Aldo Salvi</dc:creator>
  <cp:lastModifiedBy>Lopez De Meneses Yuri</cp:lastModifiedBy>
  <cp:revision>212</cp:revision>
  <dcterms:created xsi:type="dcterms:W3CDTF">2003-12-27T21:10:09Z</dcterms:created>
  <dcterms:modified xsi:type="dcterms:W3CDTF">2024-03-27T07:10:04Z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0x0101001847CDC4897AE64985629944AABB1830</vt:lpwstr>
  </property>
</Properties>
</file>