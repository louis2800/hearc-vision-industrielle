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handoutMasterIdLst>
    <p:handoutMasterId r:id="rId35"/>
  </p:handoutMasterIdLst>
  <p:sldIdLst>
    <p:sldId id="256" r:id="rId2"/>
    <p:sldId id="280" r:id="rId3"/>
    <p:sldId id="307" r:id="rId4"/>
    <p:sldId id="281" r:id="rId5"/>
    <p:sldId id="282" r:id="rId6"/>
    <p:sldId id="283" r:id="rId7"/>
    <p:sldId id="284" r:id="rId8"/>
    <p:sldId id="315" r:id="rId9"/>
    <p:sldId id="316" r:id="rId10"/>
    <p:sldId id="285" r:id="rId11"/>
    <p:sldId id="286" r:id="rId12"/>
    <p:sldId id="287" r:id="rId13"/>
    <p:sldId id="297" r:id="rId14"/>
    <p:sldId id="318" r:id="rId15"/>
    <p:sldId id="306" r:id="rId16"/>
    <p:sldId id="310" r:id="rId17"/>
    <p:sldId id="288" r:id="rId18"/>
    <p:sldId id="289" r:id="rId19"/>
    <p:sldId id="317" r:id="rId20"/>
    <p:sldId id="290" r:id="rId21"/>
    <p:sldId id="291" r:id="rId22"/>
    <p:sldId id="308" r:id="rId23"/>
    <p:sldId id="312" r:id="rId24"/>
    <p:sldId id="292" r:id="rId25"/>
    <p:sldId id="293" r:id="rId26"/>
    <p:sldId id="309" r:id="rId27"/>
    <p:sldId id="294" r:id="rId28"/>
    <p:sldId id="295" r:id="rId29"/>
    <p:sldId id="296" r:id="rId30"/>
    <p:sldId id="311" r:id="rId31"/>
    <p:sldId id="314" r:id="rId32"/>
    <p:sldId id="319" r:id="rId33"/>
    <p:sldId id="320" r:id="rId34"/>
  </p:sldIdLst>
  <p:sldSz cx="9144000" cy="6858000" type="screen4x3"/>
  <p:notesSz cx="6669088" cy="9926638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68">
          <p15:clr>
            <a:srgbClr val="A4A3A4"/>
          </p15:clr>
        </p15:guide>
        <p15:guide id="2" pos="31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B2B2B2"/>
    <a:srgbClr val="CFCFCF"/>
    <a:srgbClr val="4B4B4B"/>
    <a:srgbClr val="FF0F12"/>
    <a:srgbClr val="E10000"/>
    <a:srgbClr val="FF0ACC"/>
    <a:srgbClr val="FF0B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4620" autoAdjust="0"/>
  </p:normalViewPr>
  <p:slideViewPr>
    <p:cSldViewPr snapToGrid="0">
      <p:cViewPr varScale="1">
        <p:scale>
          <a:sx n="72" d="100"/>
          <a:sy n="72" d="100"/>
        </p:scale>
        <p:origin x="1506" y="54"/>
      </p:cViewPr>
      <p:guideLst>
        <p:guide orient="horz" pos="768"/>
        <p:guide pos="31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91C2451-43B5-874C-F4E0-2FA07668F9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BD0064F9-E3FB-AE4D-CA0F-7AE9F834E77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2" name="Rectangle 4">
            <a:extLst>
              <a:ext uri="{FF2B5EF4-FFF2-40B4-BE49-F238E27FC236}">
                <a16:creationId xmlns:a16="http://schemas.microsoft.com/office/drawing/2014/main" id="{A95177BB-5824-ADAA-5299-25416A64695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1A1BE34B-FA5B-DB5F-B3EC-1DFC9908AE5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12D1B7C-3CD9-465F-8086-1C168FE75EB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gradFill rotWithShape="0">
          <a:gsLst>
            <a:gs pos="0">
              <a:schemeClr val="bg1"/>
            </a:gs>
            <a:gs pos="100000">
              <a:srgbClr val="DD056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5EAC70C-F160-50F4-390B-86B89F883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81300AF-7EC4-B023-09CB-5F40CD9E9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4" name="Line 4">
            <a:extLst>
              <a:ext uri="{FF2B5EF4-FFF2-40B4-BE49-F238E27FC236}">
                <a16:creationId xmlns:a16="http://schemas.microsoft.com/office/drawing/2014/main" id="{906651EC-34ED-77BC-A2FE-725696BF7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329FF4A3-667C-3AAD-DF39-239112BAE0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5C06F0B-FFC8-C56D-0E4F-30167825DDBE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5ED01AD5-650E-7CE8-4679-ADFD32355C9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BCF67AE2-E7DE-704E-2AA0-F16AB512E1D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99DC37BC-84FB-A6F0-B4F6-9D911187297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024A0032-4BAE-0810-CE0E-AA010F55D3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1" name="Picture 11" descr="Logo arc ingénierie cmyk">
            <a:extLst>
              <a:ext uri="{FF2B5EF4-FFF2-40B4-BE49-F238E27FC236}">
                <a16:creationId xmlns:a16="http://schemas.microsoft.com/office/drawing/2014/main" id="{F719A194-ED75-659B-8C45-A41D698E4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12">
            <a:extLst>
              <a:ext uri="{FF2B5EF4-FFF2-40B4-BE49-F238E27FC236}">
                <a16:creationId xmlns:a16="http://schemas.microsoft.com/office/drawing/2014/main" id="{F9EB480E-425D-2FF5-3833-34CDCC6B16F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689099" y="4541837"/>
            <a:ext cx="3744912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altLang="fr-FR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2023</a:t>
            </a:r>
          </a:p>
        </p:txBody>
      </p:sp>
      <p:pic>
        <p:nvPicPr>
          <p:cNvPr id="13" name="Picture 16" descr="Logo arc ingénierie cmyk">
            <a:extLst>
              <a:ext uri="{FF2B5EF4-FFF2-40B4-BE49-F238E27FC236}">
                <a16:creationId xmlns:a16="http://schemas.microsoft.com/office/drawing/2014/main" id="{464D40C7-CFB7-9D29-2969-55CC11ED48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8">
            <a:extLst>
              <a:ext uri="{FF2B5EF4-FFF2-40B4-BE49-F238E27FC236}">
                <a16:creationId xmlns:a16="http://schemas.microsoft.com/office/drawing/2014/main" id="{42D7F0D4-A7A7-A129-7F7D-884D50D3B51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4212FCF4-78EB-4DBB-9CD8-8817BAD59DAD}" type="slidenum">
              <a:rPr lang="fr-CH" altLang="fr-FR" sz="1000" smtClean="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5" name="Text Box 19">
            <a:extLst>
              <a:ext uri="{FF2B5EF4-FFF2-40B4-BE49-F238E27FC236}">
                <a16:creationId xmlns:a16="http://schemas.microsoft.com/office/drawing/2014/main" id="{D682AA4F-29B0-37FA-290A-CBE1C59D2F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260350"/>
            <a:ext cx="5329238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altLang="fr-FR" sz="1800" b="1">
                <a:solidFill>
                  <a:srgbClr val="000000"/>
                </a:solidFill>
                <a:latin typeface="Arial" panose="020B0604020202020204" pitchFamily="34" charset="0"/>
              </a:rPr>
              <a:t>Lighting</a:t>
            </a:r>
            <a:endParaRPr lang="fr-CH" altLang="fr-FR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20" descr="hes-so">
            <a:extLst>
              <a:ext uri="{FF2B5EF4-FFF2-40B4-BE49-F238E27FC236}">
                <a16:creationId xmlns:a16="http://schemas.microsoft.com/office/drawing/2014/main" id="{007188EC-8365-D418-5E8E-7F6380EA5B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609600" y="1470025"/>
            <a:ext cx="8204200" cy="147002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fr-CH"/>
              <a:t>Cliquez pour modifier le style du titre</a:t>
            </a:r>
          </a:p>
        </p:txBody>
      </p:sp>
      <p:sp>
        <p:nvSpPr>
          <p:cNvPr id="206862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622300" y="3886200"/>
            <a:ext cx="82423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200"/>
            </a:lvl1pPr>
          </a:lstStyle>
          <a:p>
            <a:r>
              <a:rPr lang="fr-CH"/>
              <a:t>Cliquez pour modifier le style des sous-titres du masque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8E22BBE2-4583-4C25-473F-2BA3616EEF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431800" y="6546850"/>
            <a:ext cx="317500" cy="3111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D51421-6576-4D64-A6DE-3B1BBDE6C375}" type="slidenum">
              <a:rPr lang="fr-CH" altLang="fr-FR"/>
              <a:pPr>
                <a:defRPr/>
              </a:pPr>
              <a:t>‹N°›</a:t>
            </a:fld>
            <a:endParaRPr lang="fr-CH" altLang="fr-FR"/>
          </a:p>
        </p:txBody>
      </p:sp>
    </p:spTree>
    <p:extLst>
      <p:ext uri="{BB962C8B-B14F-4D97-AF65-F5344CB8AC3E}">
        <p14:creationId xmlns:p14="http://schemas.microsoft.com/office/powerpoint/2010/main" val="159115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6864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897310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556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972050" y="1196975"/>
            <a:ext cx="4064000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09834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4599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9856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00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62974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H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41929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2858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77050" y="692150"/>
            <a:ext cx="2159000" cy="59055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CH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95288" y="692150"/>
            <a:ext cx="6329362" cy="59055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370246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ED3D606-08AF-39B0-33F6-A8EE4C3F1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20713"/>
            <a:ext cx="395288" cy="6237287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F3589D0-187B-F3DD-1764-68895B37F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88913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defRPr/>
            </a:pPr>
            <a:endParaRPr lang="fr-CH" altLang="fr-FR"/>
          </a:p>
        </p:txBody>
      </p:sp>
      <p:sp>
        <p:nvSpPr>
          <p:cNvPr id="1028" name="Line 4">
            <a:extLst>
              <a:ext uri="{FF2B5EF4-FFF2-40B4-BE49-F238E27FC236}">
                <a16:creationId xmlns:a16="http://schemas.microsoft.com/office/drawing/2014/main" id="{B96E4725-225E-AE48-E065-F85A029C9CD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0713"/>
            <a:ext cx="9144000" cy="0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69AF0124-3ED9-0A95-2C25-7E2D90414A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0"/>
            <a:ext cx="0" cy="620713"/>
          </a:xfrm>
          <a:prstGeom prst="line">
            <a:avLst/>
          </a:prstGeom>
          <a:noFill/>
          <a:ln w="9525">
            <a:solidFill>
              <a:srgbClr val="CC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CH"/>
          </a:p>
        </p:txBody>
      </p:sp>
      <p:grpSp>
        <p:nvGrpSpPr>
          <p:cNvPr id="1030" name="Group 6">
            <a:extLst>
              <a:ext uri="{FF2B5EF4-FFF2-40B4-BE49-F238E27FC236}">
                <a16:creationId xmlns:a16="http://schemas.microsoft.com/office/drawing/2014/main" id="{F743EBA8-1F19-E9CE-8BD8-4B7E152B494D}"/>
              </a:ext>
            </a:extLst>
          </p:cNvPr>
          <p:cNvGrpSpPr>
            <a:grpSpLocks/>
          </p:cNvGrpSpPr>
          <p:nvPr/>
        </p:nvGrpSpPr>
        <p:grpSpPr bwMode="auto">
          <a:xfrm>
            <a:off x="7524750" y="333375"/>
            <a:ext cx="1474788" cy="360363"/>
            <a:chOff x="4740" y="391"/>
            <a:chExt cx="929" cy="227"/>
          </a:xfrm>
        </p:grpSpPr>
        <p:sp>
          <p:nvSpPr>
            <p:cNvPr id="1040" name="AutoShape 7">
              <a:extLst>
                <a:ext uri="{FF2B5EF4-FFF2-40B4-BE49-F238E27FC236}">
                  <a16:creationId xmlns:a16="http://schemas.microsoft.com/office/drawing/2014/main" id="{D325A975-215A-328A-75C4-31CE76BD1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9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99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1" name="AutoShape 8">
              <a:extLst>
                <a:ext uri="{FF2B5EF4-FFF2-40B4-BE49-F238E27FC236}">
                  <a16:creationId xmlns:a16="http://schemas.microsoft.com/office/drawing/2014/main" id="{EB93B417-5292-E879-F584-6965178BEAB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233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CA005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2" name="AutoShape 9">
              <a:extLst>
                <a:ext uri="{FF2B5EF4-FFF2-40B4-BE49-F238E27FC236}">
                  <a16:creationId xmlns:a16="http://schemas.microsoft.com/office/drawing/2014/main" id="{5F0D73B4-533D-7C8C-5FFF-DF451B3600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6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00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  <p:sp>
          <p:nvSpPr>
            <p:cNvPr id="1043" name="AutoShape 10">
              <a:extLst>
                <a:ext uri="{FF2B5EF4-FFF2-40B4-BE49-F238E27FC236}">
                  <a16:creationId xmlns:a16="http://schemas.microsoft.com/office/drawing/2014/main" id="{7CACEC7E-FAE0-BC4F-E2AA-9585FD05DD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740" y="391"/>
              <a:ext cx="190" cy="22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70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400" y="10800"/>
                  </a:moveTo>
                  <a:cubicBezTo>
                    <a:pt x="5400" y="7817"/>
                    <a:pt x="7817" y="5400"/>
                    <a:pt x="10800" y="5400"/>
                  </a:cubicBezTo>
                  <a:cubicBezTo>
                    <a:pt x="13782" y="5399"/>
                    <a:pt x="16199" y="7817"/>
                    <a:pt x="16200" y="10799"/>
                  </a:cubicBezTo>
                  <a:lnTo>
                    <a:pt x="21600" y="10800"/>
                  </a:ln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lnTo>
                    <a:pt x="5400" y="1080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CH"/>
            </a:p>
          </p:txBody>
        </p:sp>
      </p:grpSp>
      <p:pic>
        <p:nvPicPr>
          <p:cNvPr id="1031" name="Picture 11" descr="Logo arc ingénierie cmyk">
            <a:extLst>
              <a:ext uri="{FF2B5EF4-FFF2-40B4-BE49-F238E27FC236}">
                <a16:creationId xmlns:a16="http://schemas.microsoft.com/office/drawing/2014/main" id="{A8B4D030-CCA4-092F-4750-84BC02574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ext Box 12">
            <a:extLst>
              <a:ext uri="{FF2B5EF4-FFF2-40B4-BE49-F238E27FC236}">
                <a16:creationId xmlns:a16="http://schemas.microsoft.com/office/drawing/2014/main" id="{2597FD0C-69A8-3507-1146-647F5A33A42E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-1689099" y="4541837"/>
            <a:ext cx="3744912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fr-CH" altLang="fr-FR" sz="1800" dirty="0">
                <a:solidFill>
                  <a:schemeClr val="bg1"/>
                </a:solidFill>
                <a:latin typeface="Arial" panose="020B0604020202020204" pitchFamily="34" charset="0"/>
              </a:rPr>
              <a:t>Vision Industrielle 2023</a:t>
            </a:r>
          </a:p>
        </p:txBody>
      </p:sp>
      <p:sp>
        <p:nvSpPr>
          <p:cNvPr id="205837" name="Text Box 13">
            <a:extLst>
              <a:ext uri="{FF2B5EF4-FFF2-40B4-BE49-F238E27FC236}">
                <a16:creationId xmlns:a16="http://schemas.microsoft.com/office/drawing/2014/main" id="{E26F23F6-8602-5622-33DA-A2E7EB1AC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B97FE06F-F754-4553-9305-A04BCE699690}" type="slidenum">
              <a:rPr lang="fr-CH" altLang="fr-FR" sz="1000" smtClean="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034" name="Rectangle 14">
            <a:extLst>
              <a:ext uri="{FF2B5EF4-FFF2-40B4-BE49-F238E27FC236}">
                <a16:creationId xmlns:a16="http://schemas.microsoft.com/office/drawing/2014/main" id="{7CCB25FD-CCA6-F1B4-CA7F-8154D50319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692150"/>
            <a:ext cx="86407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fr-FR"/>
              <a:t>Cliquez pour modifier le style du titre</a:t>
            </a:r>
          </a:p>
        </p:txBody>
      </p:sp>
      <p:sp>
        <p:nvSpPr>
          <p:cNvPr id="1035" name="Rectangle 15">
            <a:extLst>
              <a:ext uri="{FF2B5EF4-FFF2-40B4-BE49-F238E27FC236}">
                <a16:creationId xmlns:a16="http://schemas.microsoft.com/office/drawing/2014/main" id="{22F41A50-AED7-DE0C-6895-EC3E80A59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196975"/>
            <a:ext cx="82804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H" altLang="fr-FR"/>
              <a:t>Cliquez pour modifier les styles du texte du masque</a:t>
            </a:r>
          </a:p>
          <a:p>
            <a:pPr lvl="1"/>
            <a:r>
              <a:rPr lang="fr-CH" altLang="fr-FR"/>
              <a:t>Deuxième niveau</a:t>
            </a:r>
          </a:p>
          <a:p>
            <a:pPr lvl="2"/>
            <a:r>
              <a:rPr lang="fr-CH" altLang="fr-FR"/>
              <a:t>Troisième niveau</a:t>
            </a:r>
          </a:p>
          <a:p>
            <a:pPr lvl="3"/>
            <a:r>
              <a:rPr lang="fr-CH" altLang="fr-FR"/>
              <a:t>Quatrième niveau</a:t>
            </a:r>
          </a:p>
          <a:p>
            <a:pPr lvl="4"/>
            <a:r>
              <a:rPr lang="fr-CH" altLang="fr-FR"/>
              <a:t>Cinquième niveau</a:t>
            </a:r>
          </a:p>
        </p:txBody>
      </p:sp>
      <p:pic>
        <p:nvPicPr>
          <p:cNvPr id="1036" name="Picture 17" descr="Logo arc ingénierie cmyk">
            <a:extLst>
              <a:ext uri="{FF2B5EF4-FFF2-40B4-BE49-F238E27FC236}">
                <a16:creationId xmlns:a16="http://schemas.microsoft.com/office/drawing/2014/main" id="{73DA158A-1C6B-8E3D-84A8-C9C211787B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60350"/>
            <a:ext cx="19177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43" name="Text Box 19">
            <a:extLst>
              <a:ext uri="{FF2B5EF4-FFF2-40B4-BE49-F238E27FC236}">
                <a16:creationId xmlns:a16="http://schemas.microsoft.com/office/drawing/2014/main" id="{3FE3B39E-1A7E-478F-79B9-8A14D282D5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95288" y="6613525"/>
            <a:ext cx="431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fld id="{E4563899-E439-41DA-BA47-A4459CA6329E}" type="slidenum">
              <a:rPr lang="fr-CH" altLang="fr-FR" sz="1000" smtClean="0">
                <a:latin typeface="Arial" panose="020B0604020202020204" pitchFamily="34" charset="0"/>
              </a:rPr>
              <a:pPr>
                <a:spcBef>
                  <a:spcPct val="50000"/>
                </a:spcBef>
                <a:defRPr/>
              </a:pPr>
              <a:t>‹N°›</a:t>
            </a:fld>
            <a:endParaRPr lang="fr-CH" altLang="fr-FR" sz="1000">
              <a:latin typeface="Arial" panose="020B0604020202020204" pitchFamily="34" charset="0"/>
            </a:endParaRPr>
          </a:p>
        </p:txBody>
      </p:sp>
      <p:sp>
        <p:nvSpPr>
          <p:cNvPr id="1038" name="Text Box 20">
            <a:extLst>
              <a:ext uri="{FF2B5EF4-FFF2-40B4-BE49-F238E27FC236}">
                <a16:creationId xmlns:a16="http://schemas.microsoft.com/office/drawing/2014/main" id="{EE10E2B2-EB66-4F36-2152-CD882104DA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124075" y="260350"/>
            <a:ext cx="5329238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altLang="fr-FR" sz="1800" b="1">
                <a:solidFill>
                  <a:srgbClr val="000000"/>
                </a:solidFill>
                <a:latin typeface="Arial" panose="020B0604020202020204" pitchFamily="34" charset="0"/>
              </a:rPr>
              <a:t>Lighting</a:t>
            </a:r>
            <a:endParaRPr lang="fr-CH" altLang="fr-FR" sz="1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039" name="Picture 21" descr="hes-so">
            <a:extLst>
              <a:ext uri="{FF2B5EF4-FFF2-40B4-BE49-F238E27FC236}">
                <a16:creationId xmlns:a16="http://schemas.microsoft.com/office/drawing/2014/main" id="{8B780D24-E567-6891-F303-E575C85516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6381750"/>
            <a:ext cx="792163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000" b="1">
          <a:solidFill>
            <a:srgbClr val="000000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l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Wingdings" panose="05000000000000000000" pitchFamily="2" charset="2"/>
        <a:buChar char="Ø"/>
        <a:defRPr sz="20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anose="020B0604030504040204" pitchFamily="34" charset="0"/>
        <a:buChar char="–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00"/>
        </a:buClr>
        <a:buSzPct val="75000"/>
        <a:buFont typeface="Tahoma" pitchFamily="34" charset="0"/>
        <a:buChar char="–"/>
        <a:defRPr sz="2000">
          <a:solidFill>
            <a:srgbClr val="000000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emmer-imaging.ch/fr/le-guide-imagerie-et-vision/" TargetMode="External"/><Relationship Id="rId2" Type="http://schemas.openxmlformats.org/officeDocument/2006/relationships/hyperlink" Target="https://www.cognex.com/resources/interactive-tools/lighting-adviso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edmundoptics.com/resources/application-notes/illumination/" TargetMode="Externa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pto-e.com/" TargetMode="External"/><Relationship Id="rId13" Type="http://schemas.openxmlformats.org/officeDocument/2006/relationships/hyperlink" Target="https://www.metaphase-tech.com/" TargetMode="External"/><Relationship Id="rId3" Type="http://schemas.openxmlformats.org/officeDocument/2006/relationships/hyperlink" Target="https://www.falcon-illumination.com/" TargetMode="External"/><Relationship Id="rId7" Type="http://schemas.openxmlformats.org/officeDocument/2006/relationships/hyperlink" Target="https://effilux.com/" TargetMode="External"/><Relationship Id="rId12" Type="http://schemas.openxmlformats.org/officeDocument/2006/relationships/hyperlink" Target="https://volpi-group.com/" TargetMode="External"/><Relationship Id="rId2" Type="http://schemas.openxmlformats.org/officeDocument/2006/relationships/hyperlink" Target="https://www.ccs-grp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pl-vision.com/" TargetMode="External"/><Relationship Id="rId11" Type="http://schemas.openxmlformats.org/officeDocument/2006/relationships/hyperlink" Target="http://www.gardasoft.com/" TargetMode="External"/><Relationship Id="rId5" Type="http://schemas.openxmlformats.org/officeDocument/2006/relationships/hyperlink" Target="https://www.vision-control.com/beleuchtungen/" TargetMode="External"/><Relationship Id="rId10" Type="http://schemas.openxmlformats.org/officeDocument/2006/relationships/hyperlink" Target="https://www.advancedillumination.com/" TargetMode="External"/><Relationship Id="rId4" Type="http://schemas.openxmlformats.org/officeDocument/2006/relationships/hyperlink" Target="https://en.optmv.com/about/" TargetMode="External"/><Relationship Id="rId9" Type="http://schemas.openxmlformats.org/officeDocument/2006/relationships/hyperlink" Target="https://smartvisionlights.com/" TargetMode="External"/><Relationship Id="rId14" Type="http://schemas.openxmlformats.org/officeDocument/2006/relationships/hyperlink" Target="https://www.phlox-gc.com/" TargetMode="Externa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emmer-imaging.com/" TargetMode="External"/><Relationship Id="rId3" Type="http://schemas.openxmlformats.org/officeDocument/2006/relationships/hyperlink" Target="https://www.sukhamburg.com/" TargetMode="External"/><Relationship Id="rId7" Type="http://schemas.openxmlformats.org/officeDocument/2006/relationships/hyperlink" Target="https://www.fabrimex-systems.ch/" TargetMode="External"/><Relationship Id="rId2" Type="http://schemas.openxmlformats.org/officeDocument/2006/relationships/hyperlink" Target="http://www.gardasof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asercomponents.com/en/" TargetMode="External"/><Relationship Id="rId5" Type="http://schemas.openxmlformats.org/officeDocument/2006/relationships/hyperlink" Target="http://www.roithner-laser.com/" TargetMode="External"/><Relationship Id="rId10" Type="http://schemas.openxmlformats.org/officeDocument/2006/relationships/hyperlink" Target="https://www.fujifilm.ch/" TargetMode="External"/><Relationship Id="rId4" Type="http://schemas.openxmlformats.org/officeDocument/2006/relationships/hyperlink" Target="http://www.global-lasertech.co.uk/" TargetMode="External"/><Relationship Id="rId9" Type="http://schemas.openxmlformats.org/officeDocument/2006/relationships/hyperlink" Target="https://www.cl-electronic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95E25A5-D9F1-AFB7-AB2D-8BEFE9880F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55600" y="2286000"/>
            <a:ext cx="8788400" cy="1143000"/>
          </a:xfrm>
        </p:spPr>
        <p:txBody>
          <a:bodyPr/>
          <a:lstStyle/>
          <a:p>
            <a:pPr eaLnBrk="1" hangingPunct="1"/>
            <a:r>
              <a:rPr lang="fr-FR" altLang="fr-FR" sz="6600"/>
              <a:t>Vision industrielle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CD1C00D-CA1C-BC87-D1C8-8DDA182782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1000" y="3810000"/>
            <a:ext cx="8763000" cy="1752600"/>
          </a:xfrm>
        </p:spPr>
        <p:txBody>
          <a:bodyPr/>
          <a:lstStyle/>
          <a:p>
            <a:pPr eaLnBrk="1" hangingPunct="1"/>
            <a:r>
              <a:rPr lang="fr-CH" altLang="fr-FR" sz="6000" b="0"/>
              <a:t>Éclairage</a:t>
            </a:r>
            <a:endParaRPr lang="fr-FR" altLang="fr-FR" sz="6000" b="0"/>
          </a:p>
          <a:p>
            <a:pPr eaLnBrk="1" hangingPunct="1"/>
            <a:endParaRPr lang="fr-FR" altLang="fr-FR" sz="6000" b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17C27EF-AC22-BB78-DAAD-DA7A9B94E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Buts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65F8584-7ABC-D77A-7D03-1FA48F8DE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196013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400"/>
              <a:t>Comment choisir le type d’illumination ?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Dépend de l’application.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Grandes variétés de produits existent, chacun ayant ses avantages et inconvénients.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Il existe différents sources de lumière...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>
                <a:solidFill>
                  <a:srgbClr val="FF0B51"/>
                </a:solidFill>
              </a:rPr>
              <a:t>LED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Sources halogènes avec fibres optiques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Sources fluorescentes</a:t>
            </a:r>
          </a:p>
          <a:p>
            <a:pPr lvl="2" eaLnBrk="1" hangingPunct="1">
              <a:lnSpc>
                <a:spcPct val="90000"/>
              </a:lnSpc>
            </a:pPr>
            <a:r>
              <a:rPr lang="fr-CH" altLang="fr-FR" sz="1800"/>
              <a:t>Flash</a:t>
            </a:r>
          </a:p>
          <a:p>
            <a:pPr lvl="2" eaLnBrk="1" hangingPunct="1">
              <a:lnSpc>
                <a:spcPct val="90000"/>
              </a:lnSpc>
            </a:pPr>
            <a:r>
              <a:rPr lang="fr-CH" altLang="fr-FR" sz="1800"/>
              <a:t>Laser</a:t>
            </a:r>
            <a:endParaRPr lang="fr-FR" altLang="fr-FR" sz="1800"/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…</a:t>
            </a:r>
            <a:r>
              <a:rPr lang="fr-FR" altLang="fr-FR" sz="1600">
                <a:solidFill>
                  <a:srgbClr val="FF0000"/>
                </a:solidFill>
              </a:rPr>
              <a:t>différents appareils </a:t>
            </a:r>
            <a:r>
              <a:rPr lang="fr-FR" altLang="fr-FR" sz="1600"/>
              <a:t>(éclairages)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... </a:t>
            </a:r>
            <a:r>
              <a:rPr lang="fr-FR" altLang="fr-FR" sz="1600">
                <a:solidFill>
                  <a:srgbClr val="FF0B51"/>
                </a:solidFill>
              </a:rPr>
              <a:t>et différentes techniques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Illumination coaxiale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Illumination diffuse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Illumination « backlight »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Champ noir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Illumination structurée</a:t>
            </a:r>
          </a:p>
          <a:p>
            <a:pPr lvl="2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fr-FR" altLang="fr-FR" sz="1800"/>
          </a:p>
        </p:txBody>
      </p:sp>
      <p:pic>
        <p:nvPicPr>
          <p:cNvPr id="5124" name="Picture 5">
            <a:extLst>
              <a:ext uri="{FF2B5EF4-FFF2-40B4-BE49-F238E27FC236}">
                <a16:creationId xmlns:a16="http://schemas.microsoft.com/office/drawing/2014/main" id="{5DFF8DC4-F122-113F-E5B6-CB1A70DA1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050" y="1295400"/>
            <a:ext cx="180340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2C48764-6EF8-3EA2-6F2D-24F1CCB4BA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Unités</a:t>
            </a:r>
            <a:endParaRPr lang="fr-FR" altLang="fr-F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7351EBF-211E-75AF-6525-0D87AFE864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Une camera ne réagit pas comme un œil</a:t>
            </a:r>
            <a:endParaRPr lang="fr-FR" altLang="fr-FR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F785792-3674-24C7-CE4A-78ADC5F76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8" y="1974850"/>
            <a:ext cx="3933825" cy="270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Box 5">
            <a:extLst>
              <a:ext uri="{FF2B5EF4-FFF2-40B4-BE49-F238E27FC236}">
                <a16:creationId xmlns:a16="http://schemas.microsoft.com/office/drawing/2014/main" id="{2D97DAC1-3F9A-BAF8-6F99-D1A5946BB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800600"/>
            <a:ext cx="77089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Unité radiométrique : lié au monde physique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Unité photométrique : lié à l’humain (intègre la réponse de l’œil)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F138F88-B69E-D47C-C29F-FE55D8070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Rayonnement optique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0BC50B2-64F5-2E87-F5BD-78A0D75A6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1675" y="1524000"/>
            <a:ext cx="7772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Unités radiométriques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Flux radiant ou puissance optique [W]</a:t>
            </a:r>
          </a:p>
          <a:p>
            <a:pPr marL="1162050" lvl="2" eaLnBrk="1" hangingPunct="1">
              <a:lnSpc>
                <a:spcPct val="90000"/>
              </a:lnSpc>
            </a:pPr>
            <a:r>
              <a:rPr lang="fr-FR" altLang="fr-FR" sz="1800"/>
              <a:t>C’est le flux de photon total émis par la source, multiplié par l’énergie d’un photon h</a:t>
            </a:r>
            <a:r>
              <a:rPr lang="fr-FR" altLang="fr-FR" sz="1800">
                <a:latin typeface="Symbol" panose="05050102010706020507" pitchFamily="18" charset="2"/>
              </a:rPr>
              <a:t>n</a:t>
            </a:r>
            <a:r>
              <a:rPr lang="fr-FR" altLang="fr-FR" sz="1800"/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Emittance/irradiance [W/m</a:t>
            </a:r>
            <a:r>
              <a:rPr lang="fr-FR" altLang="fr-FR" sz="1800" baseline="30000"/>
              <a:t>2</a:t>
            </a:r>
            <a:r>
              <a:rPr lang="fr-FR" altLang="fr-FR" sz="1800"/>
              <a:t>]</a:t>
            </a:r>
          </a:p>
          <a:p>
            <a:pPr marL="1162050" lvl="2" eaLnBrk="1" hangingPunct="1">
              <a:lnSpc>
                <a:spcPct val="90000"/>
              </a:lnSpc>
            </a:pPr>
            <a:r>
              <a:rPr lang="fr-FR" altLang="fr-FR" sz="1800"/>
              <a:t>Par abus de langage, on l’appelle souvent « intensité ». C’est la puissance optique émise/reçue par unité de surface.</a:t>
            </a:r>
            <a:endParaRPr lang="fr-FR" altLang="fr-FR" sz="1800" baseline="30000"/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Intensité radiante [W/sr]</a:t>
            </a:r>
          </a:p>
          <a:p>
            <a:pPr marL="1162050" lvl="2" eaLnBrk="1" hangingPunct="1">
              <a:lnSpc>
                <a:spcPct val="90000"/>
              </a:lnSpc>
            </a:pPr>
            <a:r>
              <a:rPr lang="fr-FR" altLang="fr-FR" sz="1800"/>
              <a:t>Puissance optique émise par unité d’angle solide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Radiance = [W/(m</a:t>
            </a:r>
            <a:r>
              <a:rPr lang="fr-FR" altLang="fr-FR" sz="1800" baseline="30000"/>
              <a:t>2 </a:t>
            </a:r>
            <a:r>
              <a:rPr lang="fr-FR" altLang="fr-FR" sz="1800"/>
              <a:t>sr)]</a:t>
            </a:r>
          </a:p>
          <a:p>
            <a:pPr marL="1162050" lvl="2" eaLnBrk="1" hangingPunct="1">
              <a:lnSpc>
                <a:spcPct val="90000"/>
              </a:lnSpc>
            </a:pPr>
            <a:r>
              <a:rPr lang="fr-FR" altLang="fr-FR" sz="1800"/>
              <a:t>Puissance optique émise par unité </a:t>
            </a:r>
            <a:br>
              <a:rPr lang="fr-FR" altLang="fr-FR" sz="1800"/>
            </a:br>
            <a:r>
              <a:rPr lang="fr-FR" altLang="fr-FR" sz="1800"/>
              <a:t>de surface et par unité d’angle solide</a:t>
            </a:r>
            <a:endParaRPr lang="fr-FR" altLang="fr-FR" sz="1800" baseline="30000"/>
          </a:p>
          <a:p>
            <a:pPr lvl="1" eaLnBrk="1" hangingPunct="1">
              <a:lnSpc>
                <a:spcPct val="90000"/>
              </a:lnSpc>
            </a:pPr>
            <a:endParaRPr lang="fr-FR" altLang="fr-FR" sz="1800"/>
          </a:p>
        </p:txBody>
      </p:sp>
      <p:sp>
        <p:nvSpPr>
          <p:cNvPr id="7172" name="AutoShape 4">
            <a:extLst>
              <a:ext uri="{FF2B5EF4-FFF2-40B4-BE49-F238E27FC236}">
                <a16:creationId xmlns:a16="http://schemas.microsoft.com/office/drawing/2014/main" id="{9F509131-A15B-8424-C7D4-A785C512D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6062663"/>
            <a:ext cx="981075" cy="254000"/>
          </a:xfrm>
          <a:prstGeom prst="parallelogram">
            <a:avLst>
              <a:gd name="adj" fmla="val 965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73" name="Line 5">
            <a:extLst>
              <a:ext uri="{FF2B5EF4-FFF2-40B4-BE49-F238E27FC236}">
                <a16:creationId xmlns:a16="http://schemas.microsoft.com/office/drawing/2014/main" id="{7430F68E-B37A-EFFC-6FEB-629E003FA7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5538" y="5943600"/>
            <a:ext cx="779462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26965CCD-FAC2-CAF3-A248-4F2B5D463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3563" y="5849938"/>
            <a:ext cx="62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d</a:t>
            </a:r>
            <a:r>
              <a:rPr lang="fr-FR" altLang="fr-FR" sz="2400" b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75" name="Oval 7">
            <a:extLst>
              <a:ext uri="{FF2B5EF4-FFF2-40B4-BE49-F238E27FC236}">
                <a16:creationId xmlns:a16="http://schemas.microsoft.com/office/drawing/2014/main" id="{A7A1AB06-53BC-53C0-E2DF-B5586B186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5291138"/>
            <a:ext cx="1135063" cy="863600"/>
          </a:xfrm>
          <a:prstGeom prst="ellipse">
            <a:avLst/>
          </a:prstGeom>
          <a:gradFill rotWithShape="0">
            <a:gsLst>
              <a:gs pos="0">
                <a:srgbClr val="FF0F12">
                  <a:alpha val="24001"/>
                </a:srgbClr>
              </a:gs>
              <a:gs pos="100000">
                <a:srgbClr val="760708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76" name="Line 8">
            <a:extLst>
              <a:ext uri="{FF2B5EF4-FFF2-40B4-BE49-F238E27FC236}">
                <a16:creationId xmlns:a16="http://schemas.microsoft.com/office/drawing/2014/main" id="{AB64A46D-5ECF-0A23-2EBB-6581774DAE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42200" y="5486400"/>
            <a:ext cx="0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7177" name="Oval 9">
            <a:extLst>
              <a:ext uri="{FF2B5EF4-FFF2-40B4-BE49-F238E27FC236}">
                <a16:creationId xmlns:a16="http://schemas.microsoft.com/office/drawing/2014/main" id="{6162DDAE-1022-8456-1A7B-CC30B323CD70}"/>
              </a:ext>
            </a:extLst>
          </p:cNvPr>
          <p:cNvSpPr>
            <a:spLocks noChangeArrowheads="1"/>
          </p:cNvSpPr>
          <p:nvPr/>
        </p:nvSpPr>
        <p:spPr bwMode="auto">
          <a:xfrm rot="-2505622">
            <a:off x="6648450" y="5554663"/>
            <a:ext cx="592138" cy="168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78" name="Line 10">
            <a:extLst>
              <a:ext uri="{FF2B5EF4-FFF2-40B4-BE49-F238E27FC236}">
                <a16:creationId xmlns:a16="http://schemas.microsoft.com/office/drawing/2014/main" id="{84DBA9A8-AF7C-45CD-8889-44BDDA8DA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0738" y="5461000"/>
            <a:ext cx="269875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7179" name="Line 11">
            <a:extLst>
              <a:ext uri="{FF2B5EF4-FFF2-40B4-BE49-F238E27FC236}">
                <a16:creationId xmlns:a16="http://schemas.microsoft.com/office/drawing/2014/main" id="{A201D43E-DC4F-D017-AD23-17D458D0E22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1000" y="5843588"/>
            <a:ext cx="71120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7180" name="Line 12">
            <a:extLst>
              <a:ext uri="{FF2B5EF4-FFF2-40B4-BE49-F238E27FC236}">
                <a16:creationId xmlns:a16="http://schemas.microsoft.com/office/drawing/2014/main" id="{0F33CE8D-7E14-BF84-E907-ED09A50EF39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99263" y="5502275"/>
            <a:ext cx="642937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7181" name="Text Box 13">
            <a:extLst>
              <a:ext uri="{FF2B5EF4-FFF2-40B4-BE49-F238E27FC236}">
                <a16:creationId xmlns:a16="http://schemas.microsoft.com/office/drawing/2014/main" id="{D44A7C2B-7153-C61E-CC2E-E0A7B9F44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225" y="5654675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d</a:t>
            </a:r>
            <a:r>
              <a:rPr lang="fr-FR" altLang="fr-FR" sz="2400" b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7182" name="Line 14">
            <a:extLst>
              <a:ext uri="{FF2B5EF4-FFF2-40B4-BE49-F238E27FC236}">
                <a16:creationId xmlns:a16="http://schemas.microsoft.com/office/drawing/2014/main" id="{9143EAA1-5AB3-B327-61EE-8516091E62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94600" y="5935663"/>
            <a:ext cx="246063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46245C4-5910-A86A-1913-857EBA1D3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Rayonnement optique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6F74CF38-C53F-0334-7361-8D77078B24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58875" y="1600200"/>
            <a:ext cx="7772400" cy="2667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Unités photométriques  (en relation avec l’oeil)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Flux lumineux [lm] (lumen)</a:t>
            </a:r>
          </a:p>
          <a:p>
            <a:pPr marL="1162050" lvl="2" eaLnBrk="1" hangingPunct="1">
              <a:lnSpc>
                <a:spcPct val="90000"/>
              </a:lnSpc>
            </a:pPr>
            <a:endParaRPr lang="fr-FR" altLang="fr-FR" sz="1800"/>
          </a:p>
          <a:p>
            <a:pPr marL="1162050" lvl="2" eaLnBrk="1" hangingPunct="1">
              <a:lnSpc>
                <a:spcPct val="90000"/>
              </a:lnSpc>
            </a:pPr>
            <a:endParaRPr lang="fr-FR" altLang="fr-FR" sz="1800"/>
          </a:p>
          <a:p>
            <a:pPr marL="1162050" lvl="2" eaLnBrk="1" hangingPunct="1">
              <a:lnSpc>
                <a:spcPct val="90000"/>
              </a:lnSpc>
            </a:pPr>
            <a:endParaRPr lang="fr-FR" altLang="fr-FR" sz="1800"/>
          </a:p>
          <a:p>
            <a:pPr marL="1162050" lvl="2" eaLnBrk="1" hangingPunct="1">
              <a:lnSpc>
                <a:spcPct val="90000"/>
              </a:lnSpc>
            </a:pPr>
            <a:r>
              <a:rPr lang="fr-FR" altLang="fr-FR" sz="1800"/>
              <a:t> </a:t>
            </a:r>
            <a:r>
              <a:rPr lang="fr-FR" altLang="fr-FR" sz="1800">
                <a:latin typeface="Symbol" panose="05050102010706020507" pitchFamily="18" charset="2"/>
              </a:rPr>
              <a:t>f</a:t>
            </a:r>
            <a:r>
              <a:rPr lang="fr-FR" altLang="fr-FR" sz="1800"/>
              <a:t>(</a:t>
            </a:r>
            <a:r>
              <a:rPr lang="fr-FR" altLang="fr-FR" sz="1800">
                <a:latin typeface="Symbol" panose="05050102010706020507" pitchFamily="18" charset="2"/>
              </a:rPr>
              <a:t>l</a:t>
            </a:r>
            <a:r>
              <a:rPr lang="fr-FR" altLang="fr-FR" sz="1800"/>
              <a:t>) est le flux radiant et V(</a:t>
            </a:r>
            <a:r>
              <a:rPr lang="fr-FR" altLang="fr-FR" sz="1800">
                <a:latin typeface="Symbol" panose="05050102010706020507" pitchFamily="18" charset="2"/>
              </a:rPr>
              <a:t>l</a:t>
            </a:r>
            <a:r>
              <a:rPr lang="fr-FR" altLang="fr-FR" sz="1800"/>
              <a:t>) est la sensibilité spectrale de l’oeil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Emittance/irradiance lumineuse [lm/m</a:t>
            </a:r>
            <a:r>
              <a:rPr lang="fr-FR" altLang="fr-FR" sz="1800" baseline="30000"/>
              <a:t>2</a:t>
            </a:r>
            <a:r>
              <a:rPr lang="fr-FR" altLang="fr-FR" sz="1800"/>
              <a:t>=lx] (lux)</a:t>
            </a:r>
            <a:endParaRPr lang="fr-FR" altLang="fr-FR" sz="1800" baseline="30000"/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Intensité lumineuse [cd = lm/sr] (candela)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Luminance  [cd/m</a:t>
            </a:r>
            <a:r>
              <a:rPr lang="fr-FR" altLang="fr-FR" sz="1800" baseline="30000"/>
              <a:t>2</a:t>
            </a:r>
            <a:r>
              <a:rPr lang="fr-FR" altLang="fr-FR" sz="1800"/>
              <a:t>]</a:t>
            </a:r>
          </a:p>
          <a:p>
            <a:pPr marL="1162050" lvl="2" eaLnBrk="1" hangingPunct="1">
              <a:lnSpc>
                <a:spcPct val="90000"/>
              </a:lnSpc>
              <a:buFont typeface="Tahoma" panose="020B0604030504040204" pitchFamily="34" charset="0"/>
              <a:buNone/>
            </a:pPr>
            <a:endParaRPr lang="fr-FR" altLang="fr-FR" sz="1800" baseline="30000"/>
          </a:p>
          <a:p>
            <a:pPr lvl="1" eaLnBrk="1" hangingPunct="1">
              <a:lnSpc>
                <a:spcPct val="90000"/>
              </a:lnSpc>
            </a:pPr>
            <a:endParaRPr lang="fr-FR" altLang="fr-FR" sz="1800"/>
          </a:p>
        </p:txBody>
      </p:sp>
      <p:sp>
        <p:nvSpPr>
          <p:cNvPr id="8196" name="AutoShape 4">
            <a:extLst>
              <a:ext uri="{FF2B5EF4-FFF2-40B4-BE49-F238E27FC236}">
                <a16:creationId xmlns:a16="http://schemas.microsoft.com/office/drawing/2014/main" id="{E37BF2DC-E9AF-150E-128C-121438C65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5618163"/>
            <a:ext cx="981075" cy="254000"/>
          </a:xfrm>
          <a:prstGeom prst="parallelogram">
            <a:avLst>
              <a:gd name="adj" fmla="val 965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197" name="Line 5">
            <a:extLst>
              <a:ext uri="{FF2B5EF4-FFF2-40B4-BE49-F238E27FC236}">
                <a16:creationId xmlns:a16="http://schemas.microsoft.com/office/drawing/2014/main" id="{4AB1AAE5-F2E9-ABCF-BB44-E8B98ACB8E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97538" y="5499100"/>
            <a:ext cx="779462" cy="936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8198" name="Text Box 6">
            <a:extLst>
              <a:ext uri="{FF2B5EF4-FFF2-40B4-BE49-F238E27FC236}">
                <a16:creationId xmlns:a16="http://schemas.microsoft.com/office/drawing/2014/main" id="{A2248014-D30D-3993-DBD9-0CDAD7663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63" y="5405438"/>
            <a:ext cx="62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d</a:t>
            </a:r>
            <a:r>
              <a:rPr lang="fr-FR" altLang="fr-FR" sz="2400" b="0">
                <a:solidFill>
                  <a:schemeClr val="tx1"/>
                </a:solidFill>
                <a:latin typeface="Symbol" panose="05050102010706020507" pitchFamily="18" charset="2"/>
              </a:rPr>
              <a:t>W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199" name="Oval 7">
            <a:extLst>
              <a:ext uri="{FF2B5EF4-FFF2-40B4-BE49-F238E27FC236}">
                <a16:creationId xmlns:a16="http://schemas.microsoft.com/office/drawing/2014/main" id="{44417F9B-176B-452B-0990-F0DC70E9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846638"/>
            <a:ext cx="1135063" cy="863600"/>
          </a:xfrm>
          <a:prstGeom prst="ellipse">
            <a:avLst/>
          </a:prstGeom>
          <a:gradFill rotWithShape="0">
            <a:gsLst>
              <a:gs pos="0">
                <a:srgbClr val="FF0F12">
                  <a:alpha val="24001"/>
                </a:srgbClr>
              </a:gs>
              <a:gs pos="100000">
                <a:srgbClr val="760708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200" name="Oval 9">
            <a:extLst>
              <a:ext uri="{FF2B5EF4-FFF2-40B4-BE49-F238E27FC236}">
                <a16:creationId xmlns:a16="http://schemas.microsoft.com/office/drawing/2014/main" id="{72474F5B-8792-B7C0-A795-330F98A68B23}"/>
              </a:ext>
            </a:extLst>
          </p:cNvPr>
          <p:cNvSpPr>
            <a:spLocks noChangeArrowheads="1"/>
          </p:cNvSpPr>
          <p:nvPr/>
        </p:nvSpPr>
        <p:spPr bwMode="auto">
          <a:xfrm rot="-2505622">
            <a:off x="6140450" y="5110163"/>
            <a:ext cx="592138" cy="168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201" name="Line 10">
            <a:extLst>
              <a:ext uri="{FF2B5EF4-FFF2-40B4-BE49-F238E27FC236}">
                <a16:creationId xmlns:a16="http://schemas.microsoft.com/office/drawing/2014/main" id="{331B41CA-FDBA-F8BD-3E93-6D1D25AF98E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2738" y="5016500"/>
            <a:ext cx="269875" cy="71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8202" name="Line 11">
            <a:extLst>
              <a:ext uri="{FF2B5EF4-FFF2-40B4-BE49-F238E27FC236}">
                <a16:creationId xmlns:a16="http://schemas.microsoft.com/office/drawing/2014/main" id="{AA3F489F-31D2-4D02-8FFB-80298AAE95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23000" y="5399088"/>
            <a:ext cx="711200" cy="320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8203" name="Line 12">
            <a:extLst>
              <a:ext uri="{FF2B5EF4-FFF2-40B4-BE49-F238E27FC236}">
                <a16:creationId xmlns:a16="http://schemas.microsoft.com/office/drawing/2014/main" id="{72EB8E2B-B5C9-220D-D401-6DE51E18FD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91263" y="5057775"/>
            <a:ext cx="642937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8204" name="Text Box 13">
            <a:extLst>
              <a:ext uri="{FF2B5EF4-FFF2-40B4-BE49-F238E27FC236}">
                <a16:creationId xmlns:a16="http://schemas.microsoft.com/office/drawing/2014/main" id="{F2A461AA-AE34-896D-687E-7391C2A72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225" y="5210175"/>
            <a:ext cx="62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d</a:t>
            </a:r>
            <a:r>
              <a:rPr lang="fr-FR" altLang="fr-FR" sz="2400" b="0">
                <a:solidFill>
                  <a:schemeClr val="tx1"/>
                </a:solidFill>
                <a:latin typeface="Symbol" panose="05050102010706020507" pitchFamily="18" charset="2"/>
              </a:rPr>
              <a:t>A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8205" name="Line 14">
            <a:extLst>
              <a:ext uri="{FF2B5EF4-FFF2-40B4-BE49-F238E27FC236}">
                <a16:creationId xmlns:a16="http://schemas.microsoft.com/office/drawing/2014/main" id="{E83A08F2-AE5F-E40B-CD8F-EF32C4428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86600" y="5491163"/>
            <a:ext cx="246063" cy="244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graphicFrame>
        <p:nvGraphicFramePr>
          <p:cNvPr id="8206" name="Object 15">
            <a:extLst>
              <a:ext uri="{FF2B5EF4-FFF2-40B4-BE49-F238E27FC236}">
                <a16:creationId xmlns:a16="http://schemas.microsoft.com/office/drawing/2014/main" id="{86CCAFA7-93BB-910B-EE2E-9B94B051FB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47888" y="2346325"/>
          <a:ext cx="2349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9500" imgH="457200" progId="Equation.3">
                  <p:embed/>
                </p:oleObj>
              </mc:Choice>
              <mc:Fallback>
                <p:oleObj name="Equation" r:id="rId2" imgW="2349500" imgH="457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2346325"/>
                        <a:ext cx="2349500" cy="45720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99981E9-82D2-94CB-F52B-399FF6BB7B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Rayonnement optique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EE2D0A3-E5DA-B378-19F0-264E079D4C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Spécifications des sources de lumière.</a:t>
            </a:r>
          </a:p>
          <a:p>
            <a:pPr lvl="1" eaLnBrk="1" hangingPunct="1"/>
            <a:r>
              <a:rPr lang="fr-FR" altLang="fr-FR"/>
              <a:t>Souvent, pour des sources visibles, ce sont des unités photométriques qui sont spécifiées. </a:t>
            </a:r>
          </a:p>
          <a:p>
            <a:pPr lvl="1" eaLnBrk="1" hangingPunct="1"/>
            <a:r>
              <a:rPr lang="fr-FR" altLang="fr-FR"/>
              <a:t>Pour des sources IR, les grandeurs photométriques n’existent pas. On spécifie alors les unités radiométriques.</a:t>
            </a:r>
          </a:p>
          <a:p>
            <a:pPr lvl="1" eaLnBrk="1" hangingPunct="1"/>
            <a:r>
              <a:rPr lang="fr-FR" altLang="fr-FR"/>
              <a:t>Pour une caméra monochrome, les grandeurs photométriques ne nous intéressent pas</a:t>
            </a:r>
          </a:p>
          <a:p>
            <a:pPr lvl="2" eaLnBrk="1" hangingPunct="1">
              <a:buClr>
                <a:schemeClr val="tx1"/>
              </a:buClr>
              <a:buFont typeface="Monotype Sorts" pitchFamily="2" charset="2"/>
              <a:buChar char="é"/>
            </a:pPr>
            <a:r>
              <a:rPr lang="fr-FR" altLang="fr-FR"/>
              <a:t> </a:t>
            </a:r>
            <a:r>
              <a:rPr lang="fr-FR" altLang="fr-FR">
                <a:solidFill>
                  <a:srgbClr val="FF0F12"/>
                </a:solidFill>
              </a:rPr>
              <a:t>Conversion en unités radiométriques</a:t>
            </a:r>
            <a:r>
              <a:rPr lang="fr-FR" altLang="fr-FR"/>
              <a:t>.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D9646A1-A11B-ED87-BEDF-BD6CB9EF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4600" y="3632200"/>
            <a:ext cx="6045200" cy="990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6D7F6BC-6C6B-3898-F5A8-EBE998B00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Réflexions, transmissions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19595DF-D52E-82CF-6527-F098E5375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263" y="1524000"/>
            <a:ext cx="7772400" cy="4572000"/>
          </a:xfrm>
        </p:spPr>
        <p:txBody>
          <a:bodyPr/>
          <a:lstStyle/>
          <a:p>
            <a:pPr eaLnBrk="1" hangingPunct="1"/>
            <a:r>
              <a:rPr lang="fr-FR" altLang="fr-FR" sz="1800"/>
              <a:t>Réflexions diffuses/spéculaires</a:t>
            </a:r>
          </a:p>
          <a:p>
            <a:pPr lvl="1" eaLnBrk="1" hangingPunct="1"/>
            <a:r>
              <a:rPr lang="fr-FR" altLang="fr-FR" sz="1800"/>
              <a:t>Surface « miroir »: réflexion essentiellement spéculaire</a:t>
            </a:r>
          </a:p>
          <a:p>
            <a:pPr lvl="1" eaLnBrk="1" hangingPunct="1"/>
            <a:r>
              <a:rPr lang="fr-FR" altLang="fr-FR" sz="1800"/>
              <a:t>Surface de papier mat: réflexion diffuse</a:t>
            </a:r>
          </a:p>
          <a:p>
            <a:pPr lvl="1" eaLnBrk="1" hangingPunct="1"/>
            <a:r>
              <a:rPr lang="fr-FR" altLang="fr-FR" sz="1800"/>
              <a:t>Surface de papier brillant (glossy): réflexions diffuses+spéculaires.</a:t>
            </a:r>
          </a:p>
        </p:txBody>
      </p:sp>
      <p:sp>
        <p:nvSpPr>
          <p:cNvPr id="10244" name="Line 4">
            <a:extLst>
              <a:ext uri="{FF2B5EF4-FFF2-40B4-BE49-F238E27FC236}">
                <a16:creationId xmlns:a16="http://schemas.microsoft.com/office/drawing/2014/main" id="{543851AD-CAC0-C327-CAD2-15216E76E5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0388" y="6146800"/>
            <a:ext cx="50625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45" name="Line 5">
            <a:extLst>
              <a:ext uri="{FF2B5EF4-FFF2-40B4-BE49-F238E27FC236}">
                <a16:creationId xmlns:a16="http://schemas.microsoft.com/office/drawing/2014/main" id="{DD54F731-244C-561D-9FF7-657AE8158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1738" y="4859338"/>
            <a:ext cx="1285875" cy="1285875"/>
          </a:xfrm>
          <a:prstGeom prst="line">
            <a:avLst/>
          </a:prstGeom>
          <a:noFill/>
          <a:ln w="50800">
            <a:solidFill>
              <a:srgbClr val="FF0F1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46" name="Line 6">
            <a:extLst>
              <a:ext uri="{FF2B5EF4-FFF2-40B4-BE49-F238E27FC236}">
                <a16:creationId xmlns:a16="http://schemas.microsoft.com/office/drawing/2014/main" id="{FEF87905-A3E2-FF4E-B864-E434A29C40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25863" y="4773613"/>
            <a:ext cx="1355725" cy="1355725"/>
          </a:xfrm>
          <a:prstGeom prst="line">
            <a:avLst/>
          </a:prstGeom>
          <a:noFill/>
          <a:ln w="25400">
            <a:solidFill>
              <a:srgbClr val="FF0F1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47" name="Line 7">
            <a:extLst>
              <a:ext uri="{FF2B5EF4-FFF2-40B4-BE49-F238E27FC236}">
                <a16:creationId xmlns:a16="http://schemas.microsoft.com/office/drawing/2014/main" id="{14752BE3-D9EC-CE8B-F458-AA94DDE30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2263" y="5232400"/>
            <a:ext cx="254000" cy="271463"/>
          </a:xfrm>
          <a:prstGeom prst="line">
            <a:avLst/>
          </a:prstGeom>
          <a:noFill/>
          <a:ln w="25400">
            <a:solidFill>
              <a:srgbClr val="FF0F1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48" name="Oval 8">
            <a:extLst>
              <a:ext uri="{FF2B5EF4-FFF2-40B4-BE49-F238E27FC236}">
                <a16:creationId xmlns:a16="http://schemas.microsoft.com/office/drawing/2014/main" id="{97066961-FE07-EAC3-8852-3ADB95815A19}"/>
              </a:ext>
            </a:extLst>
          </p:cNvPr>
          <p:cNvSpPr>
            <a:spLocks noChangeArrowheads="1"/>
          </p:cNvSpPr>
          <p:nvPr/>
        </p:nvSpPr>
        <p:spPr bwMode="auto">
          <a:xfrm rot="2804286">
            <a:off x="3490913" y="4806950"/>
            <a:ext cx="1150938" cy="1423987"/>
          </a:xfrm>
          <a:prstGeom prst="ellipse">
            <a:avLst/>
          </a:prstGeom>
          <a:solidFill>
            <a:srgbClr val="FF0F12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0249" name="Line 9">
            <a:extLst>
              <a:ext uri="{FF2B5EF4-FFF2-40B4-BE49-F238E27FC236}">
                <a16:creationId xmlns:a16="http://schemas.microsoft.com/office/drawing/2014/main" id="{D15C9013-1442-FBEF-7B9A-1C2E69BD38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8250" y="5588000"/>
            <a:ext cx="492125" cy="492125"/>
          </a:xfrm>
          <a:prstGeom prst="line">
            <a:avLst/>
          </a:prstGeom>
          <a:noFill/>
          <a:ln w="25400">
            <a:solidFill>
              <a:srgbClr val="E1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50" name="Line 10">
            <a:extLst>
              <a:ext uri="{FF2B5EF4-FFF2-40B4-BE49-F238E27FC236}">
                <a16:creationId xmlns:a16="http://schemas.microsoft.com/office/drawing/2014/main" id="{419D02C8-B10D-9167-5ECB-BDC3EB68D0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08400" y="4622800"/>
            <a:ext cx="304800" cy="473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51" name="Line 11">
            <a:extLst>
              <a:ext uri="{FF2B5EF4-FFF2-40B4-BE49-F238E27FC236}">
                <a16:creationId xmlns:a16="http://schemas.microsoft.com/office/drawing/2014/main" id="{DE763680-9275-3877-7B67-82A3D0289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1725" y="4943475"/>
            <a:ext cx="49053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CH"/>
          </a:p>
        </p:txBody>
      </p:sp>
      <p:sp>
        <p:nvSpPr>
          <p:cNvPr id="10252" name="Text Box 12">
            <a:extLst>
              <a:ext uri="{FF2B5EF4-FFF2-40B4-BE49-F238E27FC236}">
                <a16:creationId xmlns:a16="http://schemas.microsoft.com/office/drawing/2014/main" id="{03302762-467E-EA69-7090-C04FA93D6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6863" y="4197350"/>
            <a:ext cx="1951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Réflexion diffuse</a:t>
            </a:r>
          </a:p>
        </p:txBody>
      </p:sp>
      <p:sp>
        <p:nvSpPr>
          <p:cNvPr id="10253" name="Text Box 13">
            <a:extLst>
              <a:ext uri="{FF2B5EF4-FFF2-40B4-BE49-F238E27FC236}">
                <a16:creationId xmlns:a16="http://schemas.microsoft.com/office/drawing/2014/main" id="{B5A55617-9C81-EB80-801A-B016C80FF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5213350"/>
            <a:ext cx="2274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Réflexion spéculaire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BA6F2C4-91D5-E4A6-903B-859DA5C7E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F34A6C5-74AA-3158-3A67-6A2E79D31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32472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LEDs (Light-emitting diodes)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quasi-monochromatiques (rouge, bleu, orange, near-IR, 10-50 nm de largeur spectrale)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LED « blanches »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A phosphore</a:t>
            </a:r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lvl="1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RGB: moins puissantes. Plutôt pour display que vision industrielle 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Temps de commutation court 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À émission directe (couleur, IR, UV): ~10 ns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À phosphore (~100 ns)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Limitées par circuit de pilotage</a:t>
            </a:r>
          </a:p>
          <a:p>
            <a:pPr eaLnBrk="1" hangingPunct="1">
              <a:lnSpc>
                <a:spcPct val="90000"/>
              </a:lnSpc>
            </a:pPr>
            <a:endParaRPr lang="fr-FR" altLang="fr-FR" sz="1600"/>
          </a:p>
        </p:txBody>
      </p:sp>
      <p:pic>
        <p:nvPicPr>
          <p:cNvPr id="11268" name="Image 2">
            <a:extLst>
              <a:ext uri="{FF2B5EF4-FFF2-40B4-BE49-F238E27FC236}">
                <a16:creationId xmlns:a16="http://schemas.microsoft.com/office/drawing/2014/main" id="{5CBCFD21-E5CE-E507-EF79-3DC5E7A8D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1955800"/>
            <a:ext cx="4167188" cy="189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ZoneTexte 3">
            <a:extLst>
              <a:ext uri="{FF2B5EF4-FFF2-40B4-BE49-F238E27FC236}">
                <a16:creationId xmlns:a16="http://schemas.microsoft.com/office/drawing/2014/main" id="{9064CD60-CA9F-5FE5-5CDA-00210F257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3509963"/>
            <a:ext cx="1090612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800" b="0">
                <a:solidFill>
                  <a:schemeClr val="tx1"/>
                </a:solidFill>
                <a:latin typeface="Times" panose="02020603050405020304" pitchFamily="18" charset="0"/>
              </a:rPr>
              <a:t>Tiré de Lumileds.com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Image 11">
            <a:extLst>
              <a:ext uri="{FF2B5EF4-FFF2-40B4-BE49-F238E27FC236}">
                <a16:creationId xmlns:a16="http://schemas.microsoft.com/office/drawing/2014/main" id="{E070E632-FFE4-7A8D-E123-767C20505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65925" y="1196975"/>
            <a:ext cx="2271713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pic>
        <p:nvPicPr>
          <p:cNvPr id="12291" name="Image 2">
            <a:extLst>
              <a:ext uri="{FF2B5EF4-FFF2-40B4-BE49-F238E27FC236}">
                <a16:creationId xmlns:a16="http://schemas.microsoft.com/office/drawing/2014/main" id="{FD2D351D-DF9D-A680-FF30-B24F3D083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813" y="1404938"/>
            <a:ext cx="2051050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Image 2">
            <a:extLst>
              <a:ext uri="{FF2B5EF4-FFF2-40B4-BE49-F238E27FC236}">
                <a16:creationId xmlns:a16="http://schemas.microsoft.com/office/drawing/2014/main" id="{E8A469DB-E8CB-F325-7B36-D1D05B99D3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43700" y="1228725"/>
            <a:ext cx="2270125" cy="223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CBAC14B2-E847-D4F1-3EF9-A4EE57DC0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FE9989F1-BD85-8D7A-83D3-48E1CC0A4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459538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600"/>
              <a:t>LEDs (Light-emitting diodes)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600"/>
              <a:t>Intensité facilement pilotable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En tension: (12v, 24v) Plus simple, luminosité moins stable (dérive en température)</a:t>
            </a:r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En courant: Plus stable mais complexe (current driver)</a:t>
            </a:r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r>
              <a:rPr lang="fr-FR" altLang="fr-FR" sz="1600"/>
              <a:t>Toutes les 2 approches sont « dimmables » avec PWM.</a:t>
            </a:r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  <a:p>
            <a:pPr lvl="2" eaLnBrk="1" hangingPunct="1">
              <a:lnSpc>
                <a:spcPct val="90000"/>
              </a:lnSpc>
            </a:pPr>
            <a:endParaRPr lang="fr-FR" altLang="fr-FR" sz="1600"/>
          </a:p>
        </p:txBody>
      </p:sp>
      <p:pic>
        <p:nvPicPr>
          <p:cNvPr id="12295" name="Image 6">
            <a:extLst>
              <a:ext uri="{FF2B5EF4-FFF2-40B4-BE49-F238E27FC236}">
                <a16:creationId xmlns:a16="http://schemas.microsoft.com/office/drawing/2014/main" id="{B178722C-89AC-D569-64E4-16AB13912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2205038"/>
            <a:ext cx="1616075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6" name="ZoneTexte 1">
            <a:extLst>
              <a:ext uri="{FF2B5EF4-FFF2-40B4-BE49-F238E27FC236}">
                <a16:creationId xmlns:a16="http://schemas.microsoft.com/office/drawing/2014/main" id="{6D572D61-454A-06A7-CEC0-9F896F20E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8" y="3060700"/>
            <a:ext cx="14239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200" b="0">
                <a:solidFill>
                  <a:schemeClr val="tx1"/>
                </a:solidFill>
                <a:latin typeface="Times" panose="02020603050405020304" pitchFamily="18" charset="0"/>
              </a:rPr>
              <a:t>Circuit open drain</a:t>
            </a:r>
          </a:p>
        </p:txBody>
      </p:sp>
      <p:sp>
        <p:nvSpPr>
          <p:cNvPr id="12297" name="ZoneTexte 7">
            <a:extLst>
              <a:ext uri="{FF2B5EF4-FFF2-40B4-BE49-F238E27FC236}">
                <a16:creationId xmlns:a16="http://schemas.microsoft.com/office/drawing/2014/main" id="{C4F7C918-A623-D6A6-C8C1-40E600515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6475" y="1633538"/>
            <a:ext cx="631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800" b="0">
                <a:solidFill>
                  <a:schemeClr val="tx1"/>
                </a:solidFill>
                <a:latin typeface="Times" panose="02020603050405020304" pitchFamily="18" charset="0"/>
              </a:rPr>
              <a:t>1/R</a:t>
            </a:r>
          </a:p>
        </p:txBody>
      </p:sp>
      <p:pic>
        <p:nvPicPr>
          <p:cNvPr id="12298" name="Image 10">
            <a:extLst>
              <a:ext uri="{FF2B5EF4-FFF2-40B4-BE49-F238E27FC236}">
                <a16:creationId xmlns:a16="http://schemas.microsoft.com/office/drawing/2014/main" id="{4EA84ABD-94E8-F1F7-35E4-443652C9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3897313"/>
            <a:ext cx="2406650" cy="174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9" name="Image 2">
            <a:extLst>
              <a:ext uri="{FF2B5EF4-FFF2-40B4-BE49-F238E27FC236}">
                <a16:creationId xmlns:a16="http://schemas.microsoft.com/office/drawing/2014/main" id="{3B716ED3-7A00-D4E8-99F7-4036CB8D81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54825" y="1644650"/>
            <a:ext cx="1746250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H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cxnSp>
        <p:nvCxnSpPr>
          <p:cNvPr id="12300" name="Connecteur droit 3">
            <a:extLst>
              <a:ext uri="{FF2B5EF4-FFF2-40B4-BE49-F238E27FC236}">
                <a16:creationId xmlns:a16="http://schemas.microsoft.com/office/drawing/2014/main" id="{45907618-776B-B7AE-989C-1779B4467F71}"/>
              </a:ext>
            </a:extLst>
          </p:cNvPr>
          <p:cNvCxnSpPr>
            <a:cxnSpLocks/>
          </p:cNvCxnSpPr>
          <p:nvPr/>
        </p:nvCxnSpPr>
        <p:spPr bwMode="auto">
          <a:xfrm flipV="1">
            <a:off x="7183438" y="1566863"/>
            <a:ext cx="1663700" cy="15509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301" name="Image 3">
            <a:extLst>
              <a:ext uri="{FF2B5EF4-FFF2-40B4-BE49-F238E27FC236}">
                <a16:creationId xmlns:a16="http://schemas.microsoft.com/office/drawing/2014/main" id="{76D27D1C-834D-BBF5-AA58-7FB06193C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4471988"/>
            <a:ext cx="134937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2" name="ZoneTexte 4">
            <a:extLst>
              <a:ext uri="{FF2B5EF4-FFF2-40B4-BE49-F238E27FC236}">
                <a16:creationId xmlns:a16="http://schemas.microsoft.com/office/drawing/2014/main" id="{136D615E-ABC3-34A8-E0C6-D3FF92CF3E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4260850"/>
            <a:ext cx="588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H" altLang="fr-FR" sz="1200" b="0">
                <a:solidFill>
                  <a:schemeClr val="tx1"/>
                </a:solidFill>
                <a:latin typeface="Times" panose="02020603050405020304" pitchFamily="18" charset="0"/>
              </a:rPr>
              <a:t>PWM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A9AC54B-B721-1100-6FA4-C3215293E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7DB7BF3A-2549-21B6-2922-B0B7779CCE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459538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altLang="fr-FR" sz="1600" dirty="0" err="1"/>
              <a:t>LEDs</a:t>
            </a:r>
            <a:r>
              <a:rPr lang="fr-FR" altLang="fr-FR" sz="1600" dirty="0"/>
              <a:t> (Light-</a:t>
            </a:r>
            <a:r>
              <a:rPr lang="fr-FR" altLang="fr-FR" sz="1600" dirty="0" err="1"/>
              <a:t>emitting</a:t>
            </a:r>
            <a:r>
              <a:rPr lang="fr-FR" altLang="fr-FR" sz="1600" dirty="0"/>
              <a:t> diodes)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Sources compactes, bon marché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Grande durée de vie (&gt; 100’000 h)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Les sources autour de 800 nm (</a:t>
            </a:r>
            <a:r>
              <a:rPr lang="fr-FR" altLang="fr-FR" sz="1600" dirty="0" err="1"/>
              <a:t>near</a:t>
            </a:r>
            <a:r>
              <a:rPr lang="fr-FR" altLang="fr-FR" sz="1600" dirty="0"/>
              <a:t>-IR) permettent de ne travailler qu’à ces longueurs d’onde en utilisant des filtres pour enlever la lumière visible</a:t>
            </a:r>
          </a:p>
          <a:p>
            <a:pPr lvl="2" eaLnBrk="1" hangingPunct="1">
              <a:lnSpc>
                <a:spcPct val="90000"/>
              </a:lnSpc>
              <a:buClr>
                <a:schemeClr val="tx1"/>
              </a:buClr>
              <a:buFont typeface="Monotype Sorts" pitchFamily="2" charset="2"/>
              <a:buChar char="é"/>
              <a:defRPr/>
            </a:pPr>
            <a:r>
              <a:rPr lang="fr-FR" altLang="fr-FR" sz="1600" dirty="0"/>
              <a:t> Moins sensible à la lumière ambiante</a:t>
            </a:r>
          </a:p>
          <a:p>
            <a:pPr lvl="2" eaLnBrk="1" hangingPunct="1">
              <a:lnSpc>
                <a:spcPct val="90000"/>
              </a:lnSpc>
              <a:defRPr/>
            </a:pPr>
            <a:endParaRPr lang="fr-FR" altLang="fr-FR" sz="1600" dirty="0"/>
          </a:p>
          <a:p>
            <a:pPr marL="914400" lvl="2" indent="0" eaLnBrk="1" hangingPunct="1">
              <a:lnSpc>
                <a:spcPct val="90000"/>
              </a:lnSpc>
              <a:buFont typeface="Tahoma" panose="020B0604030504040204" pitchFamily="34" charset="0"/>
              <a:buNone/>
              <a:defRPr/>
            </a:pPr>
            <a:endParaRPr lang="fr-FR" altLang="fr-FR" sz="1600" dirty="0"/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dirty="0"/>
              <a:t>Souvent appropriées pour la vision industrielle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fr-FR" altLang="fr-FR" sz="1600" i="1" dirty="0"/>
              <a:t>Inconvénient</a:t>
            </a:r>
            <a:r>
              <a:rPr lang="fr-FR" altLang="fr-FR" sz="1600" dirty="0"/>
              <a:t>: moins puissantes que des sources halogènes</a:t>
            </a:r>
          </a:p>
          <a:p>
            <a:pPr eaLnBrk="1" hangingPunct="1">
              <a:lnSpc>
                <a:spcPct val="90000"/>
              </a:lnSpc>
              <a:defRPr/>
            </a:pPr>
            <a:endParaRPr lang="fr-FR" altLang="fr-FR" sz="1600" dirty="0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C7FFF108-B6A6-781B-C713-2CC9C0983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6100" y="1884363"/>
            <a:ext cx="1344613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>
            <a:extLst>
              <a:ext uri="{FF2B5EF4-FFF2-40B4-BE49-F238E27FC236}">
                <a16:creationId xmlns:a16="http://schemas.microsoft.com/office/drawing/2014/main" id="{1B8C5A43-6FF6-C5E5-6A55-B8E2B7ACC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113" y="3070225"/>
            <a:ext cx="1344612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818A0775-0B40-A7B3-05C4-6610A25D7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763" y="4498975"/>
            <a:ext cx="1344612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0BB39DF-3442-4C6F-489D-9CBCA2218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63E5FAF-B096-EC3B-366B-12A215C3FA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48347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Halogènes ou Metal-Halide + fibres optiques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Sources blanches, large spectre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Puissantes, appropriées pour des applications avec temps d’exposition rapide, spécialement la source Metal-Halide.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Inconvénients: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Durée de vie limitée (10’000 h)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Température. Nécessite travailler en « source froide »</a:t>
            </a:r>
          </a:p>
          <a:p>
            <a:pPr eaLnBrk="1" hangingPunct="1">
              <a:lnSpc>
                <a:spcPct val="90000"/>
              </a:lnSpc>
            </a:pPr>
            <a:endParaRPr lang="fr-FR" altLang="fr-FR" sz="1800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E8F50D67-A4B2-CA74-6076-33ABE429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713" y="4052888"/>
            <a:ext cx="134461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>
            <a:extLst>
              <a:ext uri="{FF2B5EF4-FFF2-40B4-BE49-F238E27FC236}">
                <a16:creationId xmlns:a16="http://schemas.microsoft.com/office/drawing/2014/main" id="{88DA7CDF-DA00-B1C3-4AE6-CB21D54A1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195763"/>
            <a:ext cx="1344612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A0D378C0-C4B9-7EC1-BB3F-E8EC3C327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751263"/>
            <a:ext cx="239395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E8B3BC2-B1B0-DBC1-0F35-86590C69B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88AF6DD-5E25-13C9-E9FA-F6307F4F67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550025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Sources fluorescentes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Sources étendues  appropriées pour des éclairages diffus. 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Particulièrement appropriée si une illumination UV est nécessaire (inspection d’une encre fluorescente)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 i="1"/>
              <a:t>Flicker </a:t>
            </a:r>
            <a:r>
              <a:rPr lang="fr-FR" altLang="fr-FR" sz="1800"/>
              <a:t>ou clignottement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Encombrantes, fragiles.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Pas souvent utilisées pour la vision industrielle</a:t>
            </a:r>
          </a:p>
          <a:p>
            <a:pPr eaLnBrk="1" hangingPunct="1">
              <a:lnSpc>
                <a:spcPct val="90000"/>
              </a:lnSpc>
            </a:pPr>
            <a:endParaRPr lang="fr-FR" altLang="fr-FR" sz="1800"/>
          </a:p>
        </p:txBody>
      </p:sp>
      <p:pic>
        <p:nvPicPr>
          <p:cNvPr id="15364" name="Picture 4">
            <a:extLst>
              <a:ext uri="{FF2B5EF4-FFF2-40B4-BE49-F238E27FC236}">
                <a16:creationId xmlns:a16="http://schemas.microsoft.com/office/drawing/2014/main" id="{1322B78A-81FA-1883-28F8-22C52B15B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100" y="1795463"/>
            <a:ext cx="17653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>
            <a:extLst>
              <a:ext uri="{FF2B5EF4-FFF2-40B4-BE49-F238E27FC236}">
                <a16:creationId xmlns:a16="http://schemas.microsoft.com/office/drawing/2014/main" id="{898C3D2C-9779-E75C-1A5D-B762D49BC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1550" y="4211638"/>
            <a:ext cx="1689100" cy="172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3B6DF0F9-A3F0-E71A-1D5B-0AD98DCFF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8" y="4189413"/>
            <a:ext cx="17399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>
            <a:extLst>
              <a:ext uri="{FF2B5EF4-FFF2-40B4-BE49-F238E27FC236}">
                <a16:creationId xmlns:a16="http://schemas.microsoft.com/office/drawing/2014/main" id="{981914E7-8CD3-ECCF-962F-7AE6F80902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4203700"/>
            <a:ext cx="20256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27F31DA-A7B0-48FA-10E7-05B7E775A5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ECF2FB0-BBD2-BCFE-4EEF-D662050FE9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459538" cy="3014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Flash (lampe à décharge / arc lamp)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Sources étendues appropriées pour des éclairages stroboscopiques pour la mesure de pièces en mouvement. 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Temps de flash typ. :50 </a:t>
            </a:r>
            <a:r>
              <a:rPr lang="fr-FR" altLang="fr-FR" sz="1800">
                <a:latin typeface="Symbol" panose="05050102010706020507" pitchFamily="18" charset="2"/>
              </a:rPr>
              <a:t>m</a:t>
            </a:r>
            <a:r>
              <a:rPr lang="fr-FR" altLang="fr-FR" sz="1800"/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Peuvent être couplés avec des fibres optiques</a:t>
            </a:r>
          </a:p>
          <a:p>
            <a:pPr eaLnBrk="1" hangingPunct="1">
              <a:lnSpc>
                <a:spcPct val="90000"/>
              </a:lnSpc>
            </a:pPr>
            <a:endParaRPr lang="fr-FR" altLang="fr-FR" sz="1800"/>
          </a:p>
        </p:txBody>
      </p:sp>
      <p:pic>
        <p:nvPicPr>
          <p:cNvPr id="16388" name="Picture 8">
            <a:extLst>
              <a:ext uri="{FF2B5EF4-FFF2-40B4-BE49-F238E27FC236}">
                <a16:creationId xmlns:a16="http://schemas.microsoft.com/office/drawing/2014/main" id="{F2B94420-C64A-946A-CE1B-88358D5C2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238" y="4130675"/>
            <a:ext cx="3743325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10">
            <a:extLst>
              <a:ext uri="{FF2B5EF4-FFF2-40B4-BE49-F238E27FC236}">
                <a16:creationId xmlns:a16="http://schemas.microsoft.com/office/drawing/2014/main" id="{2E930C6D-2C38-35E3-E73A-5DC7983D48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4483100"/>
            <a:ext cx="160655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11">
            <a:extLst>
              <a:ext uri="{FF2B5EF4-FFF2-40B4-BE49-F238E27FC236}">
                <a16:creationId xmlns:a16="http://schemas.microsoft.com/office/drawing/2014/main" id="{417CF1C9-9721-C432-4C02-850D69743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4638" y="4457700"/>
            <a:ext cx="175895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12">
            <a:extLst>
              <a:ext uri="{FF2B5EF4-FFF2-40B4-BE49-F238E27FC236}">
                <a16:creationId xmlns:a16="http://schemas.microsoft.com/office/drawing/2014/main" id="{6CA7A5C5-9D4B-75A6-E2A7-B61BDD28C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1384300"/>
            <a:ext cx="238125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91392A6-C872-F57C-8D40-EE95C0792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Sources lumineuses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41120910-2154-CF7E-3087-33E8BE4A62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864475" cy="30146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fr-FR" altLang="fr-FR" sz="1800"/>
              <a:t>LASER (diodes laser)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Sources monochromatiques, nécessaires pour certaines analyses optiques (p.ex. interférométrie)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Laser semiconducteur, compact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Haute puissance optique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Pour applications de lumières structurée</a:t>
            </a:r>
          </a:p>
          <a:p>
            <a:pPr lvl="1" eaLnBrk="1" hangingPunct="1">
              <a:lnSpc>
                <a:spcPct val="90000"/>
              </a:lnSpc>
            </a:pPr>
            <a:r>
              <a:rPr lang="fr-FR" altLang="fr-FR" sz="1800"/>
              <a:t>Inconvénients: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Sécurité des opérateurs; protection</a:t>
            </a:r>
          </a:p>
          <a:p>
            <a:pPr lvl="2" eaLnBrk="1" hangingPunct="1">
              <a:lnSpc>
                <a:spcPct val="90000"/>
              </a:lnSpc>
            </a:pPr>
            <a:r>
              <a:rPr lang="fr-FR" altLang="fr-FR" sz="1800"/>
              <a:t>« Speckle pattern »: taches d’interférence, variables dans le temps</a:t>
            </a:r>
          </a:p>
          <a:p>
            <a:pPr lvl="2" eaLnBrk="1" hangingPunct="1">
              <a:lnSpc>
                <a:spcPct val="90000"/>
              </a:lnSpc>
            </a:pPr>
            <a:endParaRPr lang="fr-FR" altLang="fr-FR" sz="1800"/>
          </a:p>
          <a:p>
            <a:pPr eaLnBrk="1" hangingPunct="1">
              <a:lnSpc>
                <a:spcPct val="90000"/>
              </a:lnSpc>
            </a:pPr>
            <a:endParaRPr lang="fr-FR" altLang="fr-FR" sz="1800"/>
          </a:p>
        </p:txBody>
      </p:sp>
      <p:pic>
        <p:nvPicPr>
          <p:cNvPr id="17412" name="Image 1">
            <a:extLst>
              <a:ext uri="{FF2B5EF4-FFF2-40B4-BE49-F238E27FC236}">
                <a16:creationId xmlns:a16="http://schemas.microsoft.com/office/drawing/2014/main" id="{367ACF31-DA58-9833-7EB3-D285BC4A0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175" y="1916113"/>
            <a:ext cx="1719263" cy="1319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Image 3">
            <a:extLst>
              <a:ext uri="{FF2B5EF4-FFF2-40B4-BE49-F238E27FC236}">
                <a16:creationId xmlns:a16="http://schemas.microsoft.com/office/drawing/2014/main" id="{EB6FC1D4-0456-DD40-9498-10D14E770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75" y="4406900"/>
            <a:ext cx="263525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Image 4">
            <a:extLst>
              <a:ext uri="{FF2B5EF4-FFF2-40B4-BE49-F238E27FC236}">
                <a16:creationId xmlns:a16="http://schemas.microsoft.com/office/drawing/2014/main" id="{D864BCE0-CF65-38DD-FC32-323E5EF90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4694238"/>
            <a:ext cx="2811463" cy="147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Image 2" descr="Une image contenant rouge, orange, fermer&#10;&#10;Description générée automatiquement">
            <a:extLst>
              <a:ext uri="{FF2B5EF4-FFF2-40B4-BE49-F238E27FC236}">
                <a16:creationId xmlns:a16="http://schemas.microsoft.com/office/drawing/2014/main" id="{E94879A8-5B22-B7F8-61FE-2C7953E40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" y="5070475"/>
            <a:ext cx="1635125" cy="163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07322B61-0CBA-8BE1-04DD-98B2C271A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8280400" cy="13573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CH" altLang="fr-FR" sz="1800"/>
              <a:t>Eclairage direct :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r-CH" altLang="fr-FR" sz="1800"/>
              <a:t>	le chemin optique entre la source et  l’object est direct  </a:t>
            </a:r>
            <a:r>
              <a:rPr lang="fr-CH" altLang="fr-FR" sz="1800">
                <a:sym typeface="Wingdings" panose="05000000000000000000" pitchFamily="2" charset="2"/>
              </a:rPr>
              <a:t> spot</a:t>
            </a:r>
            <a:endParaRPr lang="fr-CH" altLang="fr-FR" sz="1800"/>
          </a:p>
          <a:p>
            <a:pPr eaLnBrk="1" hangingPunct="1">
              <a:lnSpc>
                <a:spcPct val="80000"/>
              </a:lnSpc>
            </a:pPr>
            <a:r>
              <a:rPr lang="fr-CH" altLang="fr-FR" sz="1800"/>
              <a:t>Eclairage diffus 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r-CH" altLang="fr-FR" sz="1800"/>
              <a:t>	la lumière passe à travers un diffuseur </a:t>
            </a:r>
            <a:r>
              <a:rPr lang="fr-CH" altLang="fr-FR" sz="1800">
                <a:sym typeface="Wingdings" panose="05000000000000000000" pitchFamily="2" charset="2"/>
              </a:rPr>
              <a:t> intensité uniforme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fr-CH" altLang="fr-FR" sz="1800">
                <a:sym typeface="Wingdings" panose="05000000000000000000" pitchFamily="2" charset="2"/>
              </a:rPr>
              <a:t>	Aussi diffuseurs réflectifs</a:t>
            </a:r>
            <a:endParaRPr lang="fr-FR" altLang="fr-FR" sz="1800"/>
          </a:p>
        </p:txBody>
      </p:sp>
      <p:pic>
        <p:nvPicPr>
          <p:cNvPr id="18435" name="Picture 4">
            <a:extLst>
              <a:ext uri="{FF2B5EF4-FFF2-40B4-BE49-F238E27FC236}">
                <a16:creationId xmlns:a16="http://schemas.microsoft.com/office/drawing/2014/main" id="{1677760B-B5B7-EF3A-C567-857D0EE3E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513" y="2595563"/>
            <a:ext cx="4903787" cy="316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6">
            <a:extLst>
              <a:ext uri="{FF2B5EF4-FFF2-40B4-BE49-F238E27FC236}">
                <a16:creationId xmlns:a16="http://schemas.microsoft.com/office/drawing/2014/main" id="{34F89B90-66B1-4566-3881-448C2C5D2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71500"/>
            <a:ext cx="5257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/>
              <a:t>Techniques d’illumination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id="{CD6989AD-EF2C-7D1D-9DE9-883BD2184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1497013"/>
            <a:ext cx="3932238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5">
            <a:extLst>
              <a:ext uri="{FF2B5EF4-FFF2-40B4-BE49-F238E27FC236}">
                <a16:creationId xmlns:a16="http://schemas.microsoft.com/office/drawing/2014/main" id="{FCB350F8-215E-6D20-B82A-81FC905CF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800" y="3184525"/>
            <a:ext cx="4078288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Rectangle 6">
            <a:extLst>
              <a:ext uri="{FF2B5EF4-FFF2-40B4-BE49-F238E27FC236}">
                <a16:creationId xmlns:a16="http://schemas.microsoft.com/office/drawing/2014/main" id="{99F11330-32CF-9675-00B0-1AC3FEA5C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00" y="609600"/>
            <a:ext cx="5257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/>
              <a:t>Front light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1E7552FF-58C3-38CC-B378-2F37396789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Techniques d’illumination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2B6912A-4219-865F-EDBA-FEA14A098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9100" y="1397000"/>
            <a:ext cx="4284663" cy="4800600"/>
          </a:xfrm>
        </p:spPr>
        <p:txBody>
          <a:bodyPr/>
          <a:lstStyle/>
          <a:p>
            <a:pPr lvl="1" eaLnBrk="1" hangingPunct="1"/>
            <a:r>
              <a:rPr lang="fr-FR" altLang="fr-FR" sz="1600" i="1"/>
              <a:t>Brightfield:</a:t>
            </a:r>
            <a:r>
              <a:rPr lang="fr-FR" altLang="fr-FR" sz="1600"/>
              <a:t> on illumine l’objet de telle sorte à ce que la réflexion (ou transmission) spéculaire tombe dans le cône de vision de la camera.</a:t>
            </a:r>
          </a:p>
          <a:p>
            <a:pPr lvl="1" eaLnBrk="1" hangingPunct="1"/>
            <a:r>
              <a:rPr lang="fr-FR" altLang="fr-FR" sz="1600" i="1"/>
              <a:t>Darkfield</a:t>
            </a:r>
            <a:r>
              <a:rPr lang="fr-FR" altLang="fr-FR" sz="1600"/>
              <a:t>: la réflexion/transmission spéculaire tombe en dehors du cône de vision</a:t>
            </a:r>
          </a:p>
          <a:p>
            <a:pPr lvl="1" eaLnBrk="1" hangingPunct="1"/>
            <a:r>
              <a:rPr lang="fr-CH" altLang="fr-FR" sz="1600" i="1"/>
              <a:t>Back light:</a:t>
            </a:r>
            <a:r>
              <a:rPr lang="fr-CH" altLang="fr-FR" sz="1600"/>
              <a:t> on illumine peuis l’arrière de l’objet. On voit l’object en ombre chinoise</a:t>
            </a:r>
            <a:endParaRPr lang="fr-FR" altLang="fr-FR" sz="1600"/>
          </a:p>
        </p:txBody>
      </p:sp>
      <p:pic>
        <p:nvPicPr>
          <p:cNvPr id="20484" name="Picture 6">
            <a:extLst>
              <a:ext uri="{FF2B5EF4-FFF2-40B4-BE49-F238E27FC236}">
                <a16:creationId xmlns:a16="http://schemas.microsoft.com/office/drawing/2014/main" id="{982EFF9A-4D07-AA90-0EF4-E3A5C532D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850" y="2216150"/>
            <a:ext cx="3957638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CD9C97AC-7B6D-D2C5-975A-684F61FF3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Darkfield illumination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11AF906-C3D6-C88B-5EA6-CE6342CBB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8475" y="1158875"/>
            <a:ext cx="6291263" cy="2143125"/>
          </a:xfrm>
        </p:spPr>
        <p:txBody>
          <a:bodyPr/>
          <a:lstStyle/>
          <a:p>
            <a:pPr eaLnBrk="1" hangingPunct="1"/>
            <a:r>
              <a:rPr lang="fr-FR" altLang="fr-FR" sz="1400"/>
              <a:t>Avantages</a:t>
            </a:r>
          </a:p>
          <a:p>
            <a:pPr lvl="1" eaLnBrk="1" hangingPunct="1"/>
            <a:r>
              <a:rPr lang="fr-FR" altLang="fr-FR" sz="1600"/>
              <a:t>Pour des objets lisses ou transparents, le moindre défaut va diffuser la lumière. </a:t>
            </a:r>
          </a:p>
          <a:p>
            <a:pPr lvl="1" eaLnBrk="1" hangingPunct="1">
              <a:buClr>
                <a:schemeClr val="tx1"/>
              </a:buClr>
              <a:buFont typeface="Monotype Sorts" pitchFamily="2" charset="2"/>
              <a:buChar char="é"/>
            </a:pPr>
            <a:r>
              <a:rPr lang="fr-FR" altLang="fr-FR" sz="1600"/>
              <a:t> Seules les impuretés vont être visibles. </a:t>
            </a:r>
          </a:p>
          <a:p>
            <a:pPr lvl="1" eaLnBrk="1" hangingPunct="1">
              <a:buClr>
                <a:schemeClr val="tx1"/>
              </a:buClr>
              <a:buFont typeface="Monotype Sorts" pitchFamily="2" charset="2"/>
              <a:buChar char="é"/>
            </a:pPr>
            <a:r>
              <a:rPr lang="fr-FR" altLang="fr-FR" sz="1600"/>
              <a:t>Approprié pour l’inspection du verre ou du plastique</a:t>
            </a:r>
          </a:p>
        </p:txBody>
      </p:sp>
      <p:pic>
        <p:nvPicPr>
          <p:cNvPr id="21508" name="Picture 7">
            <a:extLst>
              <a:ext uri="{FF2B5EF4-FFF2-40B4-BE49-F238E27FC236}">
                <a16:creationId xmlns:a16="http://schemas.microsoft.com/office/drawing/2014/main" id="{A3DDC65F-666E-B1A8-D606-0ADCE5206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575" y="1565275"/>
            <a:ext cx="2470150" cy="491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Image 2" descr="Une image contenant texte, noir&#10;&#10;Description générée automatiquement">
            <a:extLst>
              <a:ext uri="{FF2B5EF4-FFF2-40B4-BE49-F238E27FC236}">
                <a16:creationId xmlns:a16="http://schemas.microsoft.com/office/drawing/2014/main" id="{05DE4CBA-53F1-BDF8-AEAF-5DE5ACD95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13" y="3048000"/>
            <a:ext cx="4999037" cy="333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C2DB506-5044-585A-34E8-66568F3646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Brightfield illumination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08C9728-64EB-ACE6-98CD-D24B5229C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158875"/>
            <a:ext cx="6291263" cy="2143125"/>
          </a:xfrm>
        </p:spPr>
        <p:txBody>
          <a:bodyPr/>
          <a:lstStyle/>
          <a:p>
            <a:pPr eaLnBrk="1" hangingPunct="1"/>
            <a:r>
              <a:rPr lang="fr-FR" altLang="fr-FR" sz="1400"/>
              <a:t>Avantages</a:t>
            </a:r>
          </a:p>
          <a:p>
            <a:pPr lvl="1" eaLnBrk="1" hangingPunct="1"/>
            <a:r>
              <a:rPr lang="fr-FR" altLang="fr-FR" sz="1600"/>
              <a:t>Pour des objets lisses, le moindre défaut va refléter la lumière ailleurs. </a:t>
            </a:r>
          </a:p>
          <a:p>
            <a:pPr lvl="1" eaLnBrk="1" hangingPunct="1">
              <a:buClr>
                <a:schemeClr val="tx1"/>
              </a:buClr>
              <a:buFont typeface="Monotype Sorts" pitchFamily="2" charset="2"/>
              <a:buChar char="é"/>
            </a:pPr>
            <a:r>
              <a:rPr lang="fr-FR" altLang="fr-FR" sz="1600"/>
              <a:t> Seules les impuretés vont être visibles. </a:t>
            </a:r>
          </a:p>
          <a:p>
            <a:pPr lvl="1" eaLnBrk="1" hangingPunct="1">
              <a:buClr>
                <a:schemeClr val="tx1"/>
              </a:buClr>
              <a:buFont typeface="Monotype Sorts" pitchFamily="2" charset="2"/>
              <a:buChar char="é"/>
            </a:pPr>
            <a:r>
              <a:rPr lang="fr-FR" altLang="fr-FR" sz="1600"/>
              <a:t>Approprié pour l’inspection de métal ou plastique</a:t>
            </a:r>
          </a:p>
        </p:txBody>
      </p:sp>
      <p:pic>
        <p:nvPicPr>
          <p:cNvPr id="22532" name="Image 2">
            <a:extLst>
              <a:ext uri="{FF2B5EF4-FFF2-40B4-BE49-F238E27FC236}">
                <a16:creationId xmlns:a16="http://schemas.microsoft.com/office/drawing/2014/main" id="{4EF571CE-596E-6A33-A426-16C9E6D98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113" y="2874963"/>
            <a:ext cx="4711700" cy="353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>
            <a:extLst>
              <a:ext uri="{FF2B5EF4-FFF2-40B4-BE49-F238E27FC236}">
                <a16:creationId xmlns:a16="http://schemas.microsoft.com/office/drawing/2014/main" id="{A9B2B609-D186-7EF0-11F0-243E2B1566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963" y="4064000"/>
            <a:ext cx="1908175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Rectangle 3">
            <a:extLst>
              <a:ext uri="{FF2B5EF4-FFF2-40B4-BE49-F238E27FC236}">
                <a16:creationId xmlns:a16="http://schemas.microsoft.com/office/drawing/2014/main" id="{DEA36F42-62EA-35F5-7E5E-B55148138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Backlight illumination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B5863BAF-559B-60A3-268D-93F2465A23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Principe</a:t>
            </a:r>
          </a:p>
        </p:txBody>
      </p:sp>
      <p:pic>
        <p:nvPicPr>
          <p:cNvPr id="23557" name="Picture 6">
            <a:extLst>
              <a:ext uri="{FF2B5EF4-FFF2-40B4-BE49-F238E27FC236}">
                <a16:creationId xmlns:a16="http://schemas.microsoft.com/office/drawing/2014/main" id="{D1012DDE-92E6-2D1C-C58E-44275CAAC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763" y="2501900"/>
            <a:ext cx="1344612" cy="137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8" name="Text Box 7">
            <a:extLst>
              <a:ext uri="{FF2B5EF4-FFF2-40B4-BE49-F238E27FC236}">
                <a16:creationId xmlns:a16="http://schemas.microsoft.com/office/drawing/2014/main" id="{503BE43F-C745-EA3D-1151-793827C32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2524125"/>
            <a:ext cx="23368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met en valeur la silhouette d’un objet opaque</a:t>
            </a:r>
          </a:p>
        </p:txBody>
      </p:sp>
      <p:pic>
        <p:nvPicPr>
          <p:cNvPr id="23559" name="Picture 8">
            <a:extLst>
              <a:ext uri="{FF2B5EF4-FFF2-40B4-BE49-F238E27FC236}">
                <a16:creationId xmlns:a16="http://schemas.microsoft.com/office/drawing/2014/main" id="{D424D4F1-F1F2-1EFE-1258-31CDCCD69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38" y="4292600"/>
            <a:ext cx="26543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60" name="Picture 9">
            <a:extLst>
              <a:ext uri="{FF2B5EF4-FFF2-40B4-BE49-F238E27FC236}">
                <a16:creationId xmlns:a16="http://schemas.microsoft.com/office/drawing/2014/main" id="{979EC1F2-F416-4814-CF7B-E8745FBBB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" y="2225675"/>
            <a:ext cx="3311525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12EBAC4-8348-380B-A253-31F16D441E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Coaxial illumination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B2214161-8263-64A8-DA6B-DF4CC16E6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Aussi appelée In-Line ou Diffuse On-Axis Light (DOAL) 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81596110-A2FE-9465-822B-FB83D07F4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338" y="2043113"/>
            <a:ext cx="26543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6">
            <a:extLst>
              <a:ext uri="{FF2B5EF4-FFF2-40B4-BE49-F238E27FC236}">
                <a16:creationId xmlns:a16="http://schemas.microsoft.com/office/drawing/2014/main" id="{4F31FAB2-BA06-5F47-18E7-231E61D12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8" y="4675188"/>
            <a:ext cx="20986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+ peu d’ombres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- complexe</a:t>
            </a:r>
          </a:p>
        </p:txBody>
      </p:sp>
      <p:pic>
        <p:nvPicPr>
          <p:cNvPr id="24582" name="Picture 7">
            <a:extLst>
              <a:ext uri="{FF2B5EF4-FFF2-40B4-BE49-F238E27FC236}">
                <a16:creationId xmlns:a16="http://schemas.microsoft.com/office/drawing/2014/main" id="{B3C7D480-E86B-837F-3A55-54E036995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688" y="1824038"/>
            <a:ext cx="3616325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C977A7E-B417-5266-0270-3EA3CD2E0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Collimated light</a:t>
            </a:r>
            <a:endParaRPr lang="fr-FR" altLang="fr-FR"/>
          </a:p>
        </p:txBody>
      </p:sp>
      <p:pic>
        <p:nvPicPr>
          <p:cNvPr id="25603" name="Picture 4">
            <a:extLst>
              <a:ext uri="{FF2B5EF4-FFF2-40B4-BE49-F238E27FC236}">
                <a16:creationId xmlns:a16="http://schemas.microsoft.com/office/drawing/2014/main" id="{E89FAAFA-8550-3717-1484-EBA0B1A2F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075" y="1665288"/>
            <a:ext cx="4210050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 Box 5">
            <a:extLst>
              <a:ext uri="{FF2B5EF4-FFF2-40B4-BE49-F238E27FC236}">
                <a16:creationId xmlns:a16="http://schemas.microsoft.com/office/drawing/2014/main" id="{D741678A-484A-DC11-6269-610968D6C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1562100"/>
            <a:ext cx="32131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rayon parallèles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Backlight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-"/>
            </a:pPr>
            <a:r>
              <a:rPr lang="fr-CH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Front light</a:t>
            </a:r>
            <a:endParaRPr lang="fr-FR" altLang="fr-FR" sz="2400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600BDC3-9713-15DE-0CE4-C323CB8B9F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CH" altLang="fr-FR"/>
              <a:t>Diffuse axial light</a:t>
            </a:r>
          </a:p>
        </p:txBody>
      </p:sp>
      <p:pic>
        <p:nvPicPr>
          <p:cNvPr id="26627" name="Picture 3">
            <a:extLst>
              <a:ext uri="{FF2B5EF4-FFF2-40B4-BE49-F238E27FC236}">
                <a16:creationId xmlns:a16="http://schemas.microsoft.com/office/drawing/2014/main" id="{8B349B8B-2DAC-A20C-4755-A6027C8A7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847850"/>
            <a:ext cx="4657725" cy="316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5E3906C-FF87-A98E-88DB-FF362485CE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Ring light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FF91B397-A18B-B08C-D84D-3D4DE2056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LEDs ou fibres optiques</a:t>
            </a: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CD15AEE2-10FE-5394-64A3-C81C258EE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2117725"/>
            <a:ext cx="1908175" cy="231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>
            <a:extLst>
              <a:ext uri="{FF2B5EF4-FFF2-40B4-BE49-F238E27FC236}">
                <a16:creationId xmlns:a16="http://schemas.microsoft.com/office/drawing/2014/main" id="{EC08C59B-0D36-D44E-5EAB-90355A13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6700" y="2227263"/>
            <a:ext cx="1908175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>
            <a:extLst>
              <a:ext uri="{FF2B5EF4-FFF2-40B4-BE49-F238E27FC236}">
                <a16:creationId xmlns:a16="http://schemas.microsoft.com/office/drawing/2014/main" id="{4EBF42C2-F7C1-BFDC-8FD6-090DD88FF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4424363"/>
            <a:ext cx="26543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5" name="Text Box 7">
            <a:extLst>
              <a:ext uri="{FF2B5EF4-FFF2-40B4-BE49-F238E27FC236}">
                <a16:creationId xmlns:a16="http://schemas.microsoft.com/office/drawing/2014/main" id="{4DBF03B2-673B-E960-EC5B-60622AF61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4470400"/>
            <a:ext cx="3021012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8938" indent="-388938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+ 	</a:t>
            </a: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appropriés pour des objets mats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+	peu d’ombres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+	peut se fixer sur l’objectif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>
                <a:solidFill>
                  <a:schemeClr val="tx1"/>
                </a:solidFill>
                <a:latin typeface="Times" panose="02020603050405020304" pitchFamily="18" charset="0"/>
              </a:rPr>
              <a:t>– </a:t>
            </a: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	Réflexion de l’anneau</a:t>
            </a:r>
          </a:p>
        </p:txBody>
      </p:sp>
      <p:pic>
        <p:nvPicPr>
          <p:cNvPr id="27656" name="Picture 8">
            <a:extLst>
              <a:ext uri="{FF2B5EF4-FFF2-40B4-BE49-F238E27FC236}">
                <a16:creationId xmlns:a16="http://schemas.microsoft.com/office/drawing/2014/main" id="{06D46F1F-EB0B-327D-419D-90991E1C3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25" y="1693863"/>
            <a:ext cx="3762375" cy="267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D416E78-385C-5437-8202-9F551164C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Dômes d’illumination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8876C73-2DF6-49A5-5440-A206F5611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8338" y="1524000"/>
            <a:ext cx="7772400" cy="1998663"/>
          </a:xfrm>
        </p:spPr>
        <p:txBody>
          <a:bodyPr/>
          <a:lstStyle/>
          <a:p>
            <a:pPr eaLnBrk="1" hangingPunct="1"/>
            <a:r>
              <a:rPr lang="fr-FR" altLang="fr-FR" sz="1600"/>
              <a:t>Hemisphère diffusante</a:t>
            </a:r>
          </a:p>
          <a:p>
            <a:pPr lvl="1" eaLnBrk="1" hangingPunct="1"/>
            <a:r>
              <a:rPr lang="fr-FR" altLang="fr-FR" sz="1600"/>
              <a:t>Pas d’ombres </a:t>
            </a:r>
          </a:p>
          <a:p>
            <a:pPr lvl="1" eaLnBrk="1" hangingPunct="1"/>
            <a:r>
              <a:rPr lang="fr-FR" altLang="fr-FR" sz="1600"/>
              <a:t>Illuminations uniformes</a:t>
            </a:r>
          </a:p>
          <a:p>
            <a:pPr lvl="1" eaLnBrk="1" hangingPunct="1"/>
            <a:r>
              <a:rPr lang="fr-FR" altLang="fr-FR" sz="1600"/>
              <a:t>Optimale lorsqu’elle est combinée avec une illumination coaxiale (</a:t>
            </a:r>
            <a:r>
              <a:rPr lang="fr-FR" altLang="fr-FR" sz="1600" b="1"/>
              <a:t>Continous Diffuse Illuminator</a:t>
            </a:r>
            <a:r>
              <a:rPr lang="fr-FR" altLang="fr-FR" sz="1600"/>
              <a:t>)</a:t>
            </a:r>
          </a:p>
        </p:txBody>
      </p:sp>
      <p:sp>
        <p:nvSpPr>
          <p:cNvPr id="28676" name="Text Box 5">
            <a:extLst>
              <a:ext uri="{FF2B5EF4-FFF2-40B4-BE49-F238E27FC236}">
                <a16:creationId xmlns:a16="http://schemas.microsoft.com/office/drawing/2014/main" id="{699708A3-C239-C7E9-9C82-635266413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9388" y="3522663"/>
            <a:ext cx="47355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8938" indent="-388938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- 	approprié pour des objets complexes à forte réflexion spéculaire</a:t>
            </a:r>
          </a:p>
        </p:txBody>
      </p:sp>
      <p:pic>
        <p:nvPicPr>
          <p:cNvPr id="28677" name="Image 5" descr="Image1.png">
            <a:extLst>
              <a:ext uri="{FF2B5EF4-FFF2-40B4-BE49-F238E27FC236}">
                <a16:creationId xmlns:a16="http://schemas.microsoft.com/office/drawing/2014/main" id="{287FEF64-02FC-FFC2-ABB1-BC4D5CE2D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338" y="3097213"/>
            <a:ext cx="2897187" cy="343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557C8A0-AF2D-52C7-1365-BDF0CC2474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609600"/>
            <a:ext cx="5270500" cy="698500"/>
          </a:xfrm>
        </p:spPr>
        <p:txBody>
          <a:bodyPr/>
          <a:lstStyle/>
          <a:p>
            <a:pPr eaLnBrk="1" hangingPunct="1"/>
            <a:r>
              <a:rPr lang="fr-CH" altLang="fr-FR"/>
              <a:t>Filtres couleurs</a:t>
            </a:r>
            <a:endParaRPr lang="fr-FR" altLang="fr-FR"/>
          </a:p>
        </p:txBody>
      </p:sp>
      <p:pic>
        <p:nvPicPr>
          <p:cNvPr id="29699" name="Picture 4">
            <a:extLst>
              <a:ext uri="{FF2B5EF4-FFF2-40B4-BE49-F238E27FC236}">
                <a16:creationId xmlns:a16="http://schemas.microsoft.com/office/drawing/2014/main" id="{C6F201AB-8D52-D212-5DC5-BBE6C2353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25" y="1212850"/>
            <a:ext cx="30289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5">
            <a:extLst>
              <a:ext uri="{FF2B5EF4-FFF2-40B4-BE49-F238E27FC236}">
                <a16:creationId xmlns:a16="http://schemas.microsoft.com/office/drawing/2014/main" id="{79967186-041C-AFCD-497C-3AF931C0C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2682875"/>
            <a:ext cx="2955925" cy="313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6">
            <a:extLst>
              <a:ext uri="{FF2B5EF4-FFF2-40B4-BE49-F238E27FC236}">
                <a16:creationId xmlns:a16="http://schemas.microsoft.com/office/drawing/2014/main" id="{B18FE2A8-24D6-A0C8-D186-3EB8609DE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4238" y="2649538"/>
            <a:ext cx="2809875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2" name="Picture 7">
            <a:extLst>
              <a:ext uri="{FF2B5EF4-FFF2-40B4-BE49-F238E27FC236}">
                <a16:creationId xmlns:a16="http://schemas.microsoft.com/office/drawing/2014/main" id="{D2E569AE-96A4-863E-D631-9F80358FA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575" y="2671763"/>
            <a:ext cx="2765425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1905A340-C670-025E-039D-A606E95C8E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Polariseurs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BE93A79-B976-C828-52EB-7B8E09AA4C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Diminutions de la réflexion spéculaires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CB2B1F1A-2D35-13AE-E8B4-CB58B5ED7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88" y="1828800"/>
            <a:ext cx="3167062" cy="415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Text Box 5">
            <a:extLst>
              <a:ext uri="{FF2B5EF4-FFF2-40B4-BE49-F238E27FC236}">
                <a16:creationId xmlns:a16="http://schemas.microsoft.com/office/drawing/2014/main" id="{CFC51597-4C04-4C63-5E74-6EF1FD849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4003675"/>
            <a:ext cx="39782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On utilise le fait que la lumière diffusée n’est plus polarisée (marche moins bien sur des surfaces métalliques)</a:t>
            </a:r>
          </a:p>
        </p:txBody>
      </p:sp>
      <p:pic>
        <p:nvPicPr>
          <p:cNvPr id="30726" name="Picture 6">
            <a:extLst>
              <a:ext uri="{FF2B5EF4-FFF2-40B4-BE49-F238E27FC236}">
                <a16:creationId xmlns:a16="http://schemas.microsoft.com/office/drawing/2014/main" id="{E3DC004A-D18A-3A6D-5E90-E3D567743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2020888"/>
            <a:ext cx="2716213" cy="190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7">
            <a:extLst>
              <a:ext uri="{FF2B5EF4-FFF2-40B4-BE49-F238E27FC236}">
                <a16:creationId xmlns:a16="http://schemas.microsoft.com/office/drawing/2014/main" id="{09DD196A-838C-21A1-3E86-5D7A06E52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50" y="3832225"/>
            <a:ext cx="41275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9906BF3-8207-2CE0-053C-47C6831C6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Polariseurs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4A66055-06CC-573C-CC1F-7C5EC2B44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Mesures de «stress » d’un objet transparent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CB7F7FA7-DB89-E044-CF4A-6A011913E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763" y="2038350"/>
            <a:ext cx="6297612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8938" indent="-388938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L’objet est placé entre deux polariseurs croisés.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Sans contrainte: image noir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fr-FR" altLang="fr-FR" b="0">
                <a:solidFill>
                  <a:schemeClr val="tx1"/>
                </a:solidFill>
                <a:latin typeface="Times" panose="02020603050405020304" pitchFamily="18" charset="0"/>
              </a:rPr>
              <a:t>Avec contraintes: l’effet d’un « stress » va changer la biréfringence du matériau, et donc la polarisation va être modifiée localement</a:t>
            </a:r>
          </a:p>
        </p:txBody>
      </p:sp>
      <p:pic>
        <p:nvPicPr>
          <p:cNvPr id="31749" name="Picture 5">
            <a:extLst>
              <a:ext uri="{FF2B5EF4-FFF2-40B4-BE49-F238E27FC236}">
                <a16:creationId xmlns:a16="http://schemas.microsoft.com/office/drawing/2014/main" id="{864D8C8A-8B1C-8494-5D88-D1CF3BDC9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925" y="4156075"/>
            <a:ext cx="2289175" cy="235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6">
            <a:extLst>
              <a:ext uri="{FF2B5EF4-FFF2-40B4-BE49-F238E27FC236}">
                <a16:creationId xmlns:a16="http://schemas.microsoft.com/office/drawing/2014/main" id="{03C00D93-2C40-7F5E-13A6-26A54F7A6D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8" y="4148138"/>
            <a:ext cx="2292350" cy="2392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5CDFF69-E17F-9100-2F44-CA8DDAEB3C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Illumination structurée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23095D8-74FB-9AD1-993C-35C0B50A9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Permet une mesure tri-dimensionnelle</a:t>
            </a:r>
          </a:p>
        </p:txBody>
      </p:sp>
      <p:pic>
        <p:nvPicPr>
          <p:cNvPr id="32772" name="Picture 4">
            <a:extLst>
              <a:ext uri="{FF2B5EF4-FFF2-40B4-BE49-F238E27FC236}">
                <a16:creationId xmlns:a16="http://schemas.microsoft.com/office/drawing/2014/main" id="{A1A4E576-FD95-2F59-D248-41DBF96A5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588" y="2971800"/>
            <a:ext cx="4411662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3" name="Picture 5">
            <a:extLst>
              <a:ext uri="{FF2B5EF4-FFF2-40B4-BE49-F238E27FC236}">
                <a16:creationId xmlns:a16="http://schemas.microsoft.com/office/drawing/2014/main" id="{1F2FF6FF-25E1-018A-485E-96C28B126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338" y="2635250"/>
            <a:ext cx="1709737" cy="371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Text Box 6">
            <a:extLst>
              <a:ext uri="{FF2B5EF4-FFF2-40B4-BE49-F238E27FC236}">
                <a16:creationId xmlns:a16="http://schemas.microsoft.com/office/drawing/2014/main" id="{6473C84B-B059-E2D9-3360-35A61AFE0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325" y="2135188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l"/>
              <a:defRPr sz="2000" b="1">
                <a:solidFill>
                  <a:srgbClr val="000000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0000"/>
              </a:buClr>
              <a:buSzPct val="75000"/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Tahoma" panose="020B0604030504040204" pitchFamily="34" charset="0"/>
              <a:buChar char="–"/>
              <a:defRPr sz="2000">
                <a:solidFill>
                  <a:srgbClr val="000000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0">
                <a:solidFill>
                  <a:schemeClr val="tx1"/>
                </a:solidFill>
                <a:latin typeface="Times" panose="02020603050405020304" pitchFamily="18" charset="0"/>
              </a:rPr>
              <a:t>Exemple: génération de motifs à l’aide d’un laser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707B5A2-E31F-60D6-2EC5-C5B30B6586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Illumination structurée</a:t>
            </a:r>
            <a:endParaRPr lang="fr-CH" altLang="fr-FR"/>
          </a:p>
        </p:txBody>
      </p:sp>
      <p:pic>
        <p:nvPicPr>
          <p:cNvPr id="33795" name="Picture 4">
            <a:extLst>
              <a:ext uri="{FF2B5EF4-FFF2-40B4-BE49-F238E27FC236}">
                <a16:creationId xmlns:a16="http://schemas.microsoft.com/office/drawing/2014/main" id="{1DE8503E-7722-BF47-FF40-7DC45043A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363" y="1455738"/>
            <a:ext cx="707707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re 1">
            <a:extLst>
              <a:ext uri="{FF2B5EF4-FFF2-40B4-BE49-F238E27FC236}">
                <a16:creationId xmlns:a16="http://schemas.microsoft.com/office/drawing/2014/main" id="{9DB94E5E-36CE-A48B-161D-9C04D7F90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Resources</a:t>
            </a:r>
          </a:p>
        </p:txBody>
      </p:sp>
      <p:sp>
        <p:nvSpPr>
          <p:cNvPr id="30723" name="Espace réservé du contenu 2">
            <a:extLst>
              <a:ext uri="{FF2B5EF4-FFF2-40B4-BE49-F238E27FC236}">
                <a16:creationId xmlns:a16="http://schemas.microsoft.com/office/drawing/2014/main" id="{11267E53-130E-F93B-73A9-DCB5E2DE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altLang="fr-FR" dirty="0"/>
              <a:t>Illustrations interactives dans </a:t>
            </a:r>
            <a:r>
              <a:rPr lang="fr-CH" altLang="fr-FR" dirty="0" err="1"/>
              <a:t>Cognex</a:t>
            </a:r>
            <a:r>
              <a:rPr lang="fr-CH" altLang="fr-FR" dirty="0"/>
              <a:t> </a:t>
            </a:r>
            <a:r>
              <a:rPr lang="fr-CH" altLang="fr-FR" dirty="0" err="1"/>
              <a:t>Lighting</a:t>
            </a:r>
            <a:r>
              <a:rPr lang="fr-CH" altLang="fr-FR" dirty="0"/>
              <a:t> Advisor</a:t>
            </a:r>
          </a:p>
          <a:p>
            <a:pPr>
              <a:defRPr/>
            </a:pPr>
            <a:endParaRPr lang="fr-CH" altLang="fr-FR" dirty="0"/>
          </a:p>
          <a:p>
            <a:pPr lvl="1">
              <a:defRPr/>
            </a:pPr>
            <a:r>
              <a:rPr lang="fr-CH" altLang="fr-FR" dirty="0">
                <a:hlinkClick r:id="rId2"/>
              </a:rPr>
              <a:t>https://www.cognex.com/resources/interactive-tools/lighting-advisor</a:t>
            </a:r>
            <a:endParaRPr lang="fr-CH" altLang="fr-FR" dirty="0"/>
          </a:p>
          <a:p>
            <a:pPr marL="457200" lvl="1" indent="0">
              <a:buFont typeface="Wingdings" panose="05000000000000000000" pitchFamily="2" charset="2"/>
              <a:buNone/>
              <a:defRPr/>
            </a:pPr>
            <a:endParaRPr lang="fr-CH" altLang="fr-FR" dirty="0"/>
          </a:p>
          <a:p>
            <a:pPr lvl="1">
              <a:defRPr/>
            </a:pPr>
            <a:endParaRPr lang="fr-CH" altLang="fr-FR" dirty="0"/>
          </a:p>
          <a:p>
            <a:pPr>
              <a:defRPr/>
            </a:pPr>
            <a:r>
              <a:rPr lang="fr-CH" altLang="fr-FR" dirty="0"/>
              <a:t>Guide Imagerie &amp; Vision de chez </a:t>
            </a:r>
            <a:r>
              <a:rPr lang="fr-CH" altLang="fr-FR" dirty="0" err="1"/>
              <a:t>Stemmer</a:t>
            </a:r>
            <a:r>
              <a:rPr lang="fr-CH" altLang="fr-FR" dirty="0"/>
              <a:t> Imaging</a:t>
            </a:r>
          </a:p>
          <a:p>
            <a:pPr lvl="1">
              <a:defRPr/>
            </a:pPr>
            <a:r>
              <a:rPr lang="fr-CH" altLang="fr-FR" dirty="0">
                <a:hlinkClick r:id="rId3"/>
              </a:rPr>
              <a:t>http://www.stemmer-imaging.ch/fr/le-guide-imagerie-et-vision/</a:t>
            </a:r>
            <a:endParaRPr lang="fr-CH" altLang="fr-FR" dirty="0"/>
          </a:p>
          <a:p>
            <a:pPr>
              <a:defRPr/>
            </a:pPr>
            <a:endParaRPr lang="fr-CH" altLang="fr-FR" dirty="0"/>
          </a:p>
          <a:p>
            <a:pPr>
              <a:defRPr/>
            </a:pPr>
            <a:r>
              <a:rPr lang="fr-CH" altLang="fr-FR" dirty="0"/>
              <a:t>Edmund </a:t>
            </a:r>
            <a:r>
              <a:rPr lang="fr-CH" altLang="fr-FR" dirty="0" err="1"/>
              <a:t>Optics</a:t>
            </a:r>
            <a:r>
              <a:rPr lang="fr-CH" altLang="fr-FR" dirty="0"/>
              <a:t> Application Notes</a:t>
            </a:r>
          </a:p>
          <a:p>
            <a:pPr lvl="1">
              <a:defRPr/>
            </a:pPr>
            <a:r>
              <a:rPr lang="fr-CH" altLang="fr-FR" dirty="0">
                <a:hlinkClick r:id="rId4"/>
              </a:rPr>
              <a:t>http://www.edmundoptics.com/resources/application-notes/illumination/</a:t>
            </a:r>
            <a:endParaRPr lang="fr-CH" altLang="fr-F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re 1">
            <a:extLst>
              <a:ext uri="{FF2B5EF4-FFF2-40B4-BE49-F238E27FC236}">
                <a16:creationId xmlns:a16="http://schemas.microsoft.com/office/drawing/2014/main" id="{23EAE705-2B14-54D2-6DD0-97B2603AD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Fabricants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2F56D83-BAEB-9298-539F-1F3AD238A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CCS </a:t>
            </a:r>
            <a:r>
              <a:rPr lang="fr-CH" dirty="0" err="1"/>
              <a:t>Inc</a:t>
            </a:r>
            <a:r>
              <a:rPr lang="fr-CH" dirty="0"/>
              <a:t> (J) </a:t>
            </a:r>
            <a:r>
              <a:rPr lang="fr-CH" sz="1600" dirty="0">
                <a:hlinkClick r:id="rId2"/>
              </a:rPr>
              <a:t>https://www.ccs-grp.com/</a:t>
            </a:r>
            <a:endParaRPr lang="fr-CH" sz="1600" dirty="0"/>
          </a:p>
          <a:p>
            <a:pPr>
              <a:defRPr/>
            </a:pPr>
            <a:r>
              <a:rPr lang="fr-CH" dirty="0"/>
              <a:t>Falcon Illumination (MY) </a:t>
            </a:r>
            <a:r>
              <a:rPr lang="fr-CH" sz="1600" dirty="0">
                <a:hlinkClick r:id="rId3"/>
              </a:rPr>
              <a:t>https://www.falcon-illumination.com/</a:t>
            </a:r>
            <a:endParaRPr lang="fr-CH" dirty="0"/>
          </a:p>
          <a:p>
            <a:pPr>
              <a:defRPr/>
            </a:pPr>
            <a:r>
              <a:rPr lang="fr-CH" dirty="0"/>
              <a:t>OPT Machine Vision (CN) </a:t>
            </a:r>
            <a:r>
              <a:rPr lang="fr-CH" sz="1600" dirty="0">
                <a:hlinkClick r:id="rId4"/>
              </a:rPr>
              <a:t>https://en.optmv.com/about/</a:t>
            </a:r>
            <a:endParaRPr lang="fr-CH" sz="1600" dirty="0"/>
          </a:p>
          <a:p>
            <a:pPr>
              <a:defRPr/>
            </a:pPr>
            <a:r>
              <a:rPr lang="fr-CH" dirty="0"/>
              <a:t>Vision Control (D) </a:t>
            </a:r>
            <a:r>
              <a:rPr lang="fr-CH" sz="1600" dirty="0">
                <a:hlinkClick r:id="rId5"/>
              </a:rPr>
              <a:t>https://www.vision-control.com/beleuchtungen/</a:t>
            </a:r>
            <a:endParaRPr lang="fr-CH" sz="1600" dirty="0"/>
          </a:p>
          <a:p>
            <a:pPr>
              <a:defRPr/>
            </a:pPr>
            <a:r>
              <a:rPr lang="fr-CH" dirty="0"/>
              <a:t>TPL Vision (F) </a:t>
            </a:r>
            <a:r>
              <a:rPr lang="fr-CH" sz="1600" dirty="0">
                <a:hlinkClick r:id="rId6"/>
              </a:rPr>
              <a:t>https://www.tpl-vision.com/</a:t>
            </a:r>
            <a:endParaRPr lang="fr-CH" dirty="0"/>
          </a:p>
          <a:p>
            <a:pPr>
              <a:defRPr/>
            </a:pPr>
            <a:r>
              <a:rPr lang="fr-CH" dirty="0" err="1"/>
              <a:t>Effilux</a:t>
            </a:r>
            <a:r>
              <a:rPr lang="fr-CH" dirty="0"/>
              <a:t> (F) </a:t>
            </a:r>
            <a:r>
              <a:rPr lang="fr-CH" sz="1600" dirty="0">
                <a:hlinkClick r:id="rId7"/>
              </a:rPr>
              <a:t>https://effilux.com/</a:t>
            </a:r>
            <a:endParaRPr lang="fr-CH" sz="1600" dirty="0"/>
          </a:p>
          <a:p>
            <a:pPr>
              <a:defRPr/>
            </a:pPr>
            <a:r>
              <a:rPr lang="fr-CH" dirty="0" err="1"/>
              <a:t>Opto</a:t>
            </a:r>
            <a:r>
              <a:rPr lang="fr-CH" dirty="0"/>
              <a:t>-Engineering (I) </a:t>
            </a:r>
            <a:r>
              <a:rPr lang="fr-CH" sz="1600" dirty="0">
                <a:hlinkClick r:id="rId8"/>
              </a:rPr>
              <a:t>https://www.opto-e.com</a:t>
            </a:r>
            <a:endParaRPr lang="fr-CH" dirty="0"/>
          </a:p>
          <a:p>
            <a:pPr>
              <a:defRPr/>
            </a:pPr>
            <a:r>
              <a:rPr lang="fr-CH" dirty="0"/>
              <a:t>Smart Vision Lights (USA) </a:t>
            </a:r>
            <a:r>
              <a:rPr lang="fr-CH" sz="1600" dirty="0">
                <a:hlinkClick r:id="rId9"/>
              </a:rPr>
              <a:t>https://smartvisionlights.com</a:t>
            </a:r>
            <a:endParaRPr lang="fr-CH" sz="1600" dirty="0"/>
          </a:p>
          <a:p>
            <a:pPr>
              <a:defRPr/>
            </a:pPr>
            <a:r>
              <a:rPr lang="fr-CH" dirty="0"/>
              <a:t>Advanced Illumination (USA) </a:t>
            </a:r>
            <a:r>
              <a:rPr lang="fr-CH" sz="1600" dirty="0">
                <a:hlinkClick r:id="rId10"/>
              </a:rPr>
              <a:t>https://www.advancedillumination.com/</a:t>
            </a:r>
            <a:endParaRPr lang="fr-CH" sz="1600" dirty="0"/>
          </a:p>
          <a:p>
            <a:pPr>
              <a:defRPr/>
            </a:pPr>
            <a:r>
              <a:rPr lang="fr-CH" dirty="0"/>
              <a:t>DCM </a:t>
            </a:r>
            <a:r>
              <a:rPr lang="fr-CH" dirty="0" err="1"/>
              <a:t>Sistemes</a:t>
            </a:r>
            <a:r>
              <a:rPr lang="fr-CH" dirty="0"/>
              <a:t> (E) </a:t>
            </a:r>
            <a:r>
              <a:rPr lang="fr-CH" sz="1600" dirty="0"/>
              <a:t>https://www.dcmsistemes.com</a:t>
            </a:r>
          </a:p>
          <a:p>
            <a:pPr>
              <a:defRPr/>
            </a:pPr>
            <a:r>
              <a:rPr lang="fr-CH" dirty="0" err="1"/>
              <a:t>Gardasoft</a:t>
            </a:r>
            <a:r>
              <a:rPr lang="fr-CH" dirty="0"/>
              <a:t> (UK) </a:t>
            </a:r>
            <a:r>
              <a:rPr lang="fr-CH" sz="1600" dirty="0">
                <a:hlinkClick r:id="rId11"/>
              </a:rPr>
              <a:t>http://www.gardasoft.com/</a:t>
            </a:r>
            <a:endParaRPr lang="fr-CH" sz="1600" dirty="0"/>
          </a:p>
          <a:p>
            <a:pPr>
              <a:defRPr/>
            </a:pPr>
            <a:r>
              <a:rPr lang="fr-CH" dirty="0" err="1"/>
              <a:t>Volpi</a:t>
            </a:r>
            <a:r>
              <a:rPr lang="fr-CH" dirty="0"/>
              <a:t> (CH) </a:t>
            </a:r>
            <a:r>
              <a:rPr lang="fr-CH" sz="1600" dirty="0">
                <a:hlinkClick r:id="rId12"/>
              </a:rPr>
              <a:t>https://volpi-group.com/</a:t>
            </a:r>
            <a:endParaRPr lang="fr-CH" dirty="0"/>
          </a:p>
          <a:p>
            <a:pPr>
              <a:defRPr/>
            </a:pPr>
            <a:r>
              <a:rPr lang="fr-CH" dirty="0" err="1"/>
              <a:t>Metaphase</a:t>
            </a:r>
            <a:r>
              <a:rPr lang="fr-CH" dirty="0"/>
              <a:t> (USA) </a:t>
            </a:r>
            <a:r>
              <a:rPr lang="fr-CH" sz="1600" dirty="0">
                <a:hlinkClick r:id="rId13"/>
              </a:rPr>
              <a:t>https://www.metaphase-tech.com/</a:t>
            </a:r>
            <a:endParaRPr lang="fr-CH" sz="1600" dirty="0"/>
          </a:p>
          <a:p>
            <a:pPr>
              <a:defRPr/>
            </a:pPr>
            <a:r>
              <a:rPr lang="fr-CH" dirty="0"/>
              <a:t>PHLOX (F) </a:t>
            </a:r>
            <a:r>
              <a:rPr lang="fr-CH" sz="1600" dirty="0">
                <a:hlinkClick r:id="rId14"/>
              </a:rPr>
              <a:t>https://www.phlox-gc.com/</a:t>
            </a:r>
            <a:endParaRPr lang="fr-CH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fr-CH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re 1">
            <a:extLst>
              <a:ext uri="{FF2B5EF4-FFF2-40B4-BE49-F238E27FC236}">
                <a16:creationId xmlns:a16="http://schemas.microsoft.com/office/drawing/2014/main" id="{F5896CBD-138A-5AE1-E231-3B93C0EEAD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CH" altLang="fr-FR"/>
              <a:t>Fabricants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2F1CC9-C2F6-339A-A4FA-239562DFF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fr-CH" dirty="0"/>
              <a:t>Z-LASER (D) </a:t>
            </a:r>
            <a:r>
              <a:rPr lang="fr-CH" sz="1600" dirty="0">
                <a:hlinkClick r:id="rId2"/>
              </a:rPr>
              <a:t>http://www.gardasoft.com/</a:t>
            </a:r>
            <a:endParaRPr lang="fr-CH" sz="1600" dirty="0"/>
          </a:p>
          <a:p>
            <a:pPr>
              <a:defRPr/>
            </a:pPr>
            <a:r>
              <a:rPr lang="fr-CH" dirty="0" err="1"/>
              <a:t>Schäfter</a:t>
            </a:r>
            <a:r>
              <a:rPr lang="fr-CH" dirty="0"/>
              <a:t> + Kirchhoff </a:t>
            </a:r>
            <a:r>
              <a:rPr lang="fr-CH" sz="1600" dirty="0">
                <a:hlinkClick r:id="rId3"/>
              </a:rPr>
              <a:t>https://www.sukhamburg.com/</a:t>
            </a:r>
            <a:endParaRPr lang="fr-CH" sz="1600" dirty="0"/>
          </a:p>
          <a:p>
            <a:pPr>
              <a:defRPr/>
            </a:pPr>
            <a:r>
              <a:rPr lang="fr-CH" dirty="0"/>
              <a:t>Global Laser (UK) </a:t>
            </a:r>
            <a:r>
              <a:rPr lang="fr-CH" sz="1600" dirty="0">
                <a:hlinkClick r:id="rId4"/>
              </a:rPr>
              <a:t>http://www.global-lasertech.co.uk/</a:t>
            </a:r>
            <a:endParaRPr lang="fr-CH" sz="1600" dirty="0"/>
          </a:p>
          <a:p>
            <a:pPr>
              <a:defRPr/>
            </a:pPr>
            <a:r>
              <a:rPr lang="fr-CH" dirty="0" err="1"/>
              <a:t>Roithner</a:t>
            </a:r>
            <a:r>
              <a:rPr lang="fr-CH" dirty="0"/>
              <a:t> </a:t>
            </a:r>
            <a:r>
              <a:rPr lang="fr-CH" dirty="0" err="1"/>
              <a:t>Lasertechnik</a:t>
            </a:r>
            <a:r>
              <a:rPr lang="fr-CH" dirty="0"/>
              <a:t> (A) </a:t>
            </a:r>
            <a:r>
              <a:rPr lang="fr-CH" sz="1600" dirty="0">
                <a:hlinkClick r:id="rId5"/>
              </a:rPr>
              <a:t>http://www.roithner-laser.com/</a:t>
            </a:r>
            <a:endParaRPr lang="fr-CH" dirty="0"/>
          </a:p>
          <a:p>
            <a:pPr>
              <a:defRPr/>
            </a:pPr>
            <a:r>
              <a:rPr lang="fr-CH" dirty="0"/>
              <a:t>Laser Components (D) </a:t>
            </a:r>
            <a:r>
              <a:rPr lang="fr-CH" sz="1600" dirty="0">
                <a:hlinkClick r:id="rId6"/>
              </a:rPr>
              <a:t>https://www.lasercomponents.com/en/</a:t>
            </a:r>
            <a:endParaRPr lang="fr-CH" sz="16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fr-CH" sz="1800" dirty="0"/>
          </a:p>
          <a:p>
            <a:pPr>
              <a:defRPr/>
            </a:pPr>
            <a:endParaRPr lang="fr-CH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fr-CH" dirty="0"/>
              <a:t>Distributeurs (CH)</a:t>
            </a:r>
          </a:p>
          <a:p>
            <a:pPr>
              <a:defRPr/>
            </a:pPr>
            <a:r>
              <a:rPr lang="fr-CH" dirty="0" err="1"/>
              <a:t>Fabrimex</a:t>
            </a:r>
            <a:r>
              <a:rPr lang="fr-CH" dirty="0"/>
              <a:t> </a:t>
            </a:r>
            <a:r>
              <a:rPr lang="fr-CH" dirty="0" err="1"/>
              <a:t>Systems</a:t>
            </a:r>
            <a:r>
              <a:rPr lang="fr-CH" dirty="0"/>
              <a:t> </a:t>
            </a:r>
            <a:r>
              <a:rPr lang="fr-CH" sz="1600" dirty="0">
                <a:hlinkClick r:id="rId7"/>
              </a:rPr>
              <a:t>https://www.fabrimex-systems.ch</a:t>
            </a:r>
            <a:endParaRPr lang="fr-CH" sz="1600" dirty="0"/>
          </a:p>
          <a:p>
            <a:pPr>
              <a:defRPr/>
            </a:pPr>
            <a:r>
              <a:rPr lang="fr-CH" dirty="0" err="1"/>
              <a:t>Stemmer</a:t>
            </a:r>
            <a:r>
              <a:rPr lang="fr-CH" dirty="0"/>
              <a:t> Imaging </a:t>
            </a:r>
            <a:r>
              <a:rPr lang="fr-CH" sz="1600" dirty="0">
                <a:hlinkClick r:id="rId8"/>
              </a:rPr>
              <a:t>https://www.stemmer-imaging.com/</a:t>
            </a:r>
            <a:endParaRPr lang="fr-CH" sz="1600" dirty="0"/>
          </a:p>
          <a:p>
            <a:pPr>
              <a:defRPr/>
            </a:pPr>
            <a:r>
              <a:rPr lang="fr-CH" dirty="0"/>
              <a:t>CL-Electronics </a:t>
            </a:r>
            <a:r>
              <a:rPr lang="fr-CH" sz="1600" dirty="0">
                <a:hlinkClick r:id="rId9"/>
              </a:rPr>
              <a:t>https://www.cl-electronics.com/</a:t>
            </a:r>
            <a:endParaRPr lang="fr-CH" sz="1600" dirty="0"/>
          </a:p>
          <a:p>
            <a:pPr>
              <a:defRPr/>
            </a:pPr>
            <a:r>
              <a:rPr lang="fr-CH" dirty="0"/>
              <a:t>Fujifilm </a:t>
            </a:r>
            <a:r>
              <a:rPr lang="fr-CH" sz="1600" dirty="0">
                <a:hlinkClick r:id="rId10"/>
              </a:rPr>
              <a:t>https://www.fujifilm.ch</a:t>
            </a:r>
            <a:endParaRPr lang="fr-CH" sz="1600" dirty="0"/>
          </a:p>
          <a:p>
            <a:pPr>
              <a:defRPr/>
            </a:pPr>
            <a:endParaRPr lang="fr-CH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asque de base">
  <a:themeElements>
    <a:clrScheme name="1_Masque de base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1_Masque de bas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1_Masque de base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Masque de base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Masque de base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4637</TotalTime>
  <Words>1433</Words>
  <Application>Microsoft Office PowerPoint</Application>
  <PresentationFormat>Affichage à l'écran (4:3)</PresentationFormat>
  <Paragraphs>235</Paragraphs>
  <Slides>33</Slides>
  <Notes>0</Notes>
  <HiddenSlides>1</HiddenSlides>
  <MMClips>0</MMClips>
  <ScaleCrop>false</ScaleCrop>
  <HeadingPairs>
    <vt:vector size="8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2" baseType="lpstr">
      <vt:lpstr>Times</vt:lpstr>
      <vt:lpstr>Arial</vt:lpstr>
      <vt:lpstr>Tahoma</vt:lpstr>
      <vt:lpstr>Wingdings</vt:lpstr>
      <vt:lpstr>Calibri</vt:lpstr>
      <vt:lpstr>Symbol</vt:lpstr>
      <vt:lpstr>Monotype Sorts</vt:lpstr>
      <vt:lpstr>1_Masque de base</vt:lpstr>
      <vt:lpstr>Microsoft Equation</vt:lpstr>
      <vt:lpstr>Vision industrielle</vt:lpstr>
      <vt:lpstr>Buts</vt:lpstr>
      <vt:lpstr>Unités</vt:lpstr>
      <vt:lpstr>Rayonnement optique</vt:lpstr>
      <vt:lpstr>Rayonnement optique</vt:lpstr>
      <vt:lpstr>Rayonnement optique</vt:lpstr>
      <vt:lpstr>Réflexions, transmissions</vt:lpstr>
      <vt:lpstr>Sources lumineuses</vt:lpstr>
      <vt:lpstr>Sources lumineuses</vt:lpstr>
      <vt:lpstr>Sources lumineuses</vt:lpstr>
      <vt:lpstr>Sources lumineuses</vt:lpstr>
      <vt:lpstr>Sources lumineuses</vt:lpstr>
      <vt:lpstr>Sources lumineuses</vt:lpstr>
      <vt:lpstr>Sources lumineuses</vt:lpstr>
      <vt:lpstr>Présentation PowerPoint</vt:lpstr>
      <vt:lpstr>Présentation PowerPoint</vt:lpstr>
      <vt:lpstr>Techniques d’illumination</vt:lpstr>
      <vt:lpstr>Darkfield illumination</vt:lpstr>
      <vt:lpstr>Brightfield illumination</vt:lpstr>
      <vt:lpstr>Backlight illumination</vt:lpstr>
      <vt:lpstr>Coaxial illumination</vt:lpstr>
      <vt:lpstr>Collimated light</vt:lpstr>
      <vt:lpstr>Diffuse axial light</vt:lpstr>
      <vt:lpstr>Ring light</vt:lpstr>
      <vt:lpstr>Dômes d’illumination</vt:lpstr>
      <vt:lpstr>Filtres couleurs</vt:lpstr>
      <vt:lpstr>Polariseurs</vt:lpstr>
      <vt:lpstr>Polariseurs</vt:lpstr>
      <vt:lpstr>Illumination structurée</vt:lpstr>
      <vt:lpstr>Illumination structurée</vt:lpstr>
      <vt:lpstr>Resources</vt:lpstr>
      <vt:lpstr>Fabricants</vt:lpstr>
      <vt:lpstr>Fabricants</vt:lpstr>
    </vt:vector>
  </TitlesOfParts>
  <Company>He-arc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industrielle</dc:title>
  <dc:subject>Lighting</dc:subject>
  <dc:creator>Aldo Salvi</dc:creator>
  <cp:lastModifiedBy>Lopez De Meneses Yuri</cp:lastModifiedBy>
  <cp:revision>97</cp:revision>
  <dcterms:created xsi:type="dcterms:W3CDTF">2003-12-27T21:10:09Z</dcterms:created>
  <dcterms:modified xsi:type="dcterms:W3CDTF">2023-01-11T10:58:49Z</dcterms:modified>
</cp:coreProperties>
</file>