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1"/>
  </p:sldMasterIdLst>
  <p:notesMasterIdLst>
    <p:notesMasterId r:id="rId21"/>
  </p:notesMasterIdLst>
  <p:handoutMasterIdLst>
    <p:handoutMasterId r:id="rId22"/>
  </p:handoutMasterIdLst>
  <p:sldIdLst>
    <p:sldId id="673" r:id="rId2"/>
    <p:sldId id="734" r:id="rId3"/>
    <p:sldId id="674" r:id="rId4"/>
    <p:sldId id="730" r:id="rId5"/>
    <p:sldId id="731" r:id="rId6"/>
    <p:sldId id="732" r:id="rId7"/>
    <p:sldId id="733" r:id="rId8"/>
    <p:sldId id="735" r:id="rId9"/>
    <p:sldId id="736" r:id="rId10"/>
    <p:sldId id="737" r:id="rId11"/>
    <p:sldId id="743" r:id="rId12"/>
    <p:sldId id="744" r:id="rId13"/>
    <p:sldId id="745" r:id="rId14"/>
    <p:sldId id="742" r:id="rId15"/>
    <p:sldId id="725" r:id="rId16"/>
    <p:sldId id="738" r:id="rId17"/>
    <p:sldId id="739" r:id="rId18"/>
    <p:sldId id="740" r:id="rId19"/>
    <p:sldId id="741" r:id="rId20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E63D"/>
    <a:srgbClr val="B5B5B5"/>
    <a:srgbClr val="5C5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83" autoAdjust="0"/>
    <p:restoredTop sz="80997" autoAdjust="0"/>
  </p:normalViewPr>
  <p:slideViewPr>
    <p:cSldViewPr>
      <p:cViewPr varScale="1">
        <p:scale>
          <a:sx n="78" d="100"/>
          <a:sy n="78" d="100"/>
        </p:scale>
        <p:origin x="144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792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666" name="Rectangle 2">
            <a:extLst>
              <a:ext uri="{FF2B5EF4-FFF2-40B4-BE49-F238E27FC236}">
                <a16:creationId xmlns:a16="http://schemas.microsoft.com/office/drawing/2014/main" id="{24BEC60A-75C9-5E62-A7FB-C4C5C08B5D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t" anchorCtr="0" compatLnSpc="1">
            <a:prstTxWarp prst="textNoShape">
              <a:avLst/>
            </a:prstTxWarp>
          </a:bodyPr>
          <a:lstStyle>
            <a:lvl1pPr defTabSz="957263">
              <a:defRPr sz="1300">
                <a:latin typeface="Times" pitchFamily="13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5667" name="Rectangle 3">
            <a:extLst>
              <a:ext uri="{FF2B5EF4-FFF2-40B4-BE49-F238E27FC236}">
                <a16:creationId xmlns:a16="http://schemas.microsoft.com/office/drawing/2014/main" id="{6BFDE2A6-F672-CCDA-375A-0FEE35BF636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>
                <a:latin typeface="Times" pitchFamily="13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5668" name="Rectangle 4">
            <a:extLst>
              <a:ext uri="{FF2B5EF4-FFF2-40B4-BE49-F238E27FC236}">
                <a16:creationId xmlns:a16="http://schemas.microsoft.com/office/drawing/2014/main" id="{5040EED6-7C56-6DFF-1002-ADE95C30C75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b" anchorCtr="0" compatLnSpc="1">
            <a:prstTxWarp prst="textNoShape">
              <a:avLst/>
            </a:prstTxWarp>
          </a:bodyPr>
          <a:lstStyle>
            <a:lvl1pPr defTabSz="957263">
              <a:defRPr sz="1300">
                <a:latin typeface="Times" pitchFamily="13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5669" name="Rectangle 5">
            <a:extLst>
              <a:ext uri="{FF2B5EF4-FFF2-40B4-BE49-F238E27FC236}">
                <a16:creationId xmlns:a16="http://schemas.microsoft.com/office/drawing/2014/main" id="{FC243849-1586-E615-560B-670785E8B46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pPr>
              <a:defRPr/>
            </a:pPr>
            <a:fld id="{18620D94-3E6E-4A63-B5C4-3E626A670BA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0A6A5F9-BFF5-E566-5B2E-3268137864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t" anchorCtr="0" compatLnSpc="1">
            <a:prstTxWarp prst="textNoShape">
              <a:avLst/>
            </a:prstTxWarp>
          </a:bodyPr>
          <a:lstStyle>
            <a:lvl1pPr defTabSz="957263">
              <a:defRPr sz="1300">
                <a:latin typeface="Times" pitchFamily="13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BB4267B-69F6-8E25-39A4-9FA8E2B955C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>
                <a:latin typeface="Times" pitchFamily="13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E319717-EEBE-A6DD-52F5-54BBEC8E47B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571D61A9-1A94-1DD5-3792-BC994AD48E2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FB69E661-0766-AFCA-AC77-F4D85FEE86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b" anchorCtr="0" compatLnSpc="1">
            <a:prstTxWarp prst="textNoShape">
              <a:avLst/>
            </a:prstTxWarp>
          </a:bodyPr>
          <a:lstStyle>
            <a:lvl1pPr defTabSz="957263">
              <a:defRPr sz="1300">
                <a:latin typeface="Times" pitchFamily="13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9FFF9A85-BE84-ED0F-3A5D-C4AEDFA566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47" tIns="47873" rIns="95747" bIns="47873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pPr>
              <a:defRPr/>
            </a:pPr>
            <a:fld id="{7C5283C5-2701-4141-ADF0-6AD5DFEEACB1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3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3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3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24B4521-318D-E593-684D-9E1FD59211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3D10018-F7EB-49A3-9C50-14FC303D319F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671BE56-1D96-1264-0C95-479A810F683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5BC5E46-59FA-863F-B87F-9595F9749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This slide should feature the main topic title as well as any slightly more specific subtitle that may help identify the topic when displayed to students.</a:t>
            </a: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For example:</a:t>
            </a: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Title:  DVT ActiveX Controls</a:t>
            </a: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Subtitle:  How to build a DVT enabled ActiveX application.</a:t>
            </a: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C746E22-19B6-5258-6156-1AF96A35B0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57263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0C6B1E57-68BB-4CC5-A4DE-23B6119D6C41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7CAF138-368C-478B-4488-BB446E70D9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2188" cy="3602037"/>
          </a:xfrm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6038071-BC34-C14B-9AAE-88FB9FA31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502275" cy="1260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29" tIns="47514" rIns="95029" bIns="47514"/>
          <a:lstStyle/>
          <a:p>
            <a:pPr eaLnBrk="1" hangingPunct="1"/>
            <a:r>
              <a:rPr lang="en-US" altLang="en-US" sz="1800" b="1">
                <a:latin typeface="Times" panose="02020603050405020304" pitchFamily="18" charset="0"/>
              </a:rPr>
              <a:t>Like Light Meter function in Checkpoint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gradFill rotWithShape="0">
          <a:gsLst>
            <a:gs pos="0">
              <a:schemeClr val="bg1"/>
            </a:gs>
            <a:gs pos="100000">
              <a:srgbClr val="DD056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2BFBF1D-30FB-1D5D-0D52-039868983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0713"/>
            <a:ext cx="395288" cy="6237287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FR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38618EC-DB8A-1C92-2BEB-E095D25CE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88913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FR" dirty="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33D8D9FE-F785-BC27-828E-0A1E1B2ED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CB048290-4E80-727F-431D-4A31C1B82B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0"/>
            <a:ext cx="0" cy="620713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3E41DA2-09D9-0A5D-C4F9-6646C13DABAC}"/>
              </a:ext>
            </a:extLst>
          </p:cNvPr>
          <p:cNvGrpSpPr>
            <a:grpSpLocks/>
          </p:cNvGrpSpPr>
          <p:nvPr/>
        </p:nvGrpSpPr>
        <p:grpSpPr bwMode="auto">
          <a:xfrm>
            <a:off x="7524750" y="333375"/>
            <a:ext cx="1474788" cy="360363"/>
            <a:chOff x="4740" y="391"/>
            <a:chExt cx="929" cy="227"/>
          </a:xfrm>
        </p:grpSpPr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E413DFF9-9EF4-AAC9-E393-36EFFDBAABE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45BD1510-1540-D2D8-D9B6-EBD5BE69EAC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3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CA0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4E994EDD-20F4-2B69-A894-221FEE1D99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6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E453D638-51BE-2ECF-9B54-3D90815909E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740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</p:grpSp>
      <p:pic>
        <p:nvPicPr>
          <p:cNvPr id="11" name="Picture 11" descr="Logo arc ingénierie cmyk">
            <a:extLst>
              <a:ext uri="{FF2B5EF4-FFF2-40B4-BE49-F238E27FC236}">
                <a16:creationId xmlns:a16="http://schemas.microsoft.com/office/drawing/2014/main" id="{68762582-6FDC-A6C8-6B1D-F5F1D245F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2">
            <a:extLst>
              <a:ext uri="{FF2B5EF4-FFF2-40B4-BE49-F238E27FC236}">
                <a16:creationId xmlns:a16="http://schemas.microsoft.com/office/drawing/2014/main" id="{6C4D25F1-CE8C-687D-832E-7C728652954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689100" y="4540250"/>
            <a:ext cx="3744912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fr-CH" sz="1800" dirty="0">
                <a:solidFill>
                  <a:schemeClr val="bg1"/>
                </a:solidFill>
                <a:latin typeface="Arial" panose="020B0604020202020204" pitchFamily="34" charset="0"/>
              </a:rPr>
              <a:t>Vision industrielle 2023</a:t>
            </a:r>
          </a:p>
        </p:txBody>
      </p:sp>
      <p:pic>
        <p:nvPicPr>
          <p:cNvPr id="13" name="Picture 16" descr="Logo arc ingénierie cmyk">
            <a:extLst>
              <a:ext uri="{FF2B5EF4-FFF2-40B4-BE49-F238E27FC236}">
                <a16:creationId xmlns:a16="http://schemas.microsoft.com/office/drawing/2014/main" id="{F1CD10B2-D1C0-A641-C1E9-FA63F58F2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9">
            <a:extLst>
              <a:ext uri="{FF2B5EF4-FFF2-40B4-BE49-F238E27FC236}">
                <a16:creationId xmlns:a16="http://schemas.microsoft.com/office/drawing/2014/main" id="{F7CF998C-9A35-34DC-2AE6-A9BD44685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60350"/>
            <a:ext cx="5329238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CH" sz="1800" b="1" dirty="0">
                <a:solidFill>
                  <a:srgbClr val="000000"/>
                </a:solidFill>
                <a:latin typeface="Arial" panose="020B0604020202020204" pitchFamily="34" charset="0"/>
              </a:rPr>
              <a:t>Cognex Insight </a:t>
            </a:r>
          </a:p>
        </p:txBody>
      </p:sp>
      <p:pic>
        <p:nvPicPr>
          <p:cNvPr id="15" name="Picture 20" descr="hes-so">
            <a:extLst>
              <a:ext uri="{FF2B5EF4-FFF2-40B4-BE49-F238E27FC236}">
                <a16:creationId xmlns:a16="http://schemas.microsoft.com/office/drawing/2014/main" id="{39746FC2-32ED-491F-3983-0F80D65EA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6381750"/>
            <a:ext cx="7921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3725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609600" y="1470025"/>
            <a:ext cx="82042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243726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622300" y="3886200"/>
            <a:ext cx="82423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fr-FR"/>
              <a:t>Cliquez pour modifier le style des sous-titres du masque</a:t>
            </a:r>
            <a:endParaRPr lang="fr-CH"/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3D7A1891-D369-4205-C8BB-7FD62EA583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431800" y="6546850"/>
            <a:ext cx="317500" cy="3111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1A13D6E-8A0A-4C18-9D3E-CA1DCB140E02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9781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2260654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18620709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55650" y="1196975"/>
            <a:ext cx="4064000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72050" y="1196975"/>
            <a:ext cx="4064000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464256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3185251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4487296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18546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5286635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dirty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1932832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6322246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77050" y="692150"/>
            <a:ext cx="2159000" cy="59055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95288" y="692150"/>
            <a:ext cx="6329362" cy="59055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74132779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288" y="692150"/>
            <a:ext cx="8640762" cy="4318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755650" y="1196975"/>
            <a:ext cx="4064000" cy="54006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half" idx="2"/>
          </p:nvPr>
        </p:nvSpPr>
        <p:spPr>
          <a:xfrm>
            <a:off x="4972050" y="1196975"/>
            <a:ext cx="4064000" cy="5400675"/>
          </a:xfrm>
        </p:spPr>
        <p:txBody>
          <a:bodyPr/>
          <a:lstStyle/>
          <a:p>
            <a:pPr lvl="0"/>
            <a:r>
              <a:rPr lang="fr-FR" noProof="0" dirty="0"/>
              <a:t>Cliquez sur l'icône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298754891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re. Texte et image de la bibliothè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288" y="692150"/>
            <a:ext cx="8640762" cy="4318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755650" y="1196975"/>
            <a:ext cx="4064000" cy="54006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'image de la bibliothèque 3"/>
          <p:cNvSpPr>
            <a:spLocks noGrp="1"/>
          </p:cNvSpPr>
          <p:nvPr>
            <p:ph type="clipArt" sz="half" idx="2"/>
          </p:nvPr>
        </p:nvSpPr>
        <p:spPr>
          <a:xfrm>
            <a:off x="4972050" y="1196975"/>
            <a:ext cx="4064000" cy="5400675"/>
          </a:xfrm>
        </p:spPr>
        <p:txBody>
          <a:bodyPr/>
          <a:lstStyle/>
          <a:p>
            <a:pPr lvl="0"/>
            <a:r>
              <a:rPr lang="fr-FR" noProof="0" dirty="0"/>
              <a:t>Cliquez sur l'icône pour ajouter une image de la bibliothèque</a:t>
            </a:r>
          </a:p>
        </p:txBody>
      </p:sp>
    </p:spTree>
    <p:extLst>
      <p:ext uri="{BB962C8B-B14F-4D97-AF65-F5344CB8AC3E}">
        <p14:creationId xmlns:p14="http://schemas.microsoft.com/office/powerpoint/2010/main" val="206135273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9965F4-BB52-2DFF-566A-C7A1A2AA6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0713"/>
            <a:ext cx="395288" cy="6237287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FR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C9FE148-895B-FE2B-1DF6-A50880137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88913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FR" dirty="0"/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C8ECE991-CA5D-233F-B1B3-6A1390AD7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45BAECA9-DACD-3FDB-5660-C575EED6D6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0"/>
            <a:ext cx="0" cy="620713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grpSp>
        <p:nvGrpSpPr>
          <p:cNvPr id="1030" name="Group 6">
            <a:extLst>
              <a:ext uri="{FF2B5EF4-FFF2-40B4-BE49-F238E27FC236}">
                <a16:creationId xmlns:a16="http://schemas.microsoft.com/office/drawing/2014/main" id="{0193E3CC-C401-F71E-6EF8-C5A4CCC2D3E1}"/>
              </a:ext>
            </a:extLst>
          </p:cNvPr>
          <p:cNvGrpSpPr>
            <a:grpSpLocks/>
          </p:cNvGrpSpPr>
          <p:nvPr/>
        </p:nvGrpSpPr>
        <p:grpSpPr bwMode="auto">
          <a:xfrm>
            <a:off x="7524750" y="333375"/>
            <a:ext cx="1474788" cy="360363"/>
            <a:chOff x="4740" y="391"/>
            <a:chExt cx="929" cy="227"/>
          </a:xfrm>
        </p:grpSpPr>
        <p:sp>
          <p:nvSpPr>
            <p:cNvPr id="1040" name="AutoShape 7">
              <a:extLst>
                <a:ext uri="{FF2B5EF4-FFF2-40B4-BE49-F238E27FC236}">
                  <a16:creationId xmlns:a16="http://schemas.microsoft.com/office/drawing/2014/main" id="{5D98438C-C1A8-AA7C-D03E-56BF3F566FC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1" name="AutoShape 8">
              <a:extLst>
                <a:ext uri="{FF2B5EF4-FFF2-40B4-BE49-F238E27FC236}">
                  <a16:creationId xmlns:a16="http://schemas.microsoft.com/office/drawing/2014/main" id="{C85E82F7-30D8-CBBE-A79F-87BA9BC741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3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CA0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2" name="AutoShape 9">
              <a:extLst>
                <a:ext uri="{FF2B5EF4-FFF2-40B4-BE49-F238E27FC236}">
                  <a16:creationId xmlns:a16="http://schemas.microsoft.com/office/drawing/2014/main" id="{6939DB69-1426-434E-7966-B8388D25A7F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6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3" name="AutoShape 10">
              <a:extLst>
                <a:ext uri="{FF2B5EF4-FFF2-40B4-BE49-F238E27FC236}">
                  <a16:creationId xmlns:a16="http://schemas.microsoft.com/office/drawing/2014/main" id="{BC149AA5-4C0C-A5A5-6636-4683263EC0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740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</p:grpSp>
      <p:pic>
        <p:nvPicPr>
          <p:cNvPr id="1031" name="Picture 11" descr="Logo arc ingénierie cmyk">
            <a:extLst>
              <a:ext uri="{FF2B5EF4-FFF2-40B4-BE49-F238E27FC236}">
                <a16:creationId xmlns:a16="http://schemas.microsoft.com/office/drawing/2014/main" id="{336926A4-7747-39DB-34BA-71DFF8FDB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 Box 12">
            <a:extLst>
              <a:ext uri="{FF2B5EF4-FFF2-40B4-BE49-F238E27FC236}">
                <a16:creationId xmlns:a16="http://schemas.microsoft.com/office/drawing/2014/main" id="{D450C4F2-A855-2450-98F7-A4E9820D00A0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1689099" y="4541837"/>
            <a:ext cx="3744912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fr-CH" sz="1800" dirty="0">
                <a:solidFill>
                  <a:schemeClr val="bg1"/>
                </a:solidFill>
                <a:latin typeface="Arial" panose="020B0604020202020204" pitchFamily="34" charset="0"/>
              </a:rPr>
              <a:t>Vision Industrielle 2023</a:t>
            </a:r>
          </a:p>
        </p:txBody>
      </p:sp>
      <p:sp>
        <p:nvSpPr>
          <p:cNvPr id="242701" name="Text Box 13">
            <a:extLst>
              <a:ext uri="{FF2B5EF4-FFF2-40B4-BE49-F238E27FC236}">
                <a16:creationId xmlns:a16="http://schemas.microsoft.com/office/drawing/2014/main" id="{B0035615-2C19-CC08-C672-51158719D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613525"/>
            <a:ext cx="43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5D768C38-2B36-4924-BCD0-C69E8EEB9012}" type="slidenum">
              <a:rPr lang="fr-CH" altLang="en-US" sz="1000" smtClean="0">
                <a:latin typeface="Arial" panose="020B0604020202020204" pitchFamily="34" charset="0"/>
              </a:rPr>
              <a:pPr>
                <a:spcBef>
                  <a:spcPct val="50000"/>
                </a:spcBef>
                <a:defRPr/>
              </a:pPr>
              <a:t>‹N°›</a:t>
            </a:fld>
            <a:endParaRPr lang="fr-CH" altLang="en-US" sz="1000">
              <a:latin typeface="Arial" panose="020B0604020202020204" pitchFamily="34" charset="0"/>
            </a:endParaRPr>
          </a:p>
        </p:txBody>
      </p:sp>
      <p:sp>
        <p:nvSpPr>
          <p:cNvPr id="1034" name="Rectangle 14">
            <a:extLst>
              <a:ext uri="{FF2B5EF4-FFF2-40B4-BE49-F238E27FC236}">
                <a16:creationId xmlns:a16="http://schemas.microsoft.com/office/drawing/2014/main" id="{95032802-EB42-B743-46CD-CFEB67E3C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692150"/>
            <a:ext cx="86407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en-US"/>
              <a:t>Cliquez pour modifier le style du titre</a:t>
            </a:r>
          </a:p>
        </p:txBody>
      </p:sp>
      <p:sp>
        <p:nvSpPr>
          <p:cNvPr id="1035" name="Rectangle 15">
            <a:extLst>
              <a:ext uri="{FF2B5EF4-FFF2-40B4-BE49-F238E27FC236}">
                <a16:creationId xmlns:a16="http://schemas.microsoft.com/office/drawing/2014/main" id="{F619EE0B-7C6D-00C2-F19C-9B1A43805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196975"/>
            <a:ext cx="82804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en-US"/>
              <a:t>Cliquez pour modifier les styles du texte du masque</a:t>
            </a:r>
          </a:p>
          <a:p>
            <a:pPr lvl="1"/>
            <a:r>
              <a:rPr lang="fr-CH" altLang="en-US"/>
              <a:t>Deuxième niveau</a:t>
            </a:r>
          </a:p>
          <a:p>
            <a:pPr lvl="2"/>
            <a:r>
              <a:rPr lang="fr-CH" altLang="en-US"/>
              <a:t>Troisième niveau</a:t>
            </a:r>
          </a:p>
          <a:p>
            <a:pPr lvl="3"/>
            <a:r>
              <a:rPr lang="fr-CH" altLang="en-US"/>
              <a:t>Quatrième niveau</a:t>
            </a:r>
          </a:p>
          <a:p>
            <a:pPr lvl="4"/>
            <a:r>
              <a:rPr lang="fr-CH" altLang="en-US"/>
              <a:t>Cinquième niveau</a:t>
            </a:r>
          </a:p>
        </p:txBody>
      </p:sp>
      <p:pic>
        <p:nvPicPr>
          <p:cNvPr id="1036" name="Picture 17" descr="Logo arc ingénierie cmyk">
            <a:extLst>
              <a:ext uri="{FF2B5EF4-FFF2-40B4-BE49-F238E27FC236}">
                <a16:creationId xmlns:a16="http://schemas.microsoft.com/office/drawing/2014/main" id="{920C5BF4-A289-C00A-5B1F-049200589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707" name="Text Box 19">
            <a:extLst>
              <a:ext uri="{FF2B5EF4-FFF2-40B4-BE49-F238E27FC236}">
                <a16:creationId xmlns:a16="http://schemas.microsoft.com/office/drawing/2014/main" id="{313FB26B-203A-42BD-89C6-7C90FA79E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613525"/>
            <a:ext cx="43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7522ACD9-C48F-4416-AFA2-D0A42F329A8B}" type="slidenum">
              <a:rPr lang="fr-CH" altLang="en-US" sz="1000" smtClean="0">
                <a:latin typeface="Arial" panose="020B0604020202020204" pitchFamily="34" charset="0"/>
              </a:rPr>
              <a:pPr>
                <a:spcBef>
                  <a:spcPct val="50000"/>
                </a:spcBef>
                <a:defRPr/>
              </a:pPr>
              <a:t>‹N°›</a:t>
            </a:fld>
            <a:endParaRPr lang="fr-CH" altLang="en-US" sz="1000">
              <a:latin typeface="Arial" panose="020B0604020202020204" pitchFamily="34" charset="0"/>
            </a:endParaRPr>
          </a:p>
        </p:txBody>
      </p:sp>
      <p:sp>
        <p:nvSpPr>
          <p:cNvPr id="1038" name="Text Box 20">
            <a:extLst>
              <a:ext uri="{FF2B5EF4-FFF2-40B4-BE49-F238E27FC236}">
                <a16:creationId xmlns:a16="http://schemas.microsoft.com/office/drawing/2014/main" id="{137C042D-5A65-7234-ECA8-569599E64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60350"/>
            <a:ext cx="5329238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800" b="1" dirty="0">
                <a:solidFill>
                  <a:srgbClr val="000000"/>
                </a:solidFill>
                <a:latin typeface="Arial" panose="020B0604020202020204" pitchFamily="34" charset="0"/>
              </a:rPr>
              <a:t>Cognex Insight : Events</a:t>
            </a:r>
            <a:endParaRPr lang="fr-CH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39" name="Picture 21" descr="hes-so">
            <a:extLst>
              <a:ext uri="{FF2B5EF4-FFF2-40B4-BE49-F238E27FC236}">
                <a16:creationId xmlns:a16="http://schemas.microsoft.com/office/drawing/2014/main" id="{78DE997F-5358-D01C-A5B0-89BB84CEF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6381750"/>
            <a:ext cx="7921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3" r:id="rId2"/>
    <p:sldLayoutId id="2147484204" r:id="rId3"/>
    <p:sldLayoutId id="2147484205" r:id="rId4"/>
    <p:sldLayoutId id="2147484206" r:id="rId5"/>
    <p:sldLayoutId id="2147484207" r:id="rId6"/>
    <p:sldLayoutId id="2147484208" r:id="rId7"/>
    <p:sldLayoutId id="2147484209" r:id="rId8"/>
    <p:sldLayoutId id="2147484210" r:id="rId9"/>
    <p:sldLayoutId id="2147484211" r:id="rId10"/>
    <p:sldLayoutId id="2147484212" r:id="rId11"/>
    <p:sldLayoutId id="2147484213" r:id="rId12"/>
    <p:sldLayoutId id="2147484214" r:id="rId1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Wingdings" panose="05000000000000000000" pitchFamily="2" charset="2"/>
        <a:buChar char="l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Wingdings" panose="05000000000000000000" pitchFamily="2" charset="2"/>
        <a:buChar char="Ø"/>
        <a:defRPr sz="20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itchFamily="34" charset="0"/>
        <a:buChar char="–"/>
        <a:defRPr sz="2000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itchFamily="34" charset="0"/>
        <a:buChar char="–"/>
        <a:defRPr sz="2000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itchFamily="34" charset="0"/>
        <a:buChar char="–"/>
        <a:defRPr sz="2000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itchFamily="34" charset="0"/>
        <a:buChar char="–"/>
        <a:defRPr sz="2000">
          <a:solidFill>
            <a:srgbClr val="000000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#Region"/><Relationship Id="rId3" Type="http://schemas.openxmlformats.org/officeDocument/2006/relationships/hyperlink" Target="#Value"/><Relationship Id="rId7" Type="http://schemas.openxmlformats.org/officeDocument/2006/relationships/hyperlink" Target="#Fixture"/><Relationship Id="rId2" Type="http://schemas.openxmlformats.org/officeDocument/2006/relationships/hyperlink" Target="#Event"/><Relationship Id="rId1" Type="http://schemas.openxmlformats.org/officeDocument/2006/relationships/slideLayout" Target="../slideLayouts/slideLayout2.xml"/><Relationship Id="rId6" Type="http://schemas.openxmlformats.org/officeDocument/2006/relationships/hyperlink" Target="#Image"/><Relationship Id="rId11" Type="http://schemas.openxmlformats.org/officeDocument/2006/relationships/hyperlink" Target="#Password"/><Relationship Id="rId5" Type="http://schemas.openxmlformats.org/officeDocument/2006/relationships/hyperlink" Target="#Preset"/><Relationship Id="rId10" Type="http://schemas.openxmlformats.org/officeDocument/2006/relationships/hyperlink" Target="#NumberOfSteps"/><Relationship Id="rId4" Type="http://schemas.openxmlformats.org/officeDocument/2006/relationships/hyperlink" Target="#Reset"/><Relationship Id="rId9" Type="http://schemas.openxmlformats.org/officeDocument/2006/relationships/hyperlink" Target="#Show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213651B-20BA-B9DF-0B07-A703D26CFB6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79500" y="1881188"/>
            <a:ext cx="4762500" cy="1066800"/>
          </a:xfrm>
        </p:spPr>
        <p:txBody>
          <a:bodyPr/>
          <a:lstStyle/>
          <a:p>
            <a:pPr eaLnBrk="1" hangingPunct="1"/>
            <a:r>
              <a:rPr lang="en-US" altLang="en-US" sz="2400"/>
              <a:t>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F50ABB9-1E25-7279-B6C2-51667528B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Occurrence d’un signal ou condition dans le temps</a:t>
            </a:r>
          </a:p>
          <a:p>
            <a:pPr>
              <a:defRPr/>
            </a:pPr>
            <a:endParaRPr lang="fr-CH" dirty="0"/>
          </a:p>
          <a:p>
            <a:pPr>
              <a:defRPr/>
            </a:pPr>
            <a:r>
              <a:rPr lang="fr-CH" dirty="0"/>
              <a:t>Générateurs d’Events:</a:t>
            </a:r>
          </a:p>
          <a:p>
            <a:pPr lvl="1">
              <a:defRPr/>
            </a:pPr>
            <a:r>
              <a:rPr lang="fr-CH" dirty="0"/>
              <a:t>Acquisition d’Image: déclenche le cycle de traitement</a:t>
            </a:r>
          </a:p>
          <a:p>
            <a:pPr lvl="1">
              <a:defRPr/>
            </a:pPr>
            <a:r>
              <a:rPr lang="fr-CH" dirty="0"/>
              <a:t>Presser un bouton (Button)</a:t>
            </a:r>
          </a:p>
          <a:p>
            <a:pPr lvl="1">
              <a:defRPr/>
            </a:pPr>
            <a:r>
              <a:rPr lang="fr-CH" dirty="0"/>
              <a:t>Fonction Event: événements définis par l’utilisateur</a:t>
            </a:r>
          </a:p>
          <a:p>
            <a:pPr lvl="1">
              <a:defRPr/>
            </a:pPr>
            <a:r>
              <a:rPr lang="fr-CH" dirty="0"/>
              <a:t>Fonction SetEvent: déclenche des events soft</a:t>
            </a:r>
          </a:p>
          <a:p>
            <a:pPr lvl="1">
              <a:defRPr/>
            </a:pPr>
            <a:r>
              <a:rPr lang="fr-CH" dirty="0"/>
              <a:t>Fonction Chronomètre (Timer)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fr-CH" dirty="0"/>
              <a:t>	</a:t>
            </a:r>
          </a:p>
          <a:p>
            <a:pPr>
              <a:defRPr/>
            </a:pPr>
            <a:r>
              <a:rPr lang="fr-CH" dirty="0"/>
              <a:t>Consommateurs d’Events</a:t>
            </a:r>
          </a:p>
          <a:p>
            <a:pPr lvl="1">
              <a:defRPr/>
            </a:pPr>
            <a:r>
              <a:rPr lang="fr-CH" dirty="0"/>
              <a:t>Données datées (clocked data)</a:t>
            </a:r>
          </a:p>
          <a:p>
            <a:pPr lvl="2">
              <a:defRPr/>
            </a:pPr>
            <a:r>
              <a:rPr lang="fr-CH" dirty="0"/>
              <a:t>Count(), </a:t>
            </a:r>
            <a:r>
              <a:rPr lang="fr-CH" dirty="0" err="1"/>
              <a:t>ShiftRegister</a:t>
            </a:r>
            <a:r>
              <a:rPr lang="fr-CH" dirty="0"/>
              <a:t>(), </a:t>
            </a:r>
            <a:r>
              <a:rPr lang="fr-CH" dirty="0" err="1"/>
              <a:t>LatchImage</a:t>
            </a:r>
            <a:r>
              <a:rPr lang="fr-CH" dirty="0"/>
              <a:t>(), Latch()</a:t>
            </a:r>
          </a:p>
          <a:p>
            <a:pPr lvl="1">
              <a:defRPr/>
            </a:pPr>
            <a:r>
              <a:rPr lang="fr-CH" dirty="0"/>
              <a:t>Communications</a:t>
            </a:r>
          </a:p>
          <a:p>
            <a:pPr lvl="2">
              <a:defRPr/>
            </a:pPr>
            <a:r>
              <a:rPr lang="fr-CH" dirty="0"/>
              <a:t>Write*(), Read*()</a:t>
            </a:r>
          </a:p>
        </p:txBody>
      </p:sp>
      <p:sp>
        <p:nvSpPr>
          <p:cNvPr id="7171" name="Titre 2">
            <a:extLst>
              <a:ext uri="{FF2B5EF4-FFF2-40B4-BE49-F238E27FC236}">
                <a16:creationId xmlns:a16="http://schemas.microsoft.com/office/drawing/2014/main" id="{1977DE03-9B4C-A246-498C-4B2F97473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>
            <a:extLst>
              <a:ext uri="{FF2B5EF4-FFF2-40B4-BE49-F238E27FC236}">
                <a16:creationId xmlns:a16="http://schemas.microsoft.com/office/drawing/2014/main" id="{E1CBB2D1-69CD-7761-C878-585838E41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2024063"/>
            <a:ext cx="5616575" cy="2087562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La function Event (évènement) provoque une mise-à-jour des cellules dépendantes lors de certains évènements.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87BA4-2ABB-E411-4663-69912F51A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1304925"/>
            <a:ext cx="504031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b="1" i="1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Les “Events”</a:t>
            </a:r>
          </a:p>
        </p:txBody>
      </p:sp>
      <p:pic>
        <p:nvPicPr>
          <p:cNvPr id="8196" name="Image 1">
            <a:extLst>
              <a:ext uri="{FF2B5EF4-FFF2-40B4-BE49-F238E27FC236}">
                <a16:creationId xmlns:a16="http://schemas.microsoft.com/office/drawing/2014/main" id="{BBEDF7EA-F955-9862-925A-653AB6F95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113" y="1196975"/>
            <a:ext cx="29241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Flèche droite 17">
            <a:extLst>
              <a:ext uri="{FF2B5EF4-FFF2-40B4-BE49-F238E27FC236}">
                <a16:creationId xmlns:a16="http://schemas.microsoft.com/office/drawing/2014/main" id="{61077072-21AC-54B9-8544-16B0E9263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850" y="3465513"/>
            <a:ext cx="898525" cy="215900"/>
          </a:xfrm>
          <a:prstGeom prst="rightArrow">
            <a:avLst>
              <a:gd name="adj1" fmla="val 21500"/>
              <a:gd name="adj2" fmla="val 53429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en-US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210B943-2159-F0CB-3DFB-AC485745C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Fonction Event</a:t>
            </a:r>
          </a:p>
          <a:p>
            <a:pPr lvl="1">
              <a:defRPr/>
            </a:pPr>
            <a:r>
              <a:rPr lang="fr-CH" dirty="0"/>
              <a:t>Argument</a:t>
            </a:r>
          </a:p>
          <a:p>
            <a:pPr lvl="2">
              <a:defRPr/>
            </a:pPr>
            <a:r>
              <a:rPr lang="fr-CH" dirty="0"/>
              <a:t>Source du déclencheur</a:t>
            </a:r>
          </a:p>
          <a:p>
            <a:pPr lvl="3">
              <a:defRPr/>
            </a:pPr>
            <a:r>
              <a:rPr lang="fr-CH" dirty="0"/>
              <a:t>Erreurs</a:t>
            </a:r>
          </a:p>
          <a:p>
            <a:pPr lvl="3">
              <a:defRPr/>
            </a:pPr>
            <a:r>
              <a:rPr lang="fr-CH" dirty="0"/>
              <a:t>Changement d’état</a:t>
            </a:r>
          </a:p>
          <a:p>
            <a:pPr lvl="3">
              <a:defRPr/>
            </a:pPr>
            <a:r>
              <a:rPr lang="fr-CH" dirty="0"/>
              <a:t>Trigger manuel</a:t>
            </a:r>
          </a:p>
          <a:p>
            <a:pPr lvl="3">
              <a:defRPr/>
            </a:pPr>
            <a:r>
              <a:rPr lang="fr-CH" dirty="0"/>
              <a:t>Entrées discrètes</a:t>
            </a:r>
          </a:p>
          <a:p>
            <a:pPr lvl="3">
              <a:defRPr/>
            </a:pPr>
            <a:r>
              <a:rPr lang="fr-CH" dirty="0"/>
              <a:t>Port série</a:t>
            </a:r>
          </a:p>
          <a:p>
            <a:pPr lvl="3">
              <a:defRPr/>
            </a:pPr>
            <a:r>
              <a:rPr lang="fr-CH" dirty="0"/>
              <a:t>Déclencheur software</a:t>
            </a:r>
          </a:p>
          <a:p>
            <a:pPr lvl="2">
              <a:defRPr/>
            </a:pPr>
            <a:endParaRPr lang="fr-CH" dirty="0"/>
          </a:p>
          <a:p>
            <a:pPr lvl="2">
              <a:defRPr/>
            </a:pPr>
            <a:endParaRPr lang="fr-CH" dirty="0"/>
          </a:p>
          <a:p>
            <a:pPr lvl="2">
              <a:defRPr/>
            </a:pPr>
            <a:endParaRPr lang="fr-CH" dirty="0"/>
          </a:p>
          <a:p>
            <a:pPr marL="914400" lvl="2" indent="0">
              <a:buFont typeface="Tahoma" panose="020B0604030504040204" pitchFamily="34" charset="0"/>
              <a:buNone/>
              <a:defRPr/>
            </a:pPr>
            <a:endParaRPr lang="fr-CH" dirty="0"/>
          </a:p>
          <a:p>
            <a:pPr lvl="2">
              <a:defRPr/>
            </a:pPr>
            <a:r>
              <a:rPr lang="fr-CH" dirty="0"/>
              <a:t>Manuel: écoute les déclencheurs aussi lorsque la caméra est offline</a:t>
            </a:r>
          </a:p>
          <a:p>
            <a:pPr lvl="1">
              <a:defRPr/>
            </a:pPr>
            <a:endParaRPr lang="fr-CH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r-CH" dirty="0"/>
          </a:p>
        </p:txBody>
      </p:sp>
      <p:sp>
        <p:nvSpPr>
          <p:cNvPr id="10243" name="Titre 2">
            <a:extLst>
              <a:ext uri="{FF2B5EF4-FFF2-40B4-BE49-F238E27FC236}">
                <a16:creationId xmlns:a16="http://schemas.microsoft.com/office/drawing/2014/main" id="{72E2DBAC-4485-AA67-22C9-BCDBC575E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pic>
        <p:nvPicPr>
          <p:cNvPr id="10244" name="Image 3">
            <a:extLst>
              <a:ext uri="{FF2B5EF4-FFF2-40B4-BE49-F238E27FC236}">
                <a16:creationId xmlns:a16="http://schemas.microsoft.com/office/drawing/2014/main" id="{2F693F8B-8A48-287D-061A-3AACEC538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525" y="1281113"/>
            <a:ext cx="9429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Image 4">
            <a:extLst>
              <a:ext uri="{FF2B5EF4-FFF2-40B4-BE49-F238E27FC236}">
                <a16:creationId xmlns:a16="http://schemas.microsoft.com/office/drawing/2014/main" id="{62D4355B-B651-513C-58ED-DD702C24A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75" y="1881188"/>
            <a:ext cx="2790825" cy="369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u contenu 1">
            <a:extLst>
              <a:ext uri="{FF2B5EF4-FFF2-40B4-BE49-F238E27FC236}">
                <a16:creationId xmlns:a16="http://schemas.microsoft.com/office/drawing/2014/main" id="{9E3ED97E-26D9-BDBA-1D2F-527A4DDED4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en-US"/>
              <a:t>Exemples de déclencheurs</a:t>
            </a:r>
          </a:p>
          <a:p>
            <a:pPr lvl="1"/>
            <a:r>
              <a:rPr lang="fr-CH" altLang="en-US"/>
              <a:t>33: Online/offline</a:t>
            </a:r>
          </a:p>
          <a:p>
            <a:pPr lvl="1"/>
            <a:r>
              <a:rPr lang="fr-CH" altLang="en-US"/>
              <a:t>35: Projet (job) chargé</a:t>
            </a:r>
          </a:p>
          <a:p>
            <a:pPr lvl="1"/>
            <a:r>
              <a:rPr lang="fr-CH" altLang="en-US"/>
              <a:t>39: Fin de cycle</a:t>
            </a:r>
          </a:p>
          <a:p>
            <a:pPr lvl="2"/>
            <a:r>
              <a:rPr lang="fr-CH" altLang="en-US"/>
              <a:t>Note: Double activation lorsqu’on est offline</a:t>
            </a:r>
          </a:p>
          <a:p>
            <a:pPr lvl="1"/>
            <a:r>
              <a:rPr lang="fr-CH" altLang="en-US"/>
              <a:t>49-58: Entrées discrètes (qui doivent être configurées comme trigger)</a:t>
            </a:r>
          </a:p>
          <a:p>
            <a:pPr lvl="1"/>
            <a:r>
              <a:rPr lang="fr-CH" altLang="en-US"/>
              <a:t>65: Serial port1: déclenche à la réception de données</a:t>
            </a:r>
          </a:p>
          <a:p>
            <a:pPr lvl="1"/>
            <a:r>
              <a:rPr lang="fr-CH" altLang="en-US"/>
              <a:t>80-87: Soft: déclenché par </a:t>
            </a:r>
          </a:p>
          <a:p>
            <a:pPr lvl="2"/>
            <a:r>
              <a:rPr lang="fr-CH" altLang="en-US"/>
              <a:t>bouton, </a:t>
            </a:r>
          </a:p>
          <a:p>
            <a:pPr lvl="2"/>
            <a:r>
              <a:rPr lang="fr-CH" altLang="en-US"/>
              <a:t>chronomètre (timer), </a:t>
            </a:r>
          </a:p>
          <a:p>
            <a:pPr lvl="2"/>
            <a:r>
              <a:rPr lang="fr-CH" altLang="en-US"/>
              <a:t>commande externe (Native command), </a:t>
            </a:r>
          </a:p>
          <a:p>
            <a:pPr lvl="2"/>
            <a:r>
              <a:rPr lang="fr-CH" altLang="en-US"/>
              <a:t>fonction SetEvent()</a:t>
            </a:r>
          </a:p>
        </p:txBody>
      </p:sp>
      <p:sp>
        <p:nvSpPr>
          <p:cNvPr id="11267" name="Titre 2">
            <a:extLst>
              <a:ext uri="{FF2B5EF4-FFF2-40B4-BE49-F238E27FC236}">
                <a16:creationId xmlns:a16="http://schemas.microsoft.com/office/drawing/2014/main" id="{C024E428-6C0C-C59A-E14C-AA71409A5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u contenu 1">
            <a:extLst>
              <a:ext uri="{FF2B5EF4-FFF2-40B4-BE49-F238E27FC236}">
                <a16:creationId xmlns:a16="http://schemas.microsoft.com/office/drawing/2014/main" id="{5444D5EF-20E6-94E6-A6B2-CC70EC08A0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en-US"/>
              <a:t>Résultats: Structure Event</a:t>
            </a:r>
          </a:p>
          <a:p>
            <a:pPr lvl="1"/>
            <a:r>
              <a:rPr lang="fr-CH" altLang="en-US"/>
              <a:t>Ou Error si argument (numéro de l’event) incorrecte.</a:t>
            </a:r>
          </a:p>
          <a:p>
            <a:pPr lvl="1"/>
            <a:r>
              <a:rPr lang="fr-CH" altLang="en-US"/>
              <a:t>Event  vaut 1 lorsqu’il est activé</a:t>
            </a:r>
          </a:p>
        </p:txBody>
      </p:sp>
      <p:sp>
        <p:nvSpPr>
          <p:cNvPr id="12291" name="Titre 2">
            <a:extLst>
              <a:ext uri="{FF2B5EF4-FFF2-40B4-BE49-F238E27FC236}">
                <a16:creationId xmlns:a16="http://schemas.microsoft.com/office/drawing/2014/main" id="{A60DD118-250E-7E91-2701-A7F54E20B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pic>
        <p:nvPicPr>
          <p:cNvPr id="12292" name="Image 3">
            <a:extLst>
              <a:ext uri="{FF2B5EF4-FFF2-40B4-BE49-F238E27FC236}">
                <a16:creationId xmlns:a16="http://schemas.microsoft.com/office/drawing/2014/main" id="{6C49F9A9-C8E8-0C91-6583-DB610FE5F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1268413"/>
            <a:ext cx="84613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Image 3">
            <a:extLst>
              <a:ext uri="{FF2B5EF4-FFF2-40B4-BE49-F238E27FC236}">
                <a16:creationId xmlns:a16="http://schemas.microsoft.com/office/drawing/2014/main" id="{84D3F889-CB97-9E0C-8363-CDE10330A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1989138"/>
            <a:ext cx="84613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u contenu 1">
            <a:extLst>
              <a:ext uri="{FF2B5EF4-FFF2-40B4-BE49-F238E27FC236}">
                <a16:creationId xmlns:a16="http://schemas.microsoft.com/office/drawing/2014/main" id="{F9C0FACA-CD71-C9A9-5598-2A8337A087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en-US"/>
              <a:t>Fonction SetEvent()</a:t>
            </a:r>
          </a:p>
          <a:p>
            <a:endParaRPr lang="fr-CH" altLang="en-US"/>
          </a:p>
          <a:p>
            <a:r>
              <a:rPr lang="fr-CH" altLang="en-US"/>
              <a:t>Déclenche un event (soft) quand la cellule est exécutée</a:t>
            </a:r>
          </a:p>
          <a:p>
            <a:endParaRPr lang="fr-CH" altLang="en-US"/>
          </a:p>
          <a:p>
            <a:r>
              <a:rPr lang="fr-CH" altLang="en-US"/>
              <a:t>Utilisation</a:t>
            </a:r>
          </a:p>
          <a:p>
            <a:pPr lvl="1"/>
            <a:r>
              <a:rPr lang="fr-CH" altLang="en-US"/>
              <a:t>SetEvent(32): Manual trigger</a:t>
            </a:r>
          </a:p>
          <a:p>
            <a:pPr lvl="1"/>
            <a:r>
              <a:rPr lang="fr-CH" altLang="en-US"/>
              <a:t>SetEvent(80 à 87): Soft trigger 0 à 7</a:t>
            </a:r>
          </a:p>
          <a:p>
            <a:pPr lvl="1"/>
            <a:endParaRPr lang="fr-CH" altLang="en-US"/>
          </a:p>
          <a:p>
            <a:pPr lvl="1"/>
            <a:r>
              <a:rPr lang="fr-CH" altLang="en-US"/>
              <a:t>Résultat: la valeur du trigger.</a:t>
            </a:r>
          </a:p>
        </p:txBody>
      </p:sp>
      <p:sp>
        <p:nvSpPr>
          <p:cNvPr id="13315" name="Titre 2">
            <a:extLst>
              <a:ext uri="{FF2B5EF4-FFF2-40B4-BE49-F238E27FC236}">
                <a16:creationId xmlns:a16="http://schemas.microsoft.com/office/drawing/2014/main" id="{F45288E3-A29E-F186-62E2-BA467D6CC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u contenu 1">
            <a:extLst>
              <a:ext uri="{FF2B5EF4-FFF2-40B4-BE49-F238E27FC236}">
                <a16:creationId xmlns:a16="http://schemas.microsoft.com/office/drawing/2014/main" id="{801CD143-2C9C-9210-0996-98237EDBC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Bouton</a:t>
            </a:r>
          </a:p>
          <a:p>
            <a:pPr lvl="1">
              <a:defRPr/>
            </a:pPr>
            <a:r>
              <a:rPr lang="fr-CH" dirty="0"/>
              <a:t>Graphiques </a:t>
            </a:r>
            <a:r>
              <a:rPr lang="fr-CH" dirty="0">
                <a:sym typeface="Wingdings" panose="05000000000000000000" pitchFamily="2" charset="2"/>
              </a:rPr>
              <a:t> commandes  Button()</a:t>
            </a:r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r-CH" dirty="0"/>
          </a:p>
          <a:p>
            <a:pPr>
              <a:defRPr/>
            </a:pPr>
            <a:r>
              <a:rPr lang="fr-CH" dirty="0"/>
              <a:t>Chronomètres</a:t>
            </a:r>
          </a:p>
          <a:p>
            <a:pPr lvl="1">
              <a:defRPr/>
            </a:pPr>
            <a:r>
              <a:rPr lang="fr-CH" dirty="0"/>
              <a:t>Communications </a:t>
            </a:r>
            <a:r>
              <a:rPr lang="fr-CH" dirty="0">
                <a:sym typeface="Wingdings" panose="05000000000000000000" pitchFamily="2" charset="2"/>
              </a:rPr>
              <a:t> Heure/Horloge  Timer()</a:t>
            </a:r>
            <a:endParaRPr lang="fr-CH" dirty="0"/>
          </a:p>
        </p:txBody>
      </p:sp>
      <p:sp>
        <p:nvSpPr>
          <p:cNvPr id="14339" name="Titre 2">
            <a:extLst>
              <a:ext uri="{FF2B5EF4-FFF2-40B4-BE49-F238E27FC236}">
                <a16:creationId xmlns:a16="http://schemas.microsoft.com/office/drawing/2014/main" id="{BACB1EE1-C668-F7C6-4B45-D876FDDAB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pic>
        <p:nvPicPr>
          <p:cNvPr id="14340" name="Image 1">
            <a:extLst>
              <a:ext uri="{FF2B5EF4-FFF2-40B4-BE49-F238E27FC236}">
                <a16:creationId xmlns:a16="http://schemas.microsoft.com/office/drawing/2014/main" id="{415D3825-D336-C218-32BB-5C1E0698E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024063"/>
            <a:ext cx="15906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Image 2">
            <a:extLst>
              <a:ext uri="{FF2B5EF4-FFF2-40B4-BE49-F238E27FC236}">
                <a16:creationId xmlns:a16="http://schemas.microsoft.com/office/drawing/2014/main" id="{2E768611-CB76-DCAE-C4B1-044594330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024063"/>
            <a:ext cx="18954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Image 4">
            <a:extLst>
              <a:ext uri="{FF2B5EF4-FFF2-40B4-BE49-F238E27FC236}">
                <a16:creationId xmlns:a16="http://schemas.microsoft.com/office/drawing/2014/main" id="{00572FA6-9841-9C83-DC64-970D1EF1F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849688"/>
            <a:ext cx="2209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Image 5">
            <a:extLst>
              <a:ext uri="{FF2B5EF4-FFF2-40B4-BE49-F238E27FC236}">
                <a16:creationId xmlns:a16="http://schemas.microsoft.com/office/drawing/2014/main" id="{F6176342-2219-EF53-4E2D-664DA3D304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4913313"/>
            <a:ext cx="3675063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Image 6">
            <a:extLst>
              <a:ext uri="{FF2B5EF4-FFF2-40B4-BE49-F238E27FC236}">
                <a16:creationId xmlns:a16="http://schemas.microsoft.com/office/drawing/2014/main" id="{81DE3C88-59D6-384A-B395-FEB79FBC34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0" y="2024063"/>
            <a:ext cx="3227388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Image 7">
            <a:extLst>
              <a:ext uri="{FF2B5EF4-FFF2-40B4-BE49-F238E27FC236}">
                <a16:creationId xmlns:a16="http://schemas.microsoft.com/office/drawing/2014/main" id="{F74EF41D-887E-0B4B-31E0-AE761EC67C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4040188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contenu 1">
            <a:extLst>
              <a:ext uri="{FF2B5EF4-FFF2-40B4-BE49-F238E27FC236}">
                <a16:creationId xmlns:a16="http://schemas.microsoft.com/office/drawing/2014/main" id="{AF62577D-F71B-99D7-F83A-FF9CA94EFC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en-US"/>
              <a:t>Dépendances entre cellules</a:t>
            </a:r>
          </a:p>
          <a:p>
            <a:pPr lvl="1"/>
            <a:r>
              <a:rPr lang="fr-CH" altLang="en-US"/>
              <a:t>Affichage des niveaux de dépendance (F11)</a:t>
            </a:r>
          </a:p>
          <a:p>
            <a:pPr lvl="1"/>
            <a:endParaRPr lang="fr-CH" altLang="en-US"/>
          </a:p>
          <a:p>
            <a:pPr lvl="2"/>
            <a:r>
              <a:rPr lang="fr-CH" altLang="en-US"/>
              <a:t>Qui dépend de x?</a:t>
            </a:r>
          </a:p>
          <a:p>
            <a:pPr lvl="2"/>
            <a:endParaRPr lang="fr-CH" altLang="en-US"/>
          </a:p>
          <a:p>
            <a:pPr lvl="2"/>
            <a:endParaRPr lang="fr-CH" altLang="en-US"/>
          </a:p>
          <a:p>
            <a:pPr lvl="2"/>
            <a:endParaRPr lang="fr-CH" altLang="en-US"/>
          </a:p>
          <a:p>
            <a:pPr lvl="2"/>
            <a:endParaRPr lang="fr-CH" altLang="en-US"/>
          </a:p>
          <a:p>
            <a:pPr lvl="2"/>
            <a:r>
              <a:rPr lang="fr-CH" altLang="en-US"/>
              <a:t>De qui dépend x?</a:t>
            </a:r>
          </a:p>
        </p:txBody>
      </p:sp>
      <p:sp>
        <p:nvSpPr>
          <p:cNvPr id="15363" name="Titre 2">
            <a:extLst>
              <a:ext uri="{FF2B5EF4-FFF2-40B4-BE49-F238E27FC236}">
                <a16:creationId xmlns:a16="http://schemas.microsoft.com/office/drawing/2014/main" id="{1656A0F2-FE7C-8A7B-E4FF-FC8DC071B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pic>
        <p:nvPicPr>
          <p:cNvPr id="15364" name="Image 4">
            <a:extLst>
              <a:ext uri="{FF2B5EF4-FFF2-40B4-BE49-F238E27FC236}">
                <a16:creationId xmlns:a16="http://schemas.microsoft.com/office/drawing/2014/main" id="{F2914CC0-D95E-55F9-569E-27CA81E3B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563" y="2673350"/>
            <a:ext cx="47910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Image 5">
            <a:extLst>
              <a:ext uri="{FF2B5EF4-FFF2-40B4-BE49-F238E27FC236}">
                <a16:creationId xmlns:a16="http://schemas.microsoft.com/office/drawing/2014/main" id="{393CBFE4-E587-E614-1C32-125349D04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088" y="4564063"/>
            <a:ext cx="45910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B590BC1-8921-DD35-DCAD-AEE885F07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Consommateurs d’events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fr-CH" dirty="0"/>
          </a:p>
          <a:p>
            <a:pPr lvl="1">
              <a:defRPr/>
            </a:pPr>
            <a:r>
              <a:rPr lang="fr-CH" dirty="0"/>
              <a:t>Count(Event, ValMax, Reset, ValReset)</a:t>
            </a:r>
          </a:p>
          <a:p>
            <a:pPr lvl="2">
              <a:defRPr/>
            </a:pPr>
            <a:r>
              <a:rPr lang="fr-CH" dirty="0"/>
              <a:t>Compte les nombre de fois que l’event est actif.</a:t>
            </a:r>
          </a:p>
          <a:p>
            <a:pPr lvl="1">
              <a:defRPr/>
            </a:pPr>
            <a:r>
              <a:rPr lang="en-US" dirty="0"/>
              <a:t>Accumulate (</a:t>
            </a:r>
            <a:r>
              <a:rPr lang="en-US" i="1" dirty="0">
                <a:hlinkClick r:id="rId2" action="ppaction://hlinkfile"/>
              </a:rPr>
              <a:t>Event</a:t>
            </a:r>
            <a:r>
              <a:rPr lang="en-US" dirty="0"/>
              <a:t>, </a:t>
            </a:r>
            <a:r>
              <a:rPr lang="en-US" i="1" dirty="0">
                <a:hlinkClick r:id="rId3" action="ppaction://hlinkfile"/>
              </a:rPr>
              <a:t>Value</a:t>
            </a:r>
            <a:r>
              <a:rPr lang="en-US" dirty="0"/>
              <a:t>, </a:t>
            </a:r>
            <a:r>
              <a:rPr lang="en-US" i="1" dirty="0">
                <a:hlinkClick r:id="rId4" action="ppaction://hlinkfile"/>
              </a:rPr>
              <a:t>Reset</a:t>
            </a:r>
            <a:r>
              <a:rPr lang="en-US" dirty="0"/>
              <a:t>, </a:t>
            </a:r>
            <a:r>
              <a:rPr lang="en-US" dirty="0">
                <a:hlinkClick r:id="rId5" action="ppaction://hlinkfile"/>
              </a:rPr>
              <a:t>Preset</a:t>
            </a:r>
            <a:r>
              <a:rPr lang="en-US" dirty="0"/>
              <a:t> )</a:t>
            </a:r>
          </a:p>
          <a:p>
            <a:pPr lvl="2">
              <a:defRPr/>
            </a:pPr>
            <a:r>
              <a:rPr lang="en-US" dirty="0"/>
              <a:t>Accumule (sommatoire) une valeur à chaque event</a:t>
            </a:r>
            <a:endParaRPr lang="fr-CH" dirty="0"/>
          </a:p>
          <a:p>
            <a:pPr lvl="1">
              <a:defRPr/>
            </a:pPr>
            <a:r>
              <a:rPr lang="fr-CH" dirty="0"/>
              <a:t>LatchImage (</a:t>
            </a:r>
            <a:r>
              <a:rPr lang="fr-CH" dirty="0">
                <a:hlinkClick r:id="rId6" action="ppaction://hlinkfile"/>
              </a:rPr>
              <a:t>Image</a:t>
            </a:r>
            <a:r>
              <a:rPr lang="fr-CH" dirty="0"/>
              <a:t>, </a:t>
            </a:r>
            <a:r>
              <a:rPr lang="fr-CH" dirty="0">
                <a:hlinkClick r:id="rId7" action="ppaction://hlinkfile"/>
              </a:rPr>
              <a:t>Fixture</a:t>
            </a:r>
            <a:r>
              <a:rPr lang="fr-CH" dirty="0"/>
              <a:t>, </a:t>
            </a:r>
            <a:r>
              <a:rPr lang="fr-CH" dirty="0">
                <a:hlinkClick r:id="rId8" action="ppaction://hlinkfile"/>
              </a:rPr>
              <a:t>Region</a:t>
            </a:r>
            <a:r>
              <a:rPr lang="fr-CH" dirty="0"/>
              <a:t>, </a:t>
            </a:r>
            <a:r>
              <a:rPr lang="fr-CH" dirty="0">
                <a:hlinkClick r:id="rId2" action="ppaction://hlinkfile"/>
              </a:rPr>
              <a:t>Event</a:t>
            </a:r>
            <a:r>
              <a:rPr lang="fr-CH" dirty="0"/>
              <a:t>, </a:t>
            </a:r>
            <a:r>
              <a:rPr lang="fr-CH" dirty="0">
                <a:hlinkClick r:id="rId9" action="ppaction://hlinkfile"/>
              </a:rPr>
              <a:t>Show</a:t>
            </a:r>
            <a:r>
              <a:rPr lang="fr-CH" dirty="0"/>
              <a:t> )</a:t>
            </a:r>
          </a:p>
          <a:p>
            <a:pPr lvl="2">
              <a:defRPr/>
            </a:pPr>
            <a:r>
              <a:rPr lang="fr-CH" dirty="0"/>
              <a:t>Mémorise une image dans la cellule</a:t>
            </a:r>
          </a:p>
          <a:p>
            <a:pPr lvl="1">
              <a:defRPr/>
            </a:pPr>
            <a:r>
              <a:rPr lang="fr-CH" dirty="0"/>
              <a:t>Latch (</a:t>
            </a:r>
            <a:r>
              <a:rPr lang="fr-CH" dirty="0">
                <a:hlinkClick r:id="rId2" action="ppaction://hlinkfile"/>
              </a:rPr>
              <a:t>Event</a:t>
            </a:r>
            <a:r>
              <a:rPr lang="fr-CH" dirty="0"/>
              <a:t>, </a:t>
            </a:r>
            <a:r>
              <a:rPr lang="fr-CH" dirty="0">
                <a:hlinkClick r:id="rId3" action="ppaction://hlinkfile"/>
              </a:rPr>
              <a:t>Value</a:t>
            </a:r>
            <a:r>
              <a:rPr lang="fr-CH" dirty="0"/>
              <a:t> )</a:t>
            </a:r>
          </a:p>
          <a:p>
            <a:pPr lvl="2">
              <a:defRPr/>
            </a:pPr>
            <a:r>
              <a:rPr lang="fr-CH" dirty="0"/>
              <a:t>Mémorise valeur dans la cellule</a:t>
            </a:r>
          </a:p>
          <a:p>
            <a:pPr lvl="1">
              <a:defRPr/>
            </a:pPr>
            <a:r>
              <a:rPr lang="en-US" dirty="0"/>
              <a:t>ShiftRegister (</a:t>
            </a:r>
            <a:r>
              <a:rPr lang="en-US" dirty="0">
                <a:hlinkClick r:id="rId2" action="ppaction://hlinkfile"/>
              </a:rPr>
              <a:t>Event</a:t>
            </a:r>
            <a:r>
              <a:rPr lang="en-US" dirty="0"/>
              <a:t>,</a:t>
            </a:r>
            <a:r>
              <a:rPr lang="en-US" dirty="0">
                <a:hlinkClick r:id="rId3" action="ppaction://hlinkfile"/>
              </a:rPr>
              <a:t>Value</a:t>
            </a:r>
            <a:r>
              <a:rPr lang="en-US" dirty="0"/>
              <a:t>, </a:t>
            </a:r>
            <a:r>
              <a:rPr lang="en-US" dirty="0">
                <a:hlinkClick r:id="rId10" action="ppaction://hlinkfile"/>
              </a:rPr>
              <a:t>NumberofSteps</a:t>
            </a:r>
            <a:r>
              <a:rPr lang="en-US" dirty="0"/>
              <a:t>, </a:t>
            </a:r>
            <a:r>
              <a:rPr lang="en-US" dirty="0">
                <a:hlinkClick r:id="rId4" action="ppaction://hlinkfile"/>
              </a:rPr>
              <a:t>Reset</a:t>
            </a:r>
            <a:r>
              <a:rPr lang="en-US" dirty="0"/>
              <a:t> )</a:t>
            </a:r>
          </a:p>
          <a:p>
            <a:pPr lvl="2">
              <a:defRPr/>
            </a:pPr>
            <a:r>
              <a:rPr lang="en-US" dirty="0"/>
              <a:t>Mémorise valeur dans </a:t>
            </a:r>
            <a:r>
              <a:rPr lang="en-US" dirty="0" err="1"/>
              <a:t>registre</a:t>
            </a:r>
            <a:r>
              <a:rPr lang="en-US" dirty="0"/>
              <a:t> à decalage, </a:t>
            </a:r>
            <a:r>
              <a:rPr lang="en-US" dirty="0" err="1"/>
              <a:t>c.à.d</a:t>
            </a:r>
            <a:r>
              <a:rPr lang="en-US" dirty="0"/>
              <a:t>.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</a:t>
            </a:r>
            <a:endParaRPr lang="fr-CH" dirty="0"/>
          </a:p>
          <a:p>
            <a:pPr lvl="1">
              <a:defRPr/>
            </a:pPr>
            <a:r>
              <a:rPr lang="fr-CH" dirty="0"/>
              <a:t>WriteImageFTP (</a:t>
            </a:r>
            <a:r>
              <a:rPr lang="fr-CH" dirty="0">
                <a:hlinkClick r:id="rId2" action="ppaction://hlinkfile"/>
              </a:rPr>
              <a:t>Event</a:t>
            </a:r>
            <a:r>
              <a:rPr lang="fr-CH" dirty="0"/>
              <a:t> ,Host, User, </a:t>
            </a:r>
            <a:r>
              <a:rPr lang="fr-CH" dirty="0">
                <a:hlinkClick r:id="rId11" action="ppaction://hlinkfile"/>
              </a:rPr>
              <a:t>Pwd</a:t>
            </a:r>
            <a:r>
              <a:rPr lang="fr-CH" dirty="0"/>
              <a:t>, </a:t>
            </a:r>
            <a:r>
              <a:rPr lang="fr-CH" dirty="0">
                <a:hlinkClick r:id="rId6" action="ppaction://hlinkfile"/>
              </a:rPr>
              <a:t>Image</a:t>
            </a:r>
            <a:r>
              <a:rPr lang="fr-CH" dirty="0"/>
              <a:t>, Filename,…)</a:t>
            </a:r>
          </a:p>
          <a:p>
            <a:pPr lvl="2">
              <a:defRPr/>
            </a:pPr>
            <a:r>
              <a:rPr lang="fr-CH" dirty="0"/>
              <a:t>Ecrit une image à chaque event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fr-CH" dirty="0"/>
              <a:t> </a:t>
            </a:r>
          </a:p>
          <a:p>
            <a:pPr lvl="1">
              <a:defRPr/>
            </a:pPr>
            <a:endParaRPr lang="fr-CH" dirty="0"/>
          </a:p>
        </p:txBody>
      </p:sp>
      <p:sp>
        <p:nvSpPr>
          <p:cNvPr id="16387" name="Titre 2">
            <a:extLst>
              <a:ext uri="{FF2B5EF4-FFF2-40B4-BE49-F238E27FC236}">
                <a16:creationId xmlns:a16="http://schemas.microsoft.com/office/drawing/2014/main" id="{9625EDC5-34C5-A317-2AD5-4F06AD291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C253791-FF33-F500-A2C5-57F027A9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Boucle/Loop</a:t>
            </a:r>
          </a:p>
        </p:txBody>
      </p:sp>
      <p:sp>
        <p:nvSpPr>
          <p:cNvPr id="17411" name="Espace réservé du texte 4">
            <a:extLst>
              <a:ext uri="{FF2B5EF4-FFF2-40B4-BE49-F238E27FC236}">
                <a16:creationId xmlns:a16="http://schemas.microsoft.com/office/drawing/2014/main" id="{68EEE091-87CA-53FC-114E-5BFC4EEBF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H" alt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4">
            <a:extLst>
              <a:ext uri="{FF2B5EF4-FFF2-40B4-BE49-F238E27FC236}">
                <a16:creationId xmlns:a16="http://schemas.microsoft.com/office/drawing/2014/main" id="{B746EC9E-1FCF-7828-85F6-61E61B5ECE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fr-FR"/>
              <a:t>Boucle (loop) dans Cognex Insight</a:t>
            </a:r>
          </a:p>
        </p:txBody>
      </p:sp>
      <p:sp>
        <p:nvSpPr>
          <p:cNvPr id="18435" name="Titre 3">
            <a:extLst>
              <a:ext uri="{FF2B5EF4-FFF2-40B4-BE49-F238E27FC236}">
                <a16:creationId xmlns:a16="http://schemas.microsoft.com/office/drawing/2014/main" id="{1D1E3653-086C-A477-262D-88C95DBDD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Events</a:t>
            </a:r>
          </a:p>
        </p:txBody>
      </p:sp>
      <p:pic>
        <p:nvPicPr>
          <p:cNvPr id="18436" name="Image 15">
            <a:extLst>
              <a:ext uri="{FF2B5EF4-FFF2-40B4-BE49-F238E27FC236}">
                <a16:creationId xmlns:a16="http://schemas.microsoft.com/office/drawing/2014/main" id="{839DADD9-E0B7-C163-7923-822B08A04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1863"/>
            <a:ext cx="8915400" cy="385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37" name="Connecteur droit avec flèche 10">
            <a:extLst>
              <a:ext uri="{FF2B5EF4-FFF2-40B4-BE49-F238E27FC236}">
                <a16:creationId xmlns:a16="http://schemas.microsoft.com/office/drawing/2014/main" id="{493B63FA-0C8E-0C72-3F20-83512842EBBA}"/>
              </a:ext>
            </a:extLst>
          </p:cNvPr>
          <p:cNvCxnSpPr>
            <a:cxnSpLocks/>
          </p:cNvCxnSpPr>
          <p:nvPr/>
        </p:nvCxnSpPr>
        <p:spPr bwMode="auto">
          <a:xfrm flipV="1">
            <a:off x="1042988" y="4581525"/>
            <a:ext cx="325437" cy="1755775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438" name="Image 17">
            <a:extLst>
              <a:ext uri="{FF2B5EF4-FFF2-40B4-BE49-F238E27FC236}">
                <a16:creationId xmlns:a16="http://schemas.microsoft.com/office/drawing/2014/main" id="{8864F539-22D2-F675-4E43-2A29B6106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6343650"/>
            <a:ext cx="2160588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Image 20">
            <a:extLst>
              <a:ext uri="{FF2B5EF4-FFF2-40B4-BE49-F238E27FC236}">
                <a16:creationId xmlns:a16="http://schemas.microsoft.com/office/drawing/2014/main" id="{19E2B062-FAED-644F-373C-058E6B594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814513"/>
            <a:ext cx="15843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40" name="Connecteur droit avec flèche 21">
            <a:extLst>
              <a:ext uri="{FF2B5EF4-FFF2-40B4-BE49-F238E27FC236}">
                <a16:creationId xmlns:a16="http://schemas.microsoft.com/office/drawing/2014/main" id="{3A4464FD-BCB9-2EAD-6551-AE15F84AD5FE}"/>
              </a:ext>
            </a:extLst>
          </p:cNvPr>
          <p:cNvCxnSpPr>
            <a:cxnSpLocks/>
          </p:cNvCxnSpPr>
          <p:nvPr/>
        </p:nvCxnSpPr>
        <p:spPr bwMode="auto">
          <a:xfrm flipH="1">
            <a:off x="2339975" y="2036763"/>
            <a:ext cx="576263" cy="2436812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441" name="Image 25">
            <a:extLst>
              <a:ext uri="{FF2B5EF4-FFF2-40B4-BE49-F238E27FC236}">
                <a16:creationId xmlns:a16="http://schemas.microsoft.com/office/drawing/2014/main" id="{9F99CBE7-2B5A-3817-6BFB-07058CFC6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0" y="1784350"/>
            <a:ext cx="25288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42" name="Connecteur droit avec flèche 26">
            <a:extLst>
              <a:ext uri="{FF2B5EF4-FFF2-40B4-BE49-F238E27FC236}">
                <a16:creationId xmlns:a16="http://schemas.microsoft.com/office/drawing/2014/main" id="{5E4AD57A-F0EE-E059-9300-A18BB853AA3A}"/>
              </a:ext>
            </a:extLst>
          </p:cNvPr>
          <p:cNvCxnSpPr>
            <a:cxnSpLocks/>
          </p:cNvCxnSpPr>
          <p:nvPr/>
        </p:nvCxnSpPr>
        <p:spPr bwMode="auto">
          <a:xfrm>
            <a:off x="6148388" y="2000250"/>
            <a:ext cx="2006600" cy="2724150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3" name="Connecteur droit avec flèche 30">
            <a:extLst>
              <a:ext uri="{FF2B5EF4-FFF2-40B4-BE49-F238E27FC236}">
                <a16:creationId xmlns:a16="http://schemas.microsoft.com/office/drawing/2014/main" id="{8F3D6537-FD0D-9D14-2338-51EB23B104C3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8075" y="4818063"/>
            <a:ext cx="2498725" cy="1298575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444" name="Image 34">
            <a:extLst>
              <a:ext uri="{FF2B5EF4-FFF2-40B4-BE49-F238E27FC236}">
                <a16:creationId xmlns:a16="http://schemas.microsoft.com/office/drawing/2014/main" id="{D8FE0223-F1D3-FD50-B5E2-27DEEE15A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738" y="6189663"/>
            <a:ext cx="4170362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Image 36">
            <a:extLst>
              <a:ext uri="{FF2B5EF4-FFF2-40B4-BE49-F238E27FC236}">
                <a16:creationId xmlns:a16="http://schemas.microsoft.com/office/drawing/2014/main" id="{B47E0BBD-B550-709D-638B-71621DC0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0" y="6000750"/>
            <a:ext cx="151447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46" name="Connecteur droit avec flèche 37">
            <a:extLst>
              <a:ext uri="{FF2B5EF4-FFF2-40B4-BE49-F238E27FC236}">
                <a16:creationId xmlns:a16="http://schemas.microsoft.com/office/drawing/2014/main" id="{A4EEF86D-B827-BE50-A49D-0FF4E80F05E7}"/>
              </a:ext>
            </a:extLst>
          </p:cNvPr>
          <p:cNvCxnSpPr>
            <a:cxnSpLocks/>
          </p:cNvCxnSpPr>
          <p:nvPr/>
        </p:nvCxnSpPr>
        <p:spPr bwMode="auto">
          <a:xfrm flipV="1">
            <a:off x="8101013" y="5297488"/>
            <a:ext cx="633412" cy="715962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447" name="Image 40">
            <a:extLst>
              <a:ext uri="{FF2B5EF4-FFF2-40B4-BE49-F238E27FC236}">
                <a16:creationId xmlns:a16="http://schemas.microsoft.com/office/drawing/2014/main" id="{80F6A609-2C4D-C0A9-8C52-E96F02D17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488" y="3363913"/>
            <a:ext cx="185102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8" name="Image 42">
            <a:extLst>
              <a:ext uri="{FF2B5EF4-FFF2-40B4-BE49-F238E27FC236}">
                <a16:creationId xmlns:a16="http://schemas.microsoft.com/office/drawing/2014/main" id="{A905AAE7-45C7-9CA0-BBD8-07744CB42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8" y="5794375"/>
            <a:ext cx="322580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49" name="Connecteur droit avec flèche 43">
            <a:extLst>
              <a:ext uri="{FF2B5EF4-FFF2-40B4-BE49-F238E27FC236}">
                <a16:creationId xmlns:a16="http://schemas.microsoft.com/office/drawing/2014/main" id="{70883904-8803-914E-2650-19C0D9C527A8}"/>
              </a:ext>
            </a:extLst>
          </p:cNvPr>
          <p:cNvCxnSpPr>
            <a:cxnSpLocks/>
          </p:cNvCxnSpPr>
          <p:nvPr/>
        </p:nvCxnSpPr>
        <p:spPr bwMode="auto">
          <a:xfrm flipV="1">
            <a:off x="1989138" y="5449888"/>
            <a:ext cx="242887" cy="369887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contenu 1">
            <a:extLst>
              <a:ext uri="{FF2B5EF4-FFF2-40B4-BE49-F238E27FC236}">
                <a16:creationId xmlns:a16="http://schemas.microsoft.com/office/drawing/2014/main" id="{33463567-0719-E82F-F351-21283B29CA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fr-FR"/>
              <a:t>Eléments d’une boucle</a:t>
            </a:r>
          </a:p>
          <a:p>
            <a:pPr lvl="1"/>
            <a:r>
              <a:rPr lang="fr-CH" altLang="fr-FR">
                <a:latin typeface="Courier New" panose="02070309020205020404" pitchFamily="49" charset="0"/>
                <a:cs typeface="Courier New" panose="02070309020205020404" pitchFamily="49" charset="0"/>
              </a:rPr>
              <a:t>Repeat()</a:t>
            </a:r>
            <a:r>
              <a:rPr lang="fr-CH" altLang="fr-FR"/>
              <a:t>: Lors d’un event, répète un bloc de cellules pendant un nombre d’iterations. Voir aussi </a:t>
            </a:r>
            <a:r>
              <a:rPr lang="fr-CH" altLang="fr-FR">
                <a:latin typeface="Courier New" panose="02070309020205020404" pitchFamily="49" charset="0"/>
                <a:cs typeface="Courier New" panose="02070309020205020404" pitchFamily="49" charset="0"/>
              </a:rPr>
              <a:t>RepeatUntil()</a:t>
            </a:r>
          </a:p>
          <a:p>
            <a:pPr lvl="1"/>
            <a:r>
              <a:rPr lang="fr-CH" altLang="fr-FR">
                <a:latin typeface="Courier New" panose="02070309020205020404" pitchFamily="49" charset="0"/>
                <a:cs typeface="Courier New" panose="02070309020205020404" pitchFamily="49" charset="0"/>
              </a:rPr>
              <a:t>GetLoopCount()</a:t>
            </a:r>
            <a:r>
              <a:rPr lang="fr-CH" altLang="fr-FR"/>
              <a:t>: Compteur de boucle; doit être dans le bloc et utilisé pour itérer à travers les éléments d’une liste de résultats</a:t>
            </a:r>
          </a:p>
          <a:p>
            <a:pPr lvl="1"/>
            <a:r>
              <a:rPr lang="fr-CH" altLang="fr-FR">
                <a:latin typeface="Courier New" panose="02070309020205020404" pitchFamily="49" charset="0"/>
                <a:cs typeface="Courier New" panose="02070309020205020404" pitchFamily="49" charset="0"/>
              </a:rPr>
              <a:t>ShiftRegister()</a:t>
            </a:r>
            <a:r>
              <a:rPr lang="fr-CH" altLang="fr-FR"/>
              <a:t>: Stocke les résultats de chaque itération dans une liste, car autrement ils seraient écrasés.</a:t>
            </a:r>
          </a:p>
          <a:p>
            <a:pPr lvl="1"/>
            <a:endParaRPr lang="fr-CH" altLang="fr-FR"/>
          </a:p>
          <a:p>
            <a:pPr lvl="1"/>
            <a:r>
              <a:rPr lang="fr-CH" altLang="fr-FR"/>
              <a:t>Partie graphique:</a:t>
            </a:r>
          </a:p>
          <a:p>
            <a:pPr lvl="2"/>
            <a:r>
              <a:rPr lang="fr-CH" altLang="fr-FR">
                <a:latin typeface="Courier New" panose="02070309020205020404" pitchFamily="49" charset="0"/>
                <a:cs typeface="Courier New" panose="02070309020205020404" pitchFamily="49" charset="0"/>
              </a:rPr>
              <a:t>Plot*()</a:t>
            </a:r>
            <a:r>
              <a:rPr lang="fr-CH" altLang="fr-FR"/>
              <a:t>: Génère un dessin basé sur les résultats de l’itération, car on ne peut pas rendre permanents les overlays implicites aux fonctions du bloc.</a:t>
            </a:r>
          </a:p>
          <a:p>
            <a:pPr lvl="2"/>
            <a:r>
              <a:rPr lang="fr-CH" altLang="fr-FR">
                <a:latin typeface="Courier New" panose="02070309020205020404" pitchFamily="49" charset="0"/>
                <a:cs typeface="Courier New" panose="02070309020205020404" pitchFamily="49" charset="0"/>
              </a:rPr>
              <a:t>StoreData()</a:t>
            </a:r>
            <a:r>
              <a:rPr lang="fr-CH" altLang="fr-FR"/>
              <a:t>: Stocke les overlays de chaque itération.</a:t>
            </a:r>
          </a:p>
          <a:p>
            <a:pPr lvl="2"/>
            <a:r>
              <a:rPr lang="fr-CH" altLang="fr-FR">
                <a:latin typeface="Courier New" panose="02070309020205020404" pitchFamily="49" charset="0"/>
                <a:cs typeface="Courier New" panose="02070309020205020404" pitchFamily="49" charset="0"/>
              </a:rPr>
              <a:t>PlotData()</a:t>
            </a:r>
            <a:r>
              <a:rPr lang="fr-CH" altLang="fr-FR"/>
              <a:t>: Doit être à l’extérieur du bloc. Redessine les overlays graphiques stockés. </a:t>
            </a:r>
          </a:p>
          <a:p>
            <a:pPr lvl="1"/>
            <a:endParaRPr lang="fr-CH" altLang="fr-FR"/>
          </a:p>
        </p:txBody>
      </p:sp>
      <p:sp>
        <p:nvSpPr>
          <p:cNvPr id="19459" name="Titre 2">
            <a:extLst>
              <a:ext uri="{FF2B5EF4-FFF2-40B4-BE49-F238E27FC236}">
                <a16:creationId xmlns:a16="http://schemas.microsoft.com/office/drawing/2014/main" id="{44C6E7E0-7463-CB52-0C03-30C07237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Events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06C4C26-4DF5-ED63-2C02-0485A1396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Exercices</a:t>
            </a:r>
          </a:p>
        </p:txBody>
      </p:sp>
      <p:sp>
        <p:nvSpPr>
          <p:cNvPr id="20483" name="Espace réservé du texte 4">
            <a:extLst>
              <a:ext uri="{FF2B5EF4-FFF2-40B4-BE49-F238E27FC236}">
                <a16:creationId xmlns:a16="http://schemas.microsoft.com/office/drawing/2014/main" id="{FC9170D1-5B1F-BC1D-9F77-8D6037AB3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H" alt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re 1">
            <a:extLst>
              <a:ext uri="{FF2B5EF4-FFF2-40B4-BE49-F238E27FC236}">
                <a16:creationId xmlns:a16="http://schemas.microsoft.com/office/drawing/2014/main" id="{4C07A73D-A9B4-C616-80DC-151062617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sp>
        <p:nvSpPr>
          <p:cNvPr id="17411" name="Espace réservé du contenu 2">
            <a:extLst>
              <a:ext uri="{FF2B5EF4-FFF2-40B4-BE49-F238E27FC236}">
                <a16:creationId xmlns:a16="http://schemas.microsoft.com/office/drawing/2014/main" id="{3FE7093A-0693-D386-723A-3202C568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Exercice 1</a:t>
            </a:r>
          </a:p>
          <a:p>
            <a:pPr lvl="1">
              <a:defRPr/>
            </a:pPr>
            <a:r>
              <a:rPr lang="fr-CH" dirty="0"/>
              <a:t>Afficher un compteur du nombre d’inspections</a:t>
            </a:r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r>
              <a:rPr lang="fr-CH" dirty="0"/>
              <a:t>Ajouter un bouton pour remettre à zéro le compteur </a:t>
            </a:r>
          </a:p>
          <a:p>
            <a:pPr lvl="2">
              <a:defRPr/>
            </a:pPr>
            <a:r>
              <a:rPr lang="fr-CH" dirty="0"/>
              <a:t>Directement sans event </a:t>
            </a:r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r>
              <a:rPr lang="fr-CH" dirty="0"/>
              <a:t>Remettre à zéro le compteur aussi lors du chargement du projet</a:t>
            </a:r>
          </a:p>
          <a:p>
            <a:pPr lvl="2">
              <a:defRPr/>
            </a:pPr>
            <a:r>
              <a:rPr lang="fr-CH" dirty="0"/>
              <a:t>Doit fonctionner par le bouton précédent aussi.</a:t>
            </a:r>
          </a:p>
          <a:p>
            <a:pPr marL="914400" lvl="2" indent="0">
              <a:buFont typeface="Tahoma" panose="020B0604030504040204" pitchFamily="34" charset="0"/>
              <a:buNone/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re 1">
            <a:extLst>
              <a:ext uri="{FF2B5EF4-FFF2-40B4-BE49-F238E27FC236}">
                <a16:creationId xmlns:a16="http://schemas.microsoft.com/office/drawing/2014/main" id="{0A965C55-C64A-BD70-6CDC-A96484846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sp>
        <p:nvSpPr>
          <p:cNvPr id="22531" name="Espace réservé du contenu 2">
            <a:extLst>
              <a:ext uri="{FF2B5EF4-FFF2-40B4-BE49-F238E27FC236}">
                <a16:creationId xmlns:a16="http://schemas.microsoft.com/office/drawing/2014/main" id="{33C690C2-AAAF-C8AC-C54E-46030014D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en-US"/>
              <a:t>Exercice 2</a:t>
            </a:r>
          </a:p>
          <a:p>
            <a:pPr lvl="1"/>
            <a:r>
              <a:rPr lang="fr-CH" altLang="en-US"/>
              <a:t>Sur l’exercice 1, ajouter un bouton pour voir une copie figée (dernière valeur) du compteur d’inspection lorsque l’on presse.</a:t>
            </a:r>
          </a:p>
          <a:p>
            <a:pPr lvl="1"/>
            <a:endParaRPr lang="fr-CH" altLang="en-US"/>
          </a:p>
          <a:p>
            <a:pPr lvl="2"/>
            <a:r>
              <a:rPr lang="fr-CH" altLang="en-US"/>
              <a:t>Ajouter un bouton </a:t>
            </a:r>
          </a:p>
          <a:p>
            <a:pPr lvl="2"/>
            <a:r>
              <a:rPr lang="fr-CH" altLang="en-US"/>
              <a:t>Créer un event soft</a:t>
            </a:r>
          </a:p>
          <a:p>
            <a:pPr lvl="2"/>
            <a:r>
              <a:rPr lang="fr-CH" altLang="en-US"/>
              <a:t>«Latcher» la valeur du compteur</a:t>
            </a:r>
          </a:p>
          <a:p>
            <a:pPr lvl="1"/>
            <a:endParaRPr lang="fr-CH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>
            <a:extLst>
              <a:ext uri="{FF2B5EF4-FFF2-40B4-BE49-F238E27FC236}">
                <a16:creationId xmlns:a16="http://schemas.microsoft.com/office/drawing/2014/main" id="{B4137119-AF1B-FC5E-C1D4-87E39740D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sp>
        <p:nvSpPr>
          <p:cNvPr id="23555" name="Espace réservé du contenu 2">
            <a:extLst>
              <a:ext uri="{FF2B5EF4-FFF2-40B4-BE49-F238E27FC236}">
                <a16:creationId xmlns:a16="http://schemas.microsoft.com/office/drawing/2014/main" id="{5F2808D9-48C6-10F8-1FE8-C999834C0A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en-US"/>
              <a:t>Exercice 3</a:t>
            </a:r>
          </a:p>
          <a:p>
            <a:pPr lvl="1"/>
            <a:r>
              <a:rPr lang="fr-CH" altLang="en-US"/>
              <a:t>Détection de changement (défaut) par comparaison avec la première image du lot</a:t>
            </a:r>
          </a:p>
          <a:p>
            <a:pPr lvl="1"/>
            <a:endParaRPr lang="fr-CH" altLang="en-US"/>
          </a:p>
          <a:p>
            <a:pPr lvl="2"/>
            <a:r>
              <a:rPr lang="fr-CH" altLang="en-US"/>
              <a:t>«Latcher» l’image de référence au chargement du projet </a:t>
            </a:r>
          </a:p>
          <a:p>
            <a:pPr lvl="2"/>
            <a:r>
              <a:rPr lang="fr-CH" altLang="en-US"/>
              <a:t>Différence (soustraction) entre image acquise et image de référence</a:t>
            </a:r>
          </a:p>
          <a:p>
            <a:pPr lvl="1"/>
            <a:endParaRPr lang="fr-CH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re 1">
            <a:extLst>
              <a:ext uri="{FF2B5EF4-FFF2-40B4-BE49-F238E27FC236}">
                <a16:creationId xmlns:a16="http://schemas.microsoft.com/office/drawing/2014/main" id="{B8C3C226-71FD-C134-DE1D-B5E128ABA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sp>
        <p:nvSpPr>
          <p:cNvPr id="24579" name="Espace réservé du contenu 2">
            <a:extLst>
              <a:ext uri="{FF2B5EF4-FFF2-40B4-BE49-F238E27FC236}">
                <a16:creationId xmlns:a16="http://schemas.microsoft.com/office/drawing/2014/main" id="{81C0A111-E5B7-1AC0-D8D8-094F2893F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en-US"/>
              <a:t>Exercice 4</a:t>
            </a:r>
          </a:p>
          <a:p>
            <a:pPr lvl="1"/>
            <a:r>
              <a:rPr lang="fr-CH" altLang="en-US"/>
              <a:t>Comme exercice 2, mais figer le compteur d’inspection lorsqu’on presse un poussoir sur le boîtier E/S. </a:t>
            </a:r>
          </a:p>
          <a:p>
            <a:pPr lvl="1"/>
            <a:endParaRPr lang="fr-CH" altLang="en-US"/>
          </a:p>
          <a:p>
            <a:pPr lvl="2"/>
            <a:r>
              <a:rPr lang="fr-CH" altLang="en-US"/>
              <a:t>Générer un event par ligne d’entrée discrète </a:t>
            </a:r>
          </a:p>
          <a:p>
            <a:pPr lvl="2"/>
            <a:r>
              <a:rPr lang="fr-CH" altLang="en-US"/>
              <a:t>«Latcher» la valeur du compteur sur cet event.</a:t>
            </a:r>
          </a:p>
          <a:p>
            <a:pPr lvl="1"/>
            <a:endParaRPr lang="fr-CH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re 1">
            <a:extLst>
              <a:ext uri="{FF2B5EF4-FFF2-40B4-BE49-F238E27FC236}">
                <a16:creationId xmlns:a16="http://schemas.microsoft.com/office/drawing/2014/main" id="{572722D8-1AB1-5C0C-03A1-5C6593ABB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en-US"/>
              <a:t>Events</a:t>
            </a:r>
          </a:p>
        </p:txBody>
      </p:sp>
      <p:sp>
        <p:nvSpPr>
          <p:cNvPr id="25603" name="Espace réservé du contenu 2">
            <a:extLst>
              <a:ext uri="{FF2B5EF4-FFF2-40B4-BE49-F238E27FC236}">
                <a16:creationId xmlns:a16="http://schemas.microsoft.com/office/drawing/2014/main" id="{7B38BF76-8E96-1C95-A94A-4D6AF4DFD2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en-US"/>
              <a:t>Exercice 5</a:t>
            </a:r>
          </a:p>
          <a:p>
            <a:pPr lvl="1"/>
            <a:r>
              <a:rPr lang="fr-CH" altLang="en-US"/>
              <a:t>Comme exercice 2, mais figer le compteur d’inspection lorsqu’on envoie un event par TCP/IP (commande Native </a:t>
            </a:r>
            <a:r>
              <a:rPr lang="fr-CH" altLang="en-US">
                <a:latin typeface="Courier New" panose="02070309020205020404" pitchFamily="49" charset="0"/>
                <a:cs typeface="Courier New" panose="02070309020205020404" pitchFamily="49" charset="0"/>
              </a:rPr>
              <a:t>SW*</a:t>
            </a:r>
            <a:r>
              <a:rPr lang="fr-CH" altLang="en-US"/>
              <a:t>)</a:t>
            </a:r>
          </a:p>
          <a:p>
            <a:pPr lvl="1"/>
            <a:endParaRPr lang="fr-CH" altLang="en-US"/>
          </a:p>
          <a:p>
            <a:pPr lvl="2"/>
            <a:r>
              <a:rPr lang="fr-CH" altLang="en-US"/>
              <a:t>Générer un event par TCP/IP. Vous pouvez utiliser les applications CogSendEvent.jar ou Hercules.exe</a:t>
            </a:r>
          </a:p>
          <a:p>
            <a:pPr lvl="2"/>
            <a:r>
              <a:rPr lang="fr-CH" altLang="en-US"/>
              <a:t>«Latcher» la valeur du compteur sur cet event.</a:t>
            </a:r>
          </a:p>
          <a:p>
            <a:pPr lvl="1"/>
            <a:endParaRPr lang="fr-CH" altLang="en-US"/>
          </a:p>
        </p:txBody>
      </p:sp>
      <p:graphicFrame>
        <p:nvGraphicFramePr>
          <p:cNvPr id="25604" name="Objet 1">
            <a:extLst>
              <a:ext uri="{FF2B5EF4-FFF2-40B4-BE49-F238E27FC236}">
                <a16:creationId xmlns:a16="http://schemas.microsoft.com/office/drawing/2014/main" id="{8B416C98-36F2-D77D-FB53-1785235FA9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988" y="4400550"/>
          <a:ext cx="1485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 d’environnement du Gestionnaire de liaisons" showAsIcon="1" r:id="rId2" imgW="1493949" imgH="682580" progId="Package">
                  <p:embed/>
                </p:oleObj>
              </mc:Choice>
              <mc:Fallback>
                <p:oleObj name="Objet d’environnement du Gestionnaire de liaisons" showAsIcon="1" r:id="rId2" imgW="1493949" imgH="682580" progId="Package">
                  <p:embed/>
                  <p:pic>
                    <p:nvPicPr>
                      <p:cNvPr id="0" name="Obje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4400550"/>
                        <a:ext cx="1485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 cours Insight">
  <a:themeElements>
    <a:clrScheme name="1_Masque de base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1_Masque de ba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1_Masque de base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IS01_1_Hardware-Connections</Template>
  <TotalTime>4380</TotalTime>
  <Words>808</Words>
  <Application>Microsoft Office PowerPoint</Application>
  <PresentationFormat>Affichage à l'écran (4:3)</PresentationFormat>
  <Paragraphs>151</Paragraphs>
  <Slides>19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Times</vt:lpstr>
      <vt:lpstr>Arial</vt:lpstr>
      <vt:lpstr>Tahoma</vt:lpstr>
      <vt:lpstr>Wingdings</vt:lpstr>
      <vt:lpstr>Courier New</vt:lpstr>
      <vt:lpstr>theme cours Insight</vt:lpstr>
      <vt:lpstr>Package</vt:lpstr>
      <vt:lpstr>Events</vt:lpstr>
      <vt:lpstr>Events</vt:lpstr>
      <vt:lpstr>La function Event (évènement) provoque une mise-à-jour des cellules dépendantes lors de certains évènements.  </vt:lpstr>
      <vt:lpstr>Events</vt:lpstr>
      <vt:lpstr>Events</vt:lpstr>
      <vt:lpstr>Events</vt:lpstr>
      <vt:lpstr>Events</vt:lpstr>
      <vt:lpstr>Events</vt:lpstr>
      <vt:lpstr>Events</vt:lpstr>
      <vt:lpstr>Events</vt:lpstr>
      <vt:lpstr>Boucle/Loop</vt:lpstr>
      <vt:lpstr>Events</vt:lpstr>
      <vt:lpstr>Events</vt:lpstr>
      <vt:lpstr>Exercices</vt:lpstr>
      <vt:lpstr>Events</vt:lpstr>
      <vt:lpstr>Events</vt:lpstr>
      <vt:lpstr>Events</vt:lpstr>
      <vt:lpstr>Events</vt:lpstr>
      <vt:lpstr>Events</vt:lpstr>
    </vt:vector>
  </TitlesOfParts>
  <Company>Cognex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twailly</dc:creator>
  <cp:lastModifiedBy>Lopez De Meneses Yuri</cp:lastModifiedBy>
  <cp:revision>382</cp:revision>
  <dcterms:created xsi:type="dcterms:W3CDTF">2007-01-24T19:25:14Z</dcterms:created>
  <dcterms:modified xsi:type="dcterms:W3CDTF">2023-10-05T14:00:18Z</dcterms:modified>
</cp:coreProperties>
</file>