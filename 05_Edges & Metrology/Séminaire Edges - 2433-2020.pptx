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3"/>
  </p:sldMasterIdLst>
  <p:notesMasterIdLst>
    <p:notesMasterId r:id="rId21"/>
  </p:notesMasterIdLst>
  <p:handoutMasterIdLst>
    <p:handoutMasterId r:id="rId22"/>
  </p:handoutMasterIdLst>
  <p:sldIdLst>
    <p:sldId id="282" r:id="rId4"/>
    <p:sldId id="299" r:id="rId5"/>
    <p:sldId id="300" r:id="rId6"/>
    <p:sldId id="301" r:id="rId7"/>
    <p:sldId id="305" r:id="rId8"/>
    <p:sldId id="304" r:id="rId9"/>
    <p:sldId id="311" r:id="rId10"/>
    <p:sldId id="306" r:id="rId11"/>
    <p:sldId id="307" r:id="rId12"/>
    <p:sldId id="309" r:id="rId13"/>
    <p:sldId id="310" r:id="rId14"/>
    <p:sldId id="303" r:id="rId15"/>
    <p:sldId id="312" r:id="rId16"/>
    <p:sldId id="313" r:id="rId17"/>
    <p:sldId id="314" r:id="rId18"/>
    <p:sldId id="315" r:id="rId19"/>
    <p:sldId id="316" r:id="rId2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1" autoAdjust="0"/>
  </p:normalViewPr>
  <p:slideViewPr>
    <p:cSldViewPr snapToGrid="0">
      <p:cViewPr varScale="1">
        <p:scale>
          <a:sx n="86" d="100"/>
          <a:sy n="86" d="100"/>
        </p:scale>
        <p:origin x="101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DA7D65-D244-46BA-BCEA-0D39821846A4}" type="datetime1">
              <a:rPr lang="fr-FR" smtClean="0"/>
              <a:t>29/09/2020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4FE73-6EE6-4DEA-8C8E-402F02A61240}" type="datetime1">
              <a:rPr lang="fr-FR" smtClean="0"/>
              <a:pPr/>
              <a:t>29/09/2020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27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e conten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 rtlCol="0"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e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9" name="Espace réservé d’image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e comparaison gauche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500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e comparaison gauche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2020359"/>
            <a:ext cx="4500000" cy="417089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Entrez votre légende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remerci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Merci de votre attention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 rtlCol="0"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Nom complet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Numéro de téléphone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Poignée E-mail ou Réseaux sociaux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Site web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450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1511250"/>
            <a:ext cx="4500000" cy="468000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CD4FE60C-ACE5-4516-8CB6-EEDD96DB735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u numéro de diapositive 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 userDrawn="1"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4" name="Zone de texte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fr-FR" sz="1600" b="1" spc="-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FIRST UP</a:t>
            </a:r>
            <a:br>
              <a:rPr lang="fr-FR" sz="1600" b="1" spc="-100" baseline="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</a:br>
            <a:r>
              <a:rPr lang="fr-FR" sz="1600" b="1" spc="-100" noProof="0" dirty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fr-FR" sz="1600" b="1" spc="-100" noProof="0" dirty="0">
                <a:solidFill>
                  <a:schemeClr val="tx1"/>
                </a:solidFill>
                <a:latin typeface="Corbel" panose="020B0503020204020204" pitchFamily="34" charset="0"/>
              </a:rPr>
              <a:t>CONSULTANTS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 de texte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5237731" y="4266312"/>
            <a:ext cx="2211524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fr-FR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Malo Renoux &amp; Siria Rago</a:t>
            </a:r>
          </a:p>
          <a:p>
            <a:pPr algn="r" rtl="0">
              <a:lnSpc>
                <a:spcPts val="1400"/>
              </a:lnSpc>
            </a:pPr>
            <a:r>
              <a:rPr lang="fr-FR" sz="1600" b="1" spc="-1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MIC2iho-a</a:t>
            </a:r>
            <a:endParaRPr lang="fr-FR" sz="1600" b="1" spc="-100" baseline="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92766" y="4329139"/>
            <a:ext cx="9242021" cy="1232762"/>
          </a:xfrm>
        </p:spPr>
        <p:txBody>
          <a:bodyPr lIns="0" tIns="0" bIns="108000" rtlCol="0"/>
          <a:lstStyle/>
          <a:p>
            <a:pPr rtl="0"/>
            <a:r>
              <a:rPr lang="fr-FR" sz="4000" dirty="0"/>
              <a:t> </a:t>
            </a:r>
            <a:br>
              <a:rPr lang="fr-FR" sz="4000" dirty="0"/>
            </a:br>
            <a:r>
              <a:rPr lang="fr-FR" sz="4000" dirty="0"/>
              <a:t> </a:t>
            </a:r>
            <a:r>
              <a:rPr lang="fr-FR" sz="4000" dirty="0" err="1"/>
              <a:t>Edges</a:t>
            </a:r>
            <a:endParaRPr lang="fr-FR" sz="4000" dirty="0"/>
          </a:p>
        </p:txBody>
      </p:sp>
      <p:pic>
        <p:nvPicPr>
          <p:cNvPr id="12" name="Image 11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3BC8903F-3EC7-4AD6-ACCF-EEF5E1F94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7" y="339113"/>
            <a:ext cx="3076240" cy="51527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66C0E5A-3FE3-469E-8BE1-201A98AA967A}"/>
              </a:ext>
            </a:extLst>
          </p:cNvPr>
          <p:cNvSpPr txBox="1"/>
          <p:nvPr/>
        </p:nvSpPr>
        <p:spPr>
          <a:xfrm>
            <a:off x="4387273" y="5823492"/>
            <a:ext cx="3850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/>
              <a:t>2433 Vision Industrielle présenté par </a:t>
            </a:r>
          </a:p>
          <a:p>
            <a:r>
              <a:rPr lang="fr-CH" sz="1600" dirty="0" err="1"/>
              <a:t>M.Lopez</a:t>
            </a:r>
            <a:r>
              <a:rPr lang="fr-CH" sz="1600" dirty="0"/>
              <a:t> De </a:t>
            </a:r>
            <a:r>
              <a:rPr lang="fr-CH" sz="1600" dirty="0" err="1"/>
              <a:t>Meneses</a:t>
            </a:r>
            <a:endParaRPr lang="fr-CH" sz="1600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F10F4CE-363B-49F4-B749-A78638043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717847-FA3A-4C55-8725-BB17B1FC99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75" t="16648" r="3036"/>
          <a:stretch/>
        </p:blipFill>
        <p:spPr>
          <a:xfrm rot="5400000">
            <a:off x="6786121" y="1452120"/>
            <a:ext cx="6857998" cy="395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E1172A-9092-4B66-94EA-B73DC91A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380254-4B79-4C93-BD2C-F8C25E7CA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88720"/>
            <a:ext cx="9198116" cy="5002530"/>
          </a:xfrm>
        </p:spPr>
        <p:txBody>
          <a:bodyPr/>
          <a:lstStyle/>
          <a:p>
            <a:r>
              <a:rPr lang="fr-CH" sz="2800" dirty="0"/>
              <a:t>Introduction</a:t>
            </a:r>
          </a:p>
          <a:p>
            <a:r>
              <a:rPr lang="fr-CH" sz="2800" dirty="0"/>
              <a:t>Mise en place du logiciel</a:t>
            </a:r>
          </a:p>
          <a:p>
            <a:r>
              <a:rPr lang="fr-CH" sz="2800" dirty="0"/>
              <a:t>Metrology</a:t>
            </a:r>
          </a:p>
          <a:p>
            <a:pPr lvl="1"/>
            <a:r>
              <a:rPr lang="fr-CH" sz="2000" dirty="0"/>
              <a:t>ModelFinder</a:t>
            </a:r>
          </a:p>
          <a:p>
            <a:pPr lvl="1"/>
            <a:r>
              <a:rPr lang="fr-CH" sz="2000" dirty="0"/>
              <a:t>Condition</a:t>
            </a:r>
          </a:p>
          <a:p>
            <a:pPr lvl="1"/>
            <a:r>
              <a:rPr lang="fr-CH" sz="2000" dirty="0"/>
              <a:t>Metrology</a:t>
            </a:r>
            <a:endParaRPr lang="fr-CH" sz="1800" dirty="0"/>
          </a:p>
          <a:p>
            <a:r>
              <a:rPr lang="fr-CH" sz="2800" dirty="0"/>
              <a:t>Measurement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411DC2-4C16-4EF1-B622-84E15D8FCF8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2</a:t>
            </a:fld>
            <a:endParaRPr lang="fr-FR" noProof="0" dirty="0"/>
          </a:p>
        </p:txBody>
      </p:sp>
      <p:pic>
        <p:nvPicPr>
          <p:cNvPr id="6" name="Image 5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8C76ADD1-BDCD-443A-A4ED-092A77347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FE19FB-141F-431F-AA27-7CB86A05F1E5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0972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B60F4C-41EC-4717-A939-D4A73F401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9197800" cy="4680000"/>
          </a:xfrm>
        </p:spPr>
        <p:txBody>
          <a:bodyPr/>
          <a:lstStyle/>
          <a:p>
            <a:pPr marL="0" indent="0">
              <a:buNone/>
            </a:pPr>
            <a:r>
              <a:rPr lang="fr-CH" sz="2000" dirty="0"/>
              <a:t>Via ce power point nous allons vous présenter notre séminaire sur les </a:t>
            </a:r>
            <a:r>
              <a:rPr lang="fr-CH" sz="2000" dirty="0" err="1"/>
              <a:t>Edges</a:t>
            </a:r>
            <a:r>
              <a:rPr lang="fr-CH" sz="2000" dirty="0"/>
              <a:t>, autrement dit comment se servir des outils Metrology et Measurement dans l’application Matrox design assistant </a:t>
            </a:r>
          </a:p>
          <a:p>
            <a:pPr marL="0" indent="0">
              <a:buNone/>
            </a:pPr>
            <a:endParaRPr lang="fr-CH" sz="2000" dirty="0"/>
          </a:p>
          <a:p>
            <a:pPr marL="0" indent="0">
              <a:buNone/>
            </a:pPr>
            <a:r>
              <a:rPr lang="fr-CH" sz="2000" dirty="0"/>
              <a:t>«</a:t>
            </a:r>
            <a:r>
              <a:rPr lang="fr-CH" sz="2000" dirty="0" err="1"/>
              <a:t>Edges</a:t>
            </a:r>
            <a:r>
              <a:rPr lang="fr-CH" sz="2000" dirty="0"/>
              <a:t>» en français «Bords», est une fonctionnalité qui permet la détection des bords lors de l’analyse visuelle d’éléments</a:t>
            </a:r>
          </a:p>
          <a:p>
            <a:pPr marL="0" indent="0">
              <a:buNone/>
            </a:pPr>
            <a:endParaRPr lang="fr-CH" sz="2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3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8117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Mise en place du Logiciel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CH" dirty="0"/>
              <a:t>Les étapes pour démarrer le projet</a:t>
            </a:r>
          </a:p>
        </p:txBody>
      </p:sp>
      <p:pic>
        <p:nvPicPr>
          <p:cNvPr id="10" name="Espace réservé du contenu 9" descr="Une image contenant capture d’écran, intérieur, moniteur, ordinateur&#10;&#10;Description générée automatiquement">
            <a:extLst>
              <a:ext uri="{FF2B5EF4-FFF2-40B4-BE49-F238E27FC236}">
                <a16:creationId xmlns:a16="http://schemas.microsoft.com/office/drawing/2014/main" id="{90F7C13E-7139-49FC-9F82-73B3518C7C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2" r="59870" b="52435"/>
          <a:stretch/>
        </p:blipFill>
        <p:spPr>
          <a:xfrm>
            <a:off x="301644" y="1589693"/>
            <a:ext cx="4212005" cy="2515225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4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2" name="Image 11" descr="Une image contenant capture d’écran, intérieur, ordinateur, moniteur&#10;&#10;Description générée automatiquement">
            <a:extLst>
              <a:ext uri="{FF2B5EF4-FFF2-40B4-BE49-F238E27FC236}">
                <a16:creationId xmlns:a16="http://schemas.microsoft.com/office/drawing/2014/main" id="{B3404F4A-BC88-4705-A8E0-65C99479B0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" t="6299" r="28751" b="29334"/>
          <a:stretch/>
        </p:blipFill>
        <p:spPr>
          <a:xfrm>
            <a:off x="4752381" y="1589693"/>
            <a:ext cx="7137975" cy="367861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296A07F-D0F6-4684-9BF1-635DD332B211}"/>
              </a:ext>
            </a:extLst>
          </p:cNvPr>
          <p:cNvSpPr txBox="1"/>
          <p:nvPr/>
        </p:nvSpPr>
        <p:spPr>
          <a:xfrm>
            <a:off x="301643" y="4368946"/>
            <a:ext cx="4212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La première chose qu’il faut faire lors de la connexion à Matrox c’est se connecter en local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E34C83B-E89C-42DE-A15D-CE2788C3E995}"/>
              </a:ext>
            </a:extLst>
          </p:cNvPr>
          <p:cNvSpPr txBox="1"/>
          <p:nvPr/>
        </p:nvSpPr>
        <p:spPr>
          <a:xfrm>
            <a:off x="4752381" y="5430560"/>
            <a:ext cx="5161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Puis on sélectionne nouveau projet que l’on renomme Attention à spécifier que les photos viennent du disque et non pas d’une caméra</a:t>
            </a:r>
          </a:p>
        </p:txBody>
      </p:sp>
    </p:spTree>
    <p:extLst>
      <p:ext uri="{BB962C8B-B14F-4D97-AF65-F5344CB8AC3E}">
        <p14:creationId xmlns:p14="http://schemas.microsoft.com/office/powerpoint/2010/main" val="3195152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Mise en place du Logiciel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CH" dirty="0"/>
              <a:t>Les étapes pour démarrer le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5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4" name="Image 13" descr="Une image contenant capture d’écran, ordinateur, portable, camion&#10;&#10;Description générée automatiquement">
            <a:extLst>
              <a:ext uri="{FF2B5EF4-FFF2-40B4-BE49-F238E27FC236}">
                <a16:creationId xmlns:a16="http://schemas.microsoft.com/office/drawing/2014/main" id="{F03A8284-FA37-41C6-8AB0-5F99D873B2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6" r="63091" b="47132"/>
          <a:stretch/>
        </p:blipFill>
        <p:spPr>
          <a:xfrm>
            <a:off x="431800" y="1623531"/>
            <a:ext cx="3684128" cy="2642844"/>
          </a:xfrm>
          <a:prstGeom prst="rect">
            <a:avLst/>
          </a:prstGeom>
        </p:spPr>
      </p:pic>
      <p:pic>
        <p:nvPicPr>
          <p:cNvPr id="16" name="Image 15" descr="Une image contenant capture d’écran, intérieur, ordinateur, portable&#10;&#10;Description générée automatiquement">
            <a:extLst>
              <a:ext uri="{FF2B5EF4-FFF2-40B4-BE49-F238E27FC236}">
                <a16:creationId xmlns:a16="http://schemas.microsoft.com/office/drawing/2014/main" id="{71633EC5-EC23-44A3-BA44-24B4639FAA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4" t="14582" r="17105" b="19030"/>
          <a:stretch/>
        </p:blipFill>
        <p:spPr>
          <a:xfrm>
            <a:off x="4768039" y="1623531"/>
            <a:ext cx="6957881" cy="394994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C297A4F-C2D5-4FAD-9511-F933E436E1B1}"/>
              </a:ext>
            </a:extLst>
          </p:cNvPr>
          <p:cNvSpPr txBox="1"/>
          <p:nvPr/>
        </p:nvSpPr>
        <p:spPr>
          <a:xfrm>
            <a:off x="431800" y="4521906"/>
            <a:ext cx="368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Nous allons ensuite ajouter un dossier d’image afin de commencer les manipulations</a:t>
            </a:r>
          </a:p>
        </p:txBody>
      </p:sp>
    </p:spTree>
    <p:extLst>
      <p:ext uri="{BB962C8B-B14F-4D97-AF65-F5344CB8AC3E}">
        <p14:creationId xmlns:p14="http://schemas.microsoft.com/office/powerpoint/2010/main" val="286498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3363" y="838715"/>
            <a:ext cx="9198000" cy="360000"/>
          </a:xfrm>
        </p:spPr>
        <p:txBody>
          <a:bodyPr/>
          <a:lstStyle/>
          <a:p>
            <a:r>
              <a:rPr lang="fr-CH" dirty="0"/>
              <a:t>ModelFinder</a:t>
            </a:r>
          </a:p>
        </p:txBody>
      </p:sp>
      <p:pic>
        <p:nvPicPr>
          <p:cNvPr id="10" name="Espace réservé du contenu 9" descr="Une image contenant capture d’écran, ordinateur, portable, moniteur&#10;&#10;Description générée automatiquement">
            <a:extLst>
              <a:ext uri="{FF2B5EF4-FFF2-40B4-BE49-F238E27FC236}">
                <a16:creationId xmlns:a16="http://schemas.microsoft.com/office/drawing/2014/main" id="{E37D46A5-BB1B-40A5-AB60-6CC4EA30C8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3" t="16424" r="30541" b="22188"/>
          <a:stretch/>
        </p:blipFill>
        <p:spPr>
          <a:xfrm>
            <a:off x="431800" y="1270715"/>
            <a:ext cx="3025274" cy="2682332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9A0F92-14EB-4790-9954-AC3EE8B296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800" y="4246848"/>
            <a:ext cx="3445868" cy="665636"/>
          </a:xfrm>
        </p:spPr>
        <p:txBody>
          <a:bodyPr/>
          <a:lstStyle/>
          <a:p>
            <a:pPr marL="0" indent="0">
              <a:buNone/>
            </a:pPr>
            <a:r>
              <a:rPr lang="fr-CH" dirty="0"/>
              <a:t>Puis on ajoute une première étape «ModelFinder» qui consiste à détecter notre forme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6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6" name="Image 15" descr="Une image contenant capture d’écran, intérieur, ordinateur, noir&#10;&#10;Description générée automatiquement">
            <a:extLst>
              <a:ext uri="{FF2B5EF4-FFF2-40B4-BE49-F238E27FC236}">
                <a16:creationId xmlns:a16="http://schemas.microsoft.com/office/drawing/2014/main" id="{61544DD5-5B5A-4B75-A822-8A2C20B84A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5029" r="53421" b="53918"/>
          <a:stretch/>
        </p:blipFill>
        <p:spPr>
          <a:xfrm>
            <a:off x="4086218" y="1270715"/>
            <a:ext cx="5420399" cy="278152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4ADFD34-C5B5-4409-BA70-AE2290EA29C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223" t="71930" r="55198" b="6653"/>
          <a:stretch/>
        </p:blipFill>
        <p:spPr>
          <a:xfrm>
            <a:off x="4086218" y="4443422"/>
            <a:ext cx="1905508" cy="1982578"/>
          </a:xfrm>
          <a:prstGeom prst="rect">
            <a:avLst/>
          </a:prstGeom>
        </p:spPr>
      </p:pic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7DFA6FB1-A84E-4B5C-9B30-7C7C70F5AA3F}"/>
              </a:ext>
            </a:extLst>
          </p:cNvPr>
          <p:cNvSpPr txBox="1">
            <a:spLocks/>
          </p:cNvSpPr>
          <p:nvPr/>
        </p:nvSpPr>
        <p:spPr>
          <a:xfrm>
            <a:off x="6200276" y="4450457"/>
            <a:ext cx="3306341" cy="6656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dirty="0"/>
              <a:t>Les bords bleus apparaissent l’étape est validée et on peut donc passer à la suite 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9A5BD041-B79F-4956-BA81-CADA6B436C10}"/>
              </a:ext>
            </a:extLst>
          </p:cNvPr>
          <p:cNvSpPr txBox="1">
            <a:spLocks/>
          </p:cNvSpPr>
          <p:nvPr/>
        </p:nvSpPr>
        <p:spPr>
          <a:xfrm>
            <a:off x="431800" y="5511086"/>
            <a:ext cx="3445868" cy="6656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Il faut définir un rectangle, il peut être plus petit que la pièce ça ne pose pas de problème pour la suite</a:t>
            </a:r>
          </a:p>
        </p:txBody>
      </p:sp>
    </p:spTree>
    <p:extLst>
      <p:ext uri="{BB962C8B-B14F-4D97-AF65-F5344CB8AC3E}">
        <p14:creationId xmlns:p14="http://schemas.microsoft.com/office/powerpoint/2010/main" val="127922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3363" y="838715"/>
            <a:ext cx="9198000" cy="360000"/>
          </a:xfrm>
        </p:spPr>
        <p:txBody>
          <a:bodyPr/>
          <a:lstStyle/>
          <a:p>
            <a:r>
              <a:rPr lang="fr-CH" dirty="0"/>
              <a:t>ModelFinder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7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11C6237-61F0-4387-9473-E68BF1AE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1" y="1279552"/>
            <a:ext cx="4005264" cy="21224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52E50C3-E4CE-43F1-92A8-99461D05B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31" y="1605430"/>
            <a:ext cx="1983958" cy="99746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900A2BA-AB8A-4420-BE5E-68606CA85CB4}"/>
              </a:ext>
            </a:extLst>
          </p:cNvPr>
          <p:cNvSpPr txBox="1"/>
          <p:nvPr/>
        </p:nvSpPr>
        <p:spPr>
          <a:xfrm>
            <a:off x="2376862" y="1605430"/>
            <a:ext cx="7473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Attention a bien ajouté une condition dans le ModelFinder, si par la suite on a un problème il sera plus simple de savoir si cette condition a été respectée ou non.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D8F21F0A-8166-4554-BBBF-D2189C9975AB}"/>
              </a:ext>
            </a:extLst>
          </p:cNvPr>
          <p:cNvSpPr/>
          <p:nvPr/>
        </p:nvSpPr>
        <p:spPr>
          <a:xfrm rot="10800000">
            <a:off x="713873" y="2606843"/>
            <a:ext cx="192505" cy="3689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0725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000" y="864000"/>
            <a:ext cx="9198000" cy="360000"/>
          </a:xfrm>
        </p:spPr>
        <p:txBody>
          <a:bodyPr/>
          <a:lstStyle/>
          <a:p>
            <a:r>
              <a:rPr lang="fr-CH" dirty="0"/>
              <a:t>Condition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8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2" name="Image 11" descr="Une image contenant capture d’écran, intérieur, ordinateur, moniteur&#10;&#10;Description générée automatiquement">
            <a:extLst>
              <a:ext uri="{FF2B5EF4-FFF2-40B4-BE49-F238E27FC236}">
                <a16:creationId xmlns:a16="http://schemas.microsoft.com/office/drawing/2014/main" id="{74CA8AC4-CE91-46F4-8DBF-B9AF41EF52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9" t="16743" r="35820" b="22097"/>
          <a:stretch/>
        </p:blipFill>
        <p:spPr>
          <a:xfrm>
            <a:off x="432000" y="1167474"/>
            <a:ext cx="2918420" cy="2997001"/>
          </a:xfrm>
          <a:prstGeom prst="rect">
            <a:avLst/>
          </a:prstGeom>
        </p:spPr>
      </p:pic>
      <p:pic>
        <p:nvPicPr>
          <p:cNvPr id="17" name="Image 16" descr="Une image contenant capture d’écran, ordinateur, moniteur, camion&#10;&#10;Description générée automatiquement">
            <a:extLst>
              <a:ext uri="{FF2B5EF4-FFF2-40B4-BE49-F238E27FC236}">
                <a16:creationId xmlns:a16="http://schemas.microsoft.com/office/drawing/2014/main" id="{6541A8ED-5B47-4EEF-A328-0D4F66691F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" t="50000" r="52829" b="6299"/>
          <a:stretch/>
        </p:blipFill>
        <p:spPr>
          <a:xfrm>
            <a:off x="4055367" y="1167474"/>
            <a:ext cx="5574633" cy="29970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A727958-2DA6-4083-931B-DFD7422BDF0D}"/>
              </a:ext>
            </a:extLst>
          </p:cNvPr>
          <p:cNvSpPr txBox="1"/>
          <p:nvPr/>
        </p:nvSpPr>
        <p:spPr>
          <a:xfrm>
            <a:off x="432000" y="4277614"/>
            <a:ext cx="9337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On ajoute ensuite une nouvelle étape «Condition» qui permet de fixer certains paramètres notamment le nombre de pièces que l’on veut au minimum/maximum dans l’image pour faire les mesures.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A98ADEA-3957-4B71-AEA8-85D197A9B55E}"/>
              </a:ext>
            </a:extLst>
          </p:cNvPr>
          <p:cNvSpPr txBox="1"/>
          <p:nvPr/>
        </p:nvSpPr>
        <p:spPr>
          <a:xfrm>
            <a:off x="432000" y="5469493"/>
            <a:ext cx="9035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C’est dans «</a:t>
            </a:r>
            <a:r>
              <a:rPr lang="fr-CH" dirty="0" err="1"/>
              <a:t>Modelfinder</a:t>
            </a:r>
            <a:r>
              <a:rPr lang="fr-CH" dirty="0"/>
              <a:t>» que l’on trouve «</a:t>
            </a:r>
            <a:r>
              <a:rPr lang="fr-CH" dirty="0" err="1"/>
              <a:t>TotalNumberFound</a:t>
            </a:r>
            <a:r>
              <a:rPr lang="fr-CH" dirty="0"/>
              <a:t>» qui permet de limiter strictement à 1 le nombre de pièces sur notre image pour qu’elle soit validée. </a:t>
            </a:r>
          </a:p>
        </p:txBody>
      </p:sp>
    </p:spTree>
    <p:extLst>
      <p:ext uri="{BB962C8B-B14F-4D97-AF65-F5344CB8AC3E}">
        <p14:creationId xmlns:p14="http://schemas.microsoft.com/office/powerpoint/2010/main" val="344971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000" y="860668"/>
            <a:ext cx="9198000" cy="360000"/>
          </a:xfrm>
        </p:spPr>
        <p:txBody>
          <a:bodyPr/>
          <a:lstStyle/>
          <a:p>
            <a:r>
              <a:rPr lang="fr-CH" dirty="0"/>
              <a:t>Metrology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9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3" name="Image 12" descr="Une image contenant capture d’écran, ordinateur, moniteur, portable&#10;&#10;Description générée automatiquement">
            <a:extLst>
              <a:ext uri="{FF2B5EF4-FFF2-40B4-BE49-F238E27FC236}">
                <a16:creationId xmlns:a16="http://schemas.microsoft.com/office/drawing/2014/main" id="{DCD262E3-2685-4BB3-A1BB-4FDCC7EE8E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3" t="16505" r="30675" b="22223"/>
          <a:stretch/>
        </p:blipFill>
        <p:spPr>
          <a:xfrm>
            <a:off x="432000" y="1192468"/>
            <a:ext cx="2816526" cy="2514161"/>
          </a:xfrm>
          <a:prstGeom prst="rect">
            <a:avLst/>
          </a:prstGeom>
        </p:spPr>
      </p:pic>
      <p:pic>
        <p:nvPicPr>
          <p:cNvPr id="5" name="Image 4" descr="Une image contenant capture d’écran, intérieur, ordinateur, moniteur&#10;&#10;Description générée automatiquement">
            <a:extLst>
              <a:ext uri="{FF2B5EF4-FFF2-40B4-BE49-F238E27FC236}">
                <a16:creationId xmlns:a16="http://schemas.microsoft.com/office/drawing/2014/main" id="{90649AE3-1FFB-48D6-AD36-C60F4138A6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" t="58014" r="76288" b="5992"/>
          <a:stretch/>
        </p:blipFill>
        <p:spPr>
          <a:xfrm>
            <a:off x="3348144" y="1208510"/>
            <a:ext cx="2015033" cy="184337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818508D-85F4-493F-BF72-BA8A9736A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009" y="1649336"/>
            <a:ext cx="4298907" cy="1150637"/>
          </a:xfrm>
          <a:prstGeom prst="rect">
            <a:avLst/>
          </a:prstGeom>
        </p:spPr>
      </p:pic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E39FAEE6-0863-43C8-9E8D-368FCA9D4C8F}"/>
              </a:ext>
            </a:extLst>
          </p:cNvPr>
          <p:cNvSpPr/>
          <p:nvPr/>
        </p:nvSpPr>
        <p:spPr>
          <a:xfrm rot="10800000">
            <a:off x="8333873" y="1912957"/>
            <a:ext cx="288758" cy="1842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7068F8C1-F96A-4207-B1DC-1863303B686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578"/>
          <a:stretch/>
        </p:blipFill>
        <p:spPr>
          <a:xfrm>
            <a:off x="5575009" y="833883"/>
            <a:ext cx="4298907" cy="592198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7A9B56C-C4C5-42D8-9AD9-B8B9BE0F7297}"/>
              </a:ext>
            </a:extLst>
          </p:cNvPr>
          <p:cNvCxnSpPr/>
          <p:nvPr/>
        </p:nvCxnSpPr>
        <p:spPr>
          <a:xfrm flipV="1">
            <a:off x="4676274" y="1315453"/>
            <a:ext cx="1692442" cy="333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859D800-863E-4ACD-9BC0-051A42EF8CE3}"/>
              </a:ext>
            </a:extLst>
          </p:cNvPr>
          <p:cNvCxnSpPr>
            <a:cxnSpLocks/>
          </p:cNvCxnSpPr>
          <p:nvPr/>
        </p:nvCxnSpPr>
        <p:spPr>
          <a:xfrm flipV="1">
            <a:off x="5350957" y="2077762"/>
            <a:ext cx="295864" cy="87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4D1F43A0-2FE7-4E67-ADE4-30201E1594A5}"/>
              </a:ext>
            </a:extLst>
          </p:cNvPr>
          <p:cNvSpPr txBox="1"/>
          <p:nvPr/>
        </p:nvSpPr>
        <p:spPr>
          <a:xfrm>
            <a:off x="425751" y="3801414"/>
            <a:ext cx="94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est important de définir dans Output </a:t>
            </a:r>
            <a:r>
              <a:rPr lang="fr-CH" dirty="0" err="1"/>
              <a:t>coordinates</a:t>
            </a:r>
            <a:r>
              <a:rPr lang="fr-CH" dirty="0"/>
              <a:t> et dans le </a:t>
            </a:r>
            <a:r>
              <a:rPr lang="fr-CH" dirty="0" err="1"/>
              <a:t>GlobalFrame</a:t>
            </a:r>
            <a:r>
              <a:rPr lang="fr-CH" dirty="0"/>
              <a:t> les coordonnées, cela permet peu importe l’orientation de la pièce d’avoir les mêmes que celle du ModelFinder </a:t>
            </a:r>
          </a:p>
        </p:txBody>
      </p:sp>
      <p:pic>
        <p:nvPicPr>
          <p:cNvPr id="32" name="Image 31" descr="Une image contenant capture d’écran, ordinateur, camion, moniteur&#10;&#10;Description générée automatiquement">
            <a:extLst>
              <a:ext uri="{FF2B5EF4-FFF2-40B4-BE49-F238E27FC236}">
                <a16:creationId xmlns:a16="http://schemas.microsoft.com/office/drawing/2014/main" id="{465B5553-D299-4C6D-B8D2-0C9DFEEA3E5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" t="52979" r="73026" b="14095"/>
          <a:stretch/>
        </p:blipFill>
        <p:spPr>
          <a:xfrm>
            <a:off x="425751" y="4619903"/>
            <a:ext cx="2719137" cy="1990975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00F4EC5D-0B52-4A5E-B852-1D7869823B7C}"/>
              </a:ext>
            </a:extLst>
          </p:cNvPr>
          <p:cNvSpPr txBox="1"/>
          <p:nvPr/>
        </p:nvSpPr>
        <p:spPr>
          <a:xfrm>
            <a:off x="3184994" y="4586750"/>
            <a:ext cx="660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A présent il est possible d’ajouter les formes que l’on voudra mesurer </a:t>
            </a:r>
          </a:p>
        </p:txBody>
      </p:sp>
      <p:pic>
        <p:nvPicPr>
          <p:cNvPr id="34" name="Image 33" descr="Une image contenant capture d’écran, ordinateur, camion, moniteur&#10;&#10;Description générée automatiquement">
            <a:extLst>
              <a:ext uri="{FF2B5EF4-FFF2-40B4-BE49-F238E27FC236}">
                <a16:creationId xmlns:a16="http://schemas.microsoft.com/office/drawing/2014/main" id="{273A9F66-23CD-4696-AAC4-C1FF93B0181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" t="53044" r="52369" b="20018"/>
          <a:stretch/>
        </p:blipFill>
        <p:spPr>
          <a:xfrm>
            <a:off x="4120044" y="5034638"/>
            <a:ext cx="4733054" cy="15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36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000" y="832431"/>
            <a:ext cx="9198000" cy="360000"/>
          </a:xfrm>
        </p:spPr>
        <p:txBody>
          <a:bodyPr/>
          <a:lstStyle/>
          <a:p>
            <a:r>
              <a:rPr lang="fr-CH" dirty="0"/>
              <a:t>Metrology – le </a:t>
            </a:r>
            <a:r>
              <a:rPr lang="fr-CH" dirty="0" err="1"/>
              <a:t>segement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10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6" name="Image 15" descr="Une image contenant capture d’écran, ordinateur, intérieur, camion&#10;&#10;Description générée automatiquement">
            <a:extLst>
              <a:ext uri="{FF2B5EF4-FFF2-40B4-BE49-F238E27FC236}">
                <a16:creationId xmlns:a16="http://schemas.microsoft.com/office/drawing/2014/main" id="{5D7F3F04-B0A1-49B7-9171-A4BCA5C491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" t="52416" r="52422" b="31969"/>
          <a:stretch/>
        </p:blipFill>
        <p:spPr>
          <a:xfrm>
            <a:off x="4182277" y="3083445"/>
            <a:ext cx="5447723" cy="1052247"/>
          </a:xfrm>
          <a:prstGeom prst="rect">
            <a:avLst/>
          </a:prstGeom>
        </p:spPr>
      </p:pic>
      <p:pic>
        <p:nvPicPr>
          <p:cNvPr id="17" name="Image 16" descr="Une image contenant capture d’écran, ordinateur, intérieur, camion&#10;&#10;Description générée automatiquement">
            <a:extLst>
              <a:ext uri="{FF2B5EF4-FFF2-40B4-BE49-F238E27FC236}">
                <a16:creationId xmlns:a16="http://schemas.microsoft.com/office/drawing/2014/main" id="{95301D62-194D-4A09-BD84-EE06963D9B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5" t="11892" r="37631" b="53374"/>
          <a:stretch/>
        </p:blipFill>
        <p:spPr>
          <a:xfrm>
            <a:off x="369876" y="1192431"/>
            <a:ext cx="3664714" cy="189101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4D41926B-382E-4721-AA4D-D48ED5CF2DAE}"/>
              </a:ext>
            </a:extLst>
          </p:cNvPr>
          <p:cNvSpPr txBox="1"/>
          <p:nvPr/>
        </p:nvSpPr>
        <p:spPr>
          <a:xfrm>
            <a:off x="4103384" y="1311642"/>
            <a:ext cx="56522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Nous allons commencer par un segment, après avoir sélectionné comme indiqué dans la diapositive précédente «Segment» dans le </a:t>
            </a:r>
            <a:r>
              <a:rPr lang="fr-CH" dirty="0" err="1"/>
              <a:t>GlobalFrame</a:t>
            </a:r>
            <a:r>
              <a:rPr lang="fr-CH" dirty="0"/>
              <a:t>, nous allons ajuster avec la souris le rectangle bleu clair pour faire apparaitre le segment souhaité à l’endroit souhaité</a:t>
            </a:r>
          </a:p>
          <a:p>
            <a:r>
              <a:rPr lang="fr-CH" dirty="0"/>
              <a:t> 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6E8F7BF-EE5D-4A64-ABC8-D31A364E2F1A}"/>
              </a:ext>
            </a:extLst>
          </p:cNvPr>
          <p:cNvSpPr txBox="1"/>
          <p:nvPr/>
        </p:nvSpPr>
        <p:spPr>
          <a:xfrm>
            <a:off x="369876" y="3239590"/>
            <a:ext cx="3835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Puis il est important de choisir dans </a:t>
            </a:r>
            <a:r>
              <a:rPr lang="fr-CH" dirty="0" err="1"/>
              <a:t>Polarity</a:t>
            </a:r>
            <a:r>
              <a:rPr lang="fr-CH" dirty="0"/>
              <a:t> «</a:t>
            </a:r>
            <a:r>
              <a:rPr lang="fr-CH" dirty="0" err="1"/>
              <a:t>BrightToDark</a:t>
            </a:r>
            <a:r>
              <a:rPr lang="fr-CH" dirty="0"/>
              <a:t>» car notre pièce est noire sur un fond blanc </a:t>
            </a:r>
          </a:p>
        </p:txBody>
      </p:sp>
      <p:pic>
        <p:nvPicPr>
          <p:cNvPr id="23" name="Image 22" descr="Une image contenant capture d’écran, intérieur, ordinateur, moniteur&#10;&#10;Description générée automatiquement">
            <a:extLst>
              <a:ext uri="{FF2B5EF4-FFF2-40B4-BE49-F238E27FC236}">
                <a16:creationId xmlns:a16="http://schemas.microsoft.com/office/drawing/2014/main" id="{38C9A53C-E074-4135-9CAF-3D2232A80D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5" t="55620" r="50658" b="13925"/>
          <a:stretch/>
        </p:blipFill>
        <p:spPr>
          <a:xfrm>
            <a:off x="432000" y="4319065"/>
            <a:ext cx="2518810" cy="1781022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32BBBA01-1DBB-44A6-BF6E-61E0260C8723}"/>
              </a:ext>
            </a:extLst>
          </p:cNvPr>
          <p:cNvSpPr txBox="1"/>
          <p:nvPr/>
        </p:nvSpPr>
        <p:spPr>
          <a:xfrm>
            <a:off x="3438155" y="4650723"/>
            <a:ext cx="64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On retourne dans l’onglet Metrology sous «</a:t>
            </a:r>
            <a:r>
              <a:rPr lang="fr-CH" dirty="0" err="1"/>
              <a:t>Tolerance</a:t>
            </a:r>
            <a:r>
              <a:rPr lang="fr-CH" dirty="0"/>
              <a:t>» et nous allons choisir ce que l’on souhaite mesurer</a:t>
            </a:r>
          </a:p>
        </p:txBody>
      </p:sp>
      <p:pic>
        <p:nvPicPr>
          <p:cNvPr id="9" name="Graphique 8" descr="Avertissement">
            <a:extLst>
              <a:ext uri="{FF2B5EF4-FFF2-40B4-BE49-F238E27FC236}">
                <a16:creationId xmlns:a16="http://schemas.microsoft.com/office/drawing/2014/main" id="{D3B2B95F-CFDA-4E58-BEEF-C1EAA5088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8936" y="6085362"/>
            <a:ext cx="249434" cy="24943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72E60F7-B641-4F85-B4F0-5B870D1DFD4E}"/>
              </a:ext>
            </a:extLst>
          </p:cNvPr>
          <p:cNvSpPr txBox="1"/>
          <p:nvPr/>
        </p:nvSpPr>
        <p:spPr>
          <a:xfrm>
            <a:off x="3438156" y="5784857"/>
            <a:ext cx="6437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Lorsque vous définissez la taille du rectangle bleu pour le segment il est possible que s’il dépasse les bords de l’image cela crée un bug par la suite.</a:t>
            </a:r>
          </a:p>
          <a:p>
            <a:r>
              <a:rPr lang="fr-CH" sz="1400" dirty="0"/>
              <a:t>De plus la partie choisie n’est pas idéale pour la démonstration d’un segment étant donné qu’elle a les bouts arrondis.</a:t>
            </a:r>
          </a:p>
        </p:txBody>
      </p:sp>
    </p:spTree>
    <p:extLst>
      <p:ext uri="{BB962C8B-B14F-4D97-AF65-F5344CB8AC3E}">
        <p14:creationId xmlns:p14="http://schemas.microsoft.com/office/powerpoint/2010/main" val="1665180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864000"/>
            <a:ext cx="9198000" cy="360000"/>
          </a:xfrm>
        </p:spPr>
        <p:txBody>
          <a:bodyPr/>
          <a:lstStyle/>
          <a:p>
            <a:r>
              <a:rPr lang="fr-CH" dirty="0"/>
              <a:t>Metrology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11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3" name="Image 12" descr="Une image contenant capture d’écran, ordinateur, camion, noir&#10;&#10;Description générée automatiquement">
            <a:extLst>
              <a:ext uri="{FF2B5EF4-FFF2-40B4-BE49-F238E27FC236}">
                <a16:creationId xmlns:a16="http://schemas.microsoft.com/office/drawing/2014/main" id="{B595D670-CBAB-4B6E-BE69-404256F2AD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" t="50000" r="52500" b="6140"/>
          <a:stretch/>
        </p:blipFill>
        <p:spPr>
          <a:xfrm>
            <a:off x="431600" y="1224000"/>
            <a:ext cx="4804609" cy="2577581"/>
          </a:xfrm>
          <a:prstGeom prst="rect">
            <a:avLst/>
          </a:prstGeom>
        </p:spPr>
      </p:pic>
      <p:pic>
        <p:nvPicPr>
          <p:cNvPr id="18" name="Image 17" descr="Une image contenant capture d’écran, ordinateur, intérieur, portable&#10;&#10;Description générée automatiquement">
            <a:extLst>
              <a:ext uri="{FF2B5EF4-FFF2-40B4-BE49-F238E27FC236}">
                <a16:creationId xmlns:a16="http://schemas.microsoft.com/office/drawing/2014/main" id="{3D11EEFC-3053-4D9B-980A-5E0D54A053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" t="50280" r="52435" b="28258"/>
          <a:stretch/>
        </p:blipFill>
        <p:spPr>
          <a:xfrm>
            <a:off x="431800" y="4087365"/>
            <a:ext cx="5606716" cy="147186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CA6EF83-031A-442D-A2EF-7E9487CD18B5}"/>
              </a:ext>
            </a:extLst>
          </p:cNvPr>
          <p:cNvSpPr txBox="1"/>
          <p:nvPr/>
        </p:nvSpPr>
        <p:spPr>
          <a:xfrm>
            <a:off x="6153486" y="4247786"/>
            <a:ext cx="3768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nous est demandé ensuite de rentrer des tolérances pour définir si notre longueur est acceptée ou non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F895CC2-F127-4C1D-93DF-EC18B3D2EE69}"/>
              </a:ext>
            </a:extLst>
          </p:cNvPr>
          <p:cNvSpPr txBox="1"/>
          <p:nvPr/>
        </p:nvSpPr>
        <p:spPr>
          <a:xfrm>
            <a:off x="5321194" y="2172527"/>
            <a:ext cx="4506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On choisi de mesurer la longueur du segment</a:t>
            </a:r>
          </a:p>
        </p:txBody>
      </p:sp>
    </p:spTree>
    <p:extLst>
      <p:ext uri="{BB962C8B-B14F-4D97-AF65-F5344CB8AC3E}">
        <p14:creationId xmlns:p14="http://schemas.microsoft.com/office/powerpoint/2010/main" val="242381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B60F4C-41EC-4717-A939-D4A73F401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9197800" cy="360000"/>
          </a:xfrm>
        </p:spPr>
        <p:txBody>
          <a:bodyPr/>
          <a:lstStyle/>
          <a:p>
            <a:pPr marL="0" indent="0">
              <a:buNone/>
            </a:pPr>
            <a:r>
              <a:rPr lang="fr-CH" dirty="0"/>
              <a:t>Puis on ajoute un cercle, la méthode est très similaire que celle pour le segment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12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3C5262F-4908-4B6B-BA06-2EBF92445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880137"/>
            <a:ext cx="4817096" cy="432000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E3917675-0630-42A5-90C7-4F72E8C4AE8A}"/>
              </a:ext>
            </a:extLst>
          </p:cNvPr>
          <p:cNvSpPr/>
          <p:nvPr/>
        </p:nvSpPr>
        <p:spPr>
          <a:xfrm rot="10800000">
            <a:off x="1435768" y="2087547"/>
            <a:ext cx="360947" cy="2245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D379EEC-AA65-4F4E-98C3-10700457B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18" y="2691657"/>
            <a:ext cx="2166698" cy="153228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6CA1938-621C-47B6-AC89-541F13062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548" y="2624084"/>
            <a:ext cx="4520876" cy="63618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1B3FA03-3164-4D61-B9BD-C08B4CFE09BE}"/>
              </a:ext>
            </a:extLst>
          </p:cNvPr>
          <p:cNvSpPr txBox="1"/>
          <p:nvPr/>
        </p:nvSpPr>
        <p:spPr>
          <a:xfrm>
            <a:off x="2595039" y="3300607"/>
            <a:ext cx="700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faut à nouveau sélectionner dans </a:t>
            </a:r>
            <a:r>
              <a:rPr lang="fr-CH" dirty="0" err="1"/>
              <a:t>Polarity</a:t>
            </a:r>
            <a:r>
              <a:rPr lang="fr-CH" dirty="0"/>
              <a:t> «</a:t>
            </a:r>
            <a:r>
              <a:rPr lang="fr-CH" dirty="0" err="1"/>
              <a:t>BrightToDark</a:t>
            </a:r>
            <a:r>
              <a:rPr lang="fr-CH" dirty="0"/>
              <a:t>» et positionner le cercle que l’on souhaite mesurer entre les deux cercles bleus à l’aide de la souris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C6FA5F5-F557-4667-8B3D-ABC011979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18" y="4357471"/>
            <a:ext cx="5987848" cy="206852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29F1574-D3A0-40BF-88E1-0D04E91184B2}"/>
              </a:ext>
            </a:extLst>
          </p:cNvPr>
          <p:cNvSpPr txBox="1"/>
          <p:nvPr/>
        </p:nvSpPr>
        <p:spPr>
          <a:xfrm>
            <a:off x="6340266" y="4843941"/>
            <a:ext cx="350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On sélectionne dans Tolérance un «Radius» qui permet de trouver le rayon du cercle 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7CB9613-80C5-4C3F-B4BB-DDAFDE773DE6}"/>
              </a:ext>
            </a:extLst>
          </p:cNvPr>
          <p:cNvSpPr/>
          <p:nvPr/>
        </p:nvSpPr>
        <p:spPr>
          <a:xfrm rot="10800000">
            <a:off x="4283242" y="2619838"/>
            <a:ext cx="360947" cy="2245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0CA0993E-FEC9-444E-8E7A-637B71C7FE09}"/>
              </a:ext>
            </a:extLst>
          </p:cNvPr>
          <p:cNvSpPr/>
          <p:nvPr/>
        </p:nvSpPr>
        <p:spPr>
          <a:xfrm rot="10800000">
            <a:off x="954505" y="5955341"/>
            <a:ext cx="360947" cy="2245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F77A43AE-E39C-418C-B455-5D10C5DC33CC}"/>
              </a:ext>
            </a:extLst>
          </p:cNvPr>
          <p:cNvSpPr/>
          <p:nvPr/>
        </p:nvSpPr>
        <p:spPr>
          <a:xfrm rot="16200000">
            <a:off x="4006516" y="5098966"/>
            <a:ext cx="360947" cy="2245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96337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13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41A8AEA-30BE-48CF-B60D-29274AABB868}"/>
              </a:ext>
            </a:extLst>
          </p:cNvPr>
          <p:cNvSpPr/>
          <p:nvPr/>
        </p:nvSpPr>
        <p:spPr>
          <a:xfrm>
            <a:off x="4694323" y="5505682"/>
            <a:ext cx="243579" cy="17692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3FF7264-3DC3-4C5A-86D3-F2C1F340D2C3}"/>
              </a:ext>
            </a:extLst>
          </p:cNvPr>
          <p:cNvSpPr txBox="1"/>
          <p:nvPr/>
        </p:nvSpPr>
        <p:spPr>
          <a:xfrm>
            <a:off x="527668" y="5672210"/>
            <a:ext cx="9360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Finalement nous obtenons dans l’onglet «</a:t>
            </a:r>
            <a:r>
              <a:rPr lang="fr-CH" dirty="0" err="1"/>
              <a:t>Results</a:t>
            </a:r>
            <a:r>
              <a:rPr lang="fr-CH" dirty="0"/>
              <a:t>» les valeurs numériques des mesures, et la fenêtre Camera Image indique le résultat du test, dans notre cas tout est </a:t>
            </a:r>
            <a:r>
              <a:rPr lang="fr-CH" dirty="0" err="1"/>
              <a:t>Pass</a:t>
            </a:r>
            <a:r>
              <a:rPr lang="fr-CH" dirty="0"/>
              <a:t>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AD3126-6EE0-4C7A-BFB8-34E8A803B892}"/>
              </a:ext>
            </a:extLst>
          </p:cNvPr>
          <p:cNvSpPr txBox="1"/>
          <p:nvPr/>
        </p:nvSpPr>
        <p:spPr>
          <a:xfrm>
            <a:off x="601579" y="6176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H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3AB475A7-65C0-4B4D-BB58-A57444661D7C}"/>
              </a:ext>
            </a:extLst>
          </p:cNvPr>
          <p:cNvGrpSpPr/>
          <p:nvPr/>
        </p:nvGrpSpPr>
        <p:grpSpPr>
          <a:xfrm>
            <a:off x="720202" y="1373084"/>
            <a:ext cx="8798124" cy="4299126"/>
            <a:chOff x="699430" y="1407455"/>
            <a:chExt cx="8798124" cy="4299126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8C9A5DC9-8F92-4104-A9ED-90352B3D3F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79" t="7195" b="9712"/>
            <a:stretch/>
          </p:blipFill>
          <p:spPr>
            <a:xfrm>
              <a:off x="699430" y="1407455"/>
              <a:ext cx="8734928" cy="4148248"/>
            </a:xfrm>
            <a:prstGeom prst="rect">
              <a:avLst/>
            </a:prstGeom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6EBEA801-E139-4486-B997-81642A55B0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r="-1408" b="14536"/>
            <a:stretch/>
          </p:blipFill>
          <p:spPr>
            <a:xfrm>
              <a:off x="4946389" y="5550453"/>
              <a:ext cx="4551165" cy="156128"/>
            </a:xfrm>
            <a:prstGeom prst="rect">
              <a:avLst/>
            </a:prstGeom>
          </p:spPr>
        </p:pic>
      </p:grpSp>
      <p:sp>
        <p:nvSpPr>
          <p:cNvPr id="23" name="Flèche : droite 22">
            <a:extLst>
              <a:ext uri="{FF2B5EF4-FFF2-40B4-BE49-F238E27FC236}">
                <a16:creationId xmlns:a16="http://schemas.microsoft.com/office/drawing/2014/main" id="{E37A85F0-DFBC-4468-81AD-83C5654AF5B3}"/>
              </a:ext>
            </a:extLst>
          </p:cNvPr>
          <p:cNvSpPr/>
          <p:nvPr/>
        </p:nvSpPr>
        <p:spPr>
          <a:xfrm rot="10800000">
            <a:off x="5207729" y="5248148"/>
            <a:ext cx="243579" cy="17692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28220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02BC0-5B88-4466-A160-A1B0B2E639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CH" dirty="0"/>
              <a:t>Metrology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14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AD3126-6EE0-4C7A-BFB8-34E8A803B892}"/>
              </a:ext>
            </a:extLst>
          </p:cNvPr>
          <p:cNvSpPr txBox="1"/>
          <p:nvPr/>
        </p:nvSpPr>
        <p:spPr>
          <a:xfrm>
            <a:off x="601579" y="6176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H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34E361-E0A9-4CD0-BCBA-7FAD080D8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418" y="1368000"/>
            <a:ext cx="1543050" cy="2781300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92C9743E-A39C-4EE9-909C-C118CB2B188B}"/>
              </a:ext>
            </a:extLst>
          </p:cNvPr>
          <p:cNvGrpSpPr/>
          <p:nvPr/>
        </p:nvGrpSpPr>
        <p:grpSpPr>
          <a:xfrm>
            <a:off x="431800" y="1535304"/>
            <a:ext cx="3637734" cy="2585509"/>
            <a:chOff x="431800" y="1535304"/>
            <a:chExt cx="3637734" cy="2585509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0F55BA2-878D-4030-8100-629DEBB00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800" y="1535304"/>
              <a:ext cx="3637734" cy="1732801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4884F008-E9F7-48F2-B24E-A9AA2F4D9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781" r="1014"/>
            <a:stretch/>
          </p:blipFill>
          <p:spPr>
            <a:xfrm>
              <a:off x="1391210" y="3204058"/>
              <a:ext cx="2589663" cy="916755"/>
            </a:xfrm>
            <a:prstGeom prst="rect">
              <a:avLst/>
            </a:prstGeom>
          </p:spPr>
        </p:pic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271E8E48-5A44-446B-8D3F-A166EBC37DFC}"/>
              </a:ext>
            </a:extLst>
          </p:cNvPr>
          <p:cNvSpPr txBox="1"/>
          <p:nvPr/>
        </p:nvSpPr>
        <p:spPr>
          <a:xfrm>
            <a:off x="769011" y="4752193"/>
            <a:ext cx="382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Voici les formes que l’on peut dessiner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CA32BA7-D95C-4DA6-A493-6734D9CCBF56}"/>
              </a:ext>
            </a:extLst>
          </p:cNvPr>
          <p:cNvSpPr txBox="1"/>
          <p:nvPr/>
        </p:nvSpPr>
        <p:spPr>
          <a:xfrm>
            <a:off x="5154348" y="4752193"/>
            <a:ext cx="448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Et les diverses mesures que l’on peut effectuer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29586F-80F0-4EBC-B0DF-A93923267156}"/>
              </a:ext>
            </a:extLst>
          </p:cNvPr>
          <p:cNvSpPr txBox="1"/>
          <p:nvPr/>
        </p:nvSpPr>
        <p:spPr>
          <a:xfrm>
            <a:off x="257698" y="5361038"/>
            <a:ext cx="9546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Exemple : il est possible grâce au point de trouver le centre de deux cercles puis de calculer l’entraxe</a:t>
            </a:r>
          </a:p>
          <a:p>
            <a:r>
              <a:rPr lang="fr-CH" dirty="0"/>
              <a:t>Ou alors de mesurer à l’aide de deux segments un angle, les possibilités sont multiples.</a:t>
            </a:r>
          </a:p>
        </p:txBody>
      </p:sp>
    </p:spTree>
    <p:extLst>
      <p:ext uri="{BB962C8B-B14F-4D97-AF65-F5344CB8AC3E}">
        <p14:creationId xmlns:p14="http://schemas.microsoft.com/office/powerpoint/2010/main" val="128257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Measurement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15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AD3126-6EE0-4C7A-BFB8-34E8A803B892}"/>
              </a:ext>
            </a:extLst>
          </p:cNvPr>
          <p:cNvSpPr txBox="1"/>
          <p:nvPr/>
        </p:nvSpPr>
        <p:spPr>
          <a:xfrm>
            <a:off x="601579" y="6176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H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12AAF87-7FD8-41D2-822E-64E078CD46BE}"/>
              </a:ext>
            </a:extLst>
          </p:cNvPr>
          <p:cNvSpPr txBox="1"/>
          <p:nvPr/>
        </p:nvSpPr>
        <p:spPr>
          <a:xfrm>
            <a:off x="431800" y="1277125"/>
            <a:ext cx="9478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Le début est très ressemblant à la partie Metrology cependant nous allons utiliser d’autres photos afin de distinguer les deux outils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93E36D5-F135-42DD-97A5-5B5A39C6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355273"/>
            <a:ext cx="3412133" cy="304424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6A1DE9F-CEA3-46AA-B6DF-9B72FA08C1B7}"/>
              </a:ext>
            </a:extLst>
          </p:cNvPr>
          <p:cNvSpPr txBox="1"/>
          <p:nvPr/>
        </p:nvSpPr>
        <p:spPr>
          <a:xfrm>
            <a:off x="4017818" y="2355273"/>
            <a:ext cx="5892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Jusqu’à la diapositive 8 toutes les étapes sont les mêmes, c’est après avoir défini les conditions que l’on ajoute l’étape Measurement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4C01BE-61D7-496B-B2A2-EA6780EA3A87}"/>
              </a:ext>
            </a:extLst>
          </p:cNvPr>
          <p:cNvSpPr txBox="1"/>
          <p:nvPr/>
        </p:nvSpPr>
        <p:spPr>
          <a:xfrm>
            <a:off x="4017817" y="4555298"/>
            <a:ext cx="5892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faut ensuite définir le système d’axe afin qu’il soit le même que dans le ModelFinder on le sélectionne dans Output </a:t>
            </a:r>
            <a:r>
              <a:rPr lang="fr-CH" dirty="0" err="1"/>
              <a:t>coordinates</a:t>
            </a:r>
            <a:r>
              <a:rPr lang="fr-CH" dirty="0"/>
              <a:t> </a:t>
            </a:r>
            <a:endParaRPr lang="fr-CH" b="1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9001218-6E32-499F-8220-F0C8C4A048D0}"/>
              </a:ext>
            </a:extLst>
          </p:cNvPr>
          <p:cNvGrpSpPr/>
          <p:nvPr/>
        </p:nvGrpSpPr>
        <p:grpSpPr>
          <a:xfrm>
            <a:off x="4901408" y="3387254"/>
            <a:ext cx="3446661" cy="952500"/>
            <a:chOff x="4017817" y="3278603"/>
            <a:chExt cx="3446661" cy="952500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4C112DA-1611-4A78-A419-7B709371C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7817" y="3278603"/>
              <a:ext cx="3295650" cy="952500"/>
            </a:xfrm>
            <a:prstGeom prst="rect">
              <a:avLst/>
            </a:prstGeom>
          </p:spPr>
        </p:pic>
        <p:sp>
          <p:nvSpPr>
            <p:cNvPr id="19" name="Flèche : droite 18">
              <a:extLst>
                <a:ext uri="{FF2B5EF4-FFF2-40B4-BE49-F238E27FC236}">
                  <a16:creationId xmlns:a16="http://schemas.microsoft.com/office/drawing/2014/main" id="{1EEFB92B-4F95-480F-8ADA-E8C8FAF48C19}"/>
                </a:ext>
              </a:extLst>
            </p:cNvPr>
            <p:cNvSpPr/>
            <p:nvPr/>
          </p:nvSpPr>
          <p:spPr>
            <a:xfrm rot="10800000">
              <a:off x="7162458" y="3847161"/>
              <a:ext cx="302020" cy="240145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222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603130"/>
            <a:ext cx="9198000" cy="432000"/>
          </a:xfrm>
        </p:spPr>
        <p:txBody>
          <a:bodyPr/>
          <a:lstStyle/>
          <a:p>
            <a:r>
              <a:rPr lang="fr-CH" dirty="0"/>
              <a:t>Measurement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16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AD3126-6EE0-4C7A-BFB8-34E8A803B892}"/>
              </a:ext>
            </a:extLst>
          </p:cNvPr>
          <p:cNvSpPr txBox="1"/>
          <p:nvPr/>
        </p:nvSpPr>
        <p:spPr>
          <a:xfrm>
            <a:off x="601579" y="6176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H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08DFC7-1B5B-4374-A38B-4178ED7B6657}"/>
              </a:ext>
            </a:extLst>
          </p:cNvPr>
          <p:cNvSpPr txBox="1"/>
          <p:nvPr/>
        </p:nvSpPr>
        <p:spPr>
          <a:xfrm>
            <a:off x="4433455" y="1865806"/>
            <a:ext cx="5394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Puis on sélectionne l’outil </a:t>
            </a:r>
            <a:r>
              <a:rPr lang="fr-CH" dirty="0" err="1"/>
              <a:t>Add</a:t>
            </a:r>
            <a:r>
              <a:rPr lang="fr-CH" dirty="0"/>
              <a:t> </a:t>
            </a:r>
            <a:r>
              <a:rPr lang="fr-CH" dirty="0" err="1"/>
              <a:t>Stripe</a:t>
            </a:r>
            <a:r>
              <a:rPr lang="fr-CH" dirty="0"/>
              <a:t> Marker, on l’utilise pour trouver la taille de notre pièce.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87E5536-9392-4049-8C39-826ED23D270C}"/>
              </a:ext>
            </a:extLst>
          </p:cNvPr>
          <p:cNvSpPr txBox="1"/>
          <p:nvPr/>
        </p:nvSpPr>
        <p:spPr>
          <a:xfrm>
            <a:off x="5562818" y="4946858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Distance entre les bords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4ADE99B-35F3-421B-9A27-DF1F50B4D4F2}"/>
              </a:ext>
            </a:extLst>
          </p:cNvPr>
          <p:cNvGrpSpPr/>
          <p:nvPr/>
        </p:nvGrpSpPr>
        <p:grpSpPr>
          <a:xfrm>
            <a:off x="431800" y="2218108"/>
            <a:ext cx="3475183" cy="2728750"/>
            <a:chOff x="450272" y="1474754"/>
            <a:chExt cx="3475183" cy="272875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12699125-FA66-466F-AF1F-DAB9145DEA57}"/>
                </a:ext>
              </a:extLst>
            </p:cNvPr>
            <p:cNvGrpSpPr/>
            <p:nvPr/>
          </p:nvGrpSpPr>
          <p:grpSpPr>
            <a:xfrm>
              <a:off x="450272" y="1474754"/>
              <a:ext cx="3475183" cy="2728750"/>
              <a:chOff x="450272" y="1474754"/>
              <a:chExt cx="3475183" cy="2728750"/>
            </a:xfrm>
          </p:grpSpPr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C963066E-6583-40A1-A2A4-39BF80A81D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9587" t="8350" r="59091" b="61886"/>
              <a:stretch/>
            </p:blipFill>
            <p:spPr>
              <a:xfrm>
                <a:off x="450272" y="1474754"/>
                <a:ext cx="3475183" cy="2728750"/>
              </a:xfrm>
              <a:prstGeom prst="rect">
                <a:avLst/>
              </a:prstGeom>
            </p:spPr>
          </p:pic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47BE5011-ABAE-49DB-ABC7-59DDE15F8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579" y="2045944"/>
                <a:ext cx="3286125" cy="1819275"/>
              </a:xfrm>
              <a:prstGeom prst="rect">
                <a:avLst/>
              </a:prstGeom>
            </p:spPr>
          </p:pic>
        </p:grpSp>
        <p:sp>
          <p:nvSpPr>
            <p:cNvPr id="5" name="Flèche : droite 4">
              <a:extLst>
                <a:ext uri="{FF2B5EF4-FFF2-40B4-BE49-F238E27FC236}">
                  <a16:creationId xmlns:a16="http://schemas.microsoft.com/office/drawing/2014/main" id="{AB0DC08B-71E2-4831-B548-3C19E9E4A465}"/>
                </a:ext>
              </a:extLst>
            </p:cNvPr>
            <p:cNvSpPr/>
            <p:nvPr/>
          </p:nvSpPr>
          <p:spPr>
            <a:xfrm rot="16200000">
              <a:off x="1935253" y="1738596"/>
              <a:ext cx="302020" cy="240145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030B7143-A60B-4A42-949E-137D23931AC1}"/>
              </a:ext>
            </a:extLst>
          </p:cNvPr>
          <p:cNvGrpSpPr/>
          <p:nvPr/>
        </p:nvGrpSpPr>
        <p:grpSpPr>
          <a:xfrm>
            <a:off x="4975286" y="3921445"/>
            <a:ext cx="3581112" cy="933450"/>
            <a:chOff x="4966049" y="3736779"/>
            <a:chExt cx="3581112" cy="933450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4A5BA6FC-84C9-4178-8106-5AB85E58E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6049" y="3736779"/>
              <a:ext cx="3571875" cy="93345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5DB976-B3CB-4481-9019-BC447DE23E39}"/>
                </a:ext>
              </a:extLst>
            </p:cNvPr>
            <p:cNvSpPr/>
            <p:nvPr/>
          </p:nvSpPr>
          <p:spPr>
            <a:xfrm>
              <a:off x="7832436" y="4316449"/>
              <a:ext cx="714725" cy="1847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6034F607-4E01-4BED-BCC7-8C689BA4BA9C}"/>
              </a:ext>
            </a:extLst>
          </p:cNvPr>
          <p:cNvSpPr txBox="1"/>
          <p:nvPr/>
        </p:nvSpPr>
        <p:spPr>
          <a:xfrm>
            <a:off x="4433455" y="2595355"/>
            <a:ext cx="5394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Par la suite les mesures sont lancée afin de connaitre la longueur de la forme (elle se trouve dans le tableau des résultats) </a:t>
            </a:r>
          </a:p>
        </p:txBody>
      </p:sp>
    </p:spTree>
    <p:extLst>
      <p:ext uri="{BB962C8B-B14F-4D97-AF65-F5344CB8AC3E}">
        <p14:creationId xmlns:p14="http://schemas.microsoft.com/office/powerpoint/2010/main" val="2756407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E86BF-D455-4BB4-9C0C-68F65A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Measurement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A5903-581D-494B-B102-56D6BCEF3A1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17</a:t>
            </a:fld>
            <a:endParaRPr lang="fr-FR" noProof="0" dirty="0"/>
          </a:p>
        </p:txBody>
      </p:sp>
      <p:pic>
        <p:nvPicPr>
          <p:cNvPr id="7" name="Image 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FF4CA333-55EE-4930-ACA0-A95A4B521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25" y="164386"/>
            <a:ext cx="1964215" cy="3290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5674A6-EBBE-4865-B40A-88CF6B9593FF}"/>
              </a:ext>
            </a:extLst>
          </p:cNvPr>
          <p:cNvSpPr/>
          <p:nvPr/>
        </p:nvSpPr>
        <p:spPr>
          <a:xfrm>
            <a:off x="10045564" y="6296875"/>
            <a:ext cx="1340977" cy="484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AD3126-6EE0-4C7A-BFB8-34E8A803B892}"/>
              </a:ext>
            </a:extLst>
          </p:cNvPr>
          <p:cNvSpPr txBox="1"/>
          <p:nvPr/>
        </p:nvSpPr>
        <p:spPr>
          <a:xfrm>
            <a:off x="601579" y="6176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H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08DFC7-1B5B-4374-A38B-4178ED7B6657}"/>
              </a:ext>
            </a:extLst>
          </p:cNvPr>
          <p:cNvSpPr txBox="1"/>
          <p:nvPr/>
        </p:nvSpPr>
        <p:spPr>
          <a:xfrm>
            <a:off x="4424216" y="1185161"/>
            <a:ext cx="5394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On ajoute grâce à l’outil </a:t>
            </a:r>
            <a:r>
              <a:rPr lang="fr-CH" dirty="0" err="1"/>
              <a:t>Add</a:t>
            </a:r>
            <a:r>
              <a:rPr lang="fr-CH" dirty="0"/>
              <a:t> </a:t>
            </a:r>
            <a:r>
              <a:rPr lang="fr-CH" dirty="0" err="1"/>
              <a:t>Stripe</a:t>
            </a:r>
            <a:r>
              <a:rPr lang="fr-CH" dirty="0"/>
              <a:t>, un rectangle cette fois sur les tiges au bord de la pièce. Il faudra régler dans les paramètre le nombre de tiges, dans notre cas 3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3F29BC5-6356-4191-A8C3-1D39F5B2EC71}"/>
              </a:ext>
            </a:extLst>
          </p:cNvPr>
          <p:cNvGrpSpPr/>
          <p:nvPr/>
        </p:nvGrpSpPr>
        <p:grpSpPr>
          <a:xfrm>
            <a:off x="391852" y="1196337"/>
            <a:ext cx="3410526" cy="2863167"/>
            <a:chOff x="357910" y="1511999"/>
            <a:chExt cx="3410526" cy="2863167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266E3309-83C2-43F4-93A2-4BE9FD3310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665" t="7398" r="58680" b="60283"/>
            <a:stretch/>
          </p:blipFill>
          <p:spPr>
            <a:xfrm>
              <a:off x="357910" y="1511999"/>
              <a:ext cx="3410526" cy="2863167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426DBD00-0A5B-433C-906B-A141E524F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009" y="2203528"/>
              <a:ext cx="3066329" cy="1799612"/>
            </a:xfrm>
            <a:prstGeom prst="rect">
              <a:avLst/>
            </a:prstGeom>
          </p:spPr>
        </p:pic>
      </p:grp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91C984DD-EE02-4A19-BE1A-02CC4F03D8D1}"/>
              </a:ext>
            </a:extLst>
          </p:cNvPr>
          <p:cNvSpPr/>
          <p:nvPr/>
        </p:nvSpPr>
        <p:spPr>
          <a:xfrm rot="16200000">
            <a:off x="1826033" y="1586466"/>
            <a:ext cx="302020" cy="24014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F52F537-64CD-4EBB-A03F-DDA5075BC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484" y="2270343"/>
            <a:ext cx="3619500" cy="1304925"/>
          </a:xfrm>
          <a:prstGeom prst="rect">
            <a:avLst/>
          </a:prstGeom>
        </p:spPr>
      </p:pic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55856442-3F2C-444D-85C7-CCC647BFBE40}"/>
              </a:ext>
            </a:extLst>
          </p:cNvPr>
          <p:cNvSpPr/>
          <p:nvPr/>
        </p:nvSpPr>
        <p:spPr>
          <a:xfrm rot="10800000">
            <a:off x="6819214" y="2547527"/>
            <a:ext cx="302020" cy="24014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0FB6682-0308-4014-92FC-4AB37869C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00" y="4192262"/>
            <a:ext cx="4777309" cy="107424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2BB6A70-E5BB-4026-A206-F1EC49FF31C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089"/>
          <a:stretch/>
        </p:blipFill>
        <p:spPr>
          <a:xfrm>
            <a:off x="432000" y="5428354"/>
            <a:ext cx="5035927" cy="85597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7B6492B-ED54-4CCE-BC82-C02CC652872A}"/>
              </a:ext>
            </a:extLst>
          </p:cNvPr>
          <p:cNvSpPr txBox="1"/>
          <p:nvPr/>
        </p:nvSpPr>
        <p:spPr>
          <a:xfrm>
            <a:off x="5467927" y="4086166"/>
            <a:ext cx="4442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Puis on lance une deuxième fois les mesures, et on trouve certaines caractéristiques des tiges comme leurs angles, l’espace entre chaque tige ou encore leurs longueurs.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2C8BAC-BEF4-4966-89B5-49874A0DC778}"/>
              </a:ext>
            </a:extLst>
          </p:cNvPr>
          <p:cNvSpPr txBox="1"/>
          <p:nvPr/>
        </p:nvSpPr>
        <p:spPr>
          <a:xfrm>
            <a:off x="5690846" y="5394676"/>
            <a:ext cx="4219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existe une partie statistiques qui nous donne la moyenne le minimum et le maximum de nos 3 tiges</a:t>
            </a:r>
          </a:p>
        </p:txBody>
      </p:sp>
    </p:spTree>
    <p:extLst>
      <p:ext uri="{BB962C8B-B14F-4D97-AF65-F5344CB8AC3E}">
        <p14:creationId xmlns:p14="http://schemas.microsoft.com/office/powerpoint/2010/main" val="20078840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841_TF16411245.potx" id="{96BFCCC4-945F-4455-8680-9CAB35348163}" vid="{F240A1EB-79F1-44FF-AB19-94587D3A344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8A784AD-7888-482C-A72A-80D3063962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61CFE-D4DA-4753-A9A5-D482B9609A35}">
  <ds:schemaRefs>
    <ds:schemaRef ds:uri="http://schemas.microsoft.com/office/infopath/2007/PartnerControls"/>
    <ds:schemaRef ds:uri="http://purl.org/dc/elements/1.1/"/>
    <ds:schemaRef ds:uri="http://purl.org/dc/terms/"/>
    <ds:schemaRef ds:uri="http://schemas.microsoft.com/sharepoint/v3"/>
    <ds:schemaRef ds:uri="http://www.w3.org/XML/1998/namespace"/>
    <ds:schemaRef ds:uri="6dc4bcd6-49db-4c07-9060-8acfc67cef9f"/>
    <ds:schemaRef ds:uri="http://schemas.microsoft.com/office/2006/documentManagement/types"/>
    <ds:schemaRef ds:uri="http://schemas.openxmlformats.org/package/2006/metadata/core-properties"/>
    <ds:schemaRef ds:uri="fb0879af-3eba-417a-a55a-ffe6dcd6ca77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couleur minimaliste</Template>
  <TotalTime>0</TotalTime>
  <Words>886</Words>
  <Application>Microsoft Office PowerPoint</Application>
  <PresentationFormat>Grand écran</PresentationFormat>
  <Paragraphs>95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Times New Roman</vt:lpstr>
      <vt:lpstr>Thème Office</vt:lpstr>
      <vt:lpstr>   Edges</vt:lpstr>
      <vt:lpstr>Sommaire</vt:lpstr>
      <vt:lpstr>Introduction</vt:lpstr>
      <vt:lpstr>Mise en place du Logiciel</vt:lpstr>
      <vt:lpstr>Mise en place du Logiciel</vt:lpstr>
      <vt:lpstr>Metrology</vt:lpstr>
      <vt:lpstr>Metrology</vt:lpstr>
      <vt:lpstr>Metrology</vt:lpstr>
      <vt:lpstr>Metrology</vt:lpstr>
      <vt:lpstr>Metrology</vt:lpstr>
      <vt:lpstr>Metrology</vt:lpstr>
      <vt:lpstr>Metrology</vt:lpstr>
      <vt:lpstr>Metrology</vt:lpstr>
      <vt:lpstr>Metrology</vt:lpstr>
      <vt:lpstr>Measurement</vt:lpstr>
      <vt:lpstr>Measurement</vt:lpstr>
      <vt:lpstr>Measurement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2019-12-19T10:25:50Z</dcterms:created>
  <dcterms:modified xsi:type="dcterms:W3CDTF">2020-09-29T12:26:12Z</dcterms:modified>
</cp:coreProperties>
</file>