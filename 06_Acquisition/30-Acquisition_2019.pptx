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8" r:id="rId5"/>
    <p:sldId id="279" r:id="rId6"/>
    <p:sldId id="280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2" r:id="rId15"/>
    <p:sldId id="277" r:id="rId16"/>
    <p:sldId id="274" r:id="rId17"/>
    <p:sldId id="275" r:id="rId18"/>
    <p:sldId id="276" r:id="rId1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1F50"/>
    <a:srgbClr val="7071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43" autoAdjust="0"/>
  </p:normalViewPr>
  <p:slideViewPr>
    <p:cSldViewPr>
      <p:cViewPr varScale="1">
        <p:scale>
          <a:sx n="86" d="100"/>
          <a:sy n="86" d="100"/>
        </p:scale>
        <p:origin x="133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GrisBienvenu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2492375"/>
            <a:ext cx="7704138" cy="79216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Bienvenue!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0" hasCustomPrompt="1"/>
          </p:nvPr>
        </p:nvSpPr>
        <p:spPr>
          <a:xfrm>
            <a:off x="539750" y="1916113"/>
            <a:ext cx="7704138" cy="72072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 de la présentation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58775" y="962025"/>
            <a:ext cx="8048625" cy="18192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915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Sommaire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 hasCustomPrompt="1"/>
          </p:nvPr>
        </p:nvSpPr>
        <p:spPr>
          <a:xfrm>
            <a:off x="28548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CH" dirty="0"/>
              <a:t>Thème 1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2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3</a:t>
            </a:r>
          </a:p>
          <a:p>
            <a:pPr lvl="0"/>
            <a:r>
              <a:rPr lang="fr-CH" dirty="0"/>
              <a:t>Thème 4</a:t>
            </a:r>
          </a:p>
          <a:p>
            <a:pPr lvl="0"/>
            <a:r>
              <a:rPr lang="fr-CH" dirty="0"/>
              <a:t>Thème 5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461200" y="3013200"/>
            <a:ext cx="2606400" cy="25416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4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1188000"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>
              <a:buFontTx/>
              <a:buNone/>
              <a:defRPr sz="1100" b="1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</a:lstStyle>
          <a:p>
            <a:pPr lvl="0"/>
            <a:r>
              <a:rPr lang="fr-FR" dirty="0"/>
              <a:t>Thème 6</a:t>
            </a:r>
          </a:p>
          <a:p>
            <a:pPr lvl="1"/>
            <a:r>
              <a:rPr lang="fr-CH" b="1" dirty="0">
                <a:solidFill>
                  <a:srgbClr val="707173"/>
                </a:solidFill>
              </a:rPr>
              <a:t>Sous-thème</a:t>
            </a:r>
          </a:p>
          <a:p>
            <a:pPr lvl="2"/>
            <a:endParaRPr lang="fr-CH" b="1" dirty="0">
              <a:solidFill>
                <a:srgbClr val="707173"/>
              </a:solidFill>
            </a:endParaRPr>
          </a:p>
          <a:p>
            <a:pPr lvl="0"/>
            <a:r>
              <a:rPr lang="fr-CH" dirty="0"/>
              <a:t>Thème 7</a:t>
            </a:r>
          </a:p>
          <a:p>
            <a:pPr lvl="1"/>
            <a:r>
              <a:rPr lang="fr-CH" dirty="0"/>
              <a:t>Sous-thème</a:t>
            </a:r>
          </a:p>
          <a:p>
            <a:pPr lvl="1"/>
            <a:r>
              <a:rPr lang="fr-CH" dirty="0"/>
              <a:t>Sous-thème</a:t>
            </a:r>
          </a:p>
          <a:p>
            <a:pPr lvl="2"/>
            <a:endParaRPr lang="fr-CH" dirty="0"/>
          </a:p>
          <a:p>
            <a:pPr lvl="0"/>
            <a:r>
              <a:rPr lang="fr-CH" dirty="0"/>
              <a:t>Thème 8</a:t>
            </a:r>
          </a:p>
          <a:p>
            <a:pPr lvl="0"/>
            <a:r>
              <a:rPr lang="fr-CH" dirty="0"/>
              <a:t>Thème 9</a:t>
            </a:r>
          </a:p>
          <a:p>
            <a:pPr lvl="0"/>
            <a:r>
              <a:rPr lang="fr-CH" dirty="0"/>
              <a:t>Thème 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4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Titre</a:t>
            </a:r>
            <a:endParaRPr lang="fr-CH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540000" y="2059200"/>
            <a:ext cx="7704000" cy="410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0" hasCustomPrompt="1"/>
          </p:nvPr>
        </p:nvSpPr>
        <p:spPr>
          <a:xfrm>
            <a:off x="540000" y="1123200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Deux colonnes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1728000" y="2170800"/>
            <a:ext cx="3124800" cy="1656829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1</a:t>
            </a:r>
          </a:p>
          <a:p>
            <a:pPr lvl="1"/>
            <a:r>
              <a:rPr lang="fr-FR" dirty="0"/>
              <a:t>Texte 1</a:t>
            </a:r>
          </a:p>
          <a:p>
            <a:pPr lvl="1"/>
            <a:endParaRPr lang="fr-FR" dirty="0"/>
          </a:p>
          <a:p>
            <a:pPr lvl="0"/>
            <a:r>
              <a:rPr lang="fr-CH" dirty="0"/>
              <a:t>Titre 2</a:t>
            </a:r>
          </a:p>
          <a:p>
            <a:pPr lvl="1"/>
            <a:r>
              <a:rPr lang="fr-CH" dirty="0"/>
              <a:t>Texte 2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3</a:t>
            </a:r>
          </a:p>
          <a:p>
            <a:pPr lvl="1"/>
            <a:r>
              <a:rPr lang="fr-CH" dirty="0"/>
              <a:t>Texte 3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12" hasCustomPrompt="1"/>
          </p:nvPr>
        </p:nvSpPr>
        <p:spPr>
          <a:xfrm>
            <a:off x="5068800" y="2170800"/>
            <a:ext cx="3124800" cy="1656000"/>
          </a:xfrm>
          <a:prstGeom prst="rect">
            <a:avLst/>
          </a:prstGeom>
        </p:spPr>
        <p:txBody>
          <a:bodyPr/>
          <a:lstStyle>
            <a:lvl1pPr>
              <a:buFont typeface="Tahoma" pitchFamily="34" charset="0"/>
              <a:buChar char="—"/>
              <a:defRPr sz="12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648000">
              <a:buFontTx/>
              <a:buNone/>
              <a:defRPr sz="10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fr-FR" dirty="0"/>
              <a:t>Titre 4</a:t>
            </a:r>
          </a:p>
          <a:p>
            <a:pPr lvl="1"/>
            <a:r>
              <a:rPr lang="fr-CH" sz="10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 4</a:t>
            </a:r>
          </a:p>
          <a:p>
            <a:pPr lvl="1"/>
            <a:endParaRPr lang="fr-CH" sz="1000" dirty="0">
              <a:solidFill>
                <a:srgbClr val="707173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0"/>
            <a:r>
              <a:rPr lang="fr-CH" dirty="0"/>
              <a:t>Titre 5</a:t>
            </a:r>
          </a:p>
          <a:p>
            <a:pPr lvl="1"/>
            <a:r>
              <a:rPr lang="fr-CH" dirty="0"/>
              <a:t>Texte 5</a:t>
            </a:r>
          </a:p>
          <a:p>
            <a:pPr lvl="1"/>
            <a:endParaRPr lang="fr-CH" dirty="0"/>
          </a:p>
          <a:p>
            <a:pPr lvl="0"/>
            <a:r>
              <a:rPr lang="fr-CH" dirty="0"/>
              <a:t>Titre 6</a:t>
            </a:r>
          </a:p>
          <a:p>
            <a:pPr lvl="1"/>
            <a:r>
              <a:rPr lang="fr-CH" dirty="0"/>
              <a:t>Texte 6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358775" y="962025"/>
            <a:ext cx="8048625" cy="10064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1124744"/>
            <a:ext cx="7704000" cy="7200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500" b="1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FR" dirty="0"/>
              <a:t>Vide</a:t>
            </a:r>
            <a:endParaRPr lang="fr-CH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CH"/>
          </a:p>
        </p:txBody>
      </p:sp>
      <p:pic>
        <p:nvPicPr>
          <p:cNvPr id="6" name="Image 5" descr="ING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7889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358775" y="962025"/>
            <a:ext cx="8048625" cy="3902075"/>
          </a:xfrm>
          <a:prstGeom prst="rect">
            <a:avLst/>
          </a:prstGeom>
          <a:solidFill>
            <a:srgbClr val="EF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fr-FR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0" hasCustomPrompt="1"/>
          </p:nvPr>
        </p:nvSpPr>
        <p:spPr>
          <a:xfrm>
            <a:off x="1800000" y="5050800"/>
            <a:ext cx="4827600" cy="3600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 baseline="0">
                <a:solidFill>
                  <a:srgbClr val="CB1F5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fr-CH" dirty="0"/>
              <a:t>Avec image</a:t>
            </a:r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1" hasCustomPrompt="1"/>
          </p:nvPr>
        </p:nvSpPr>
        <p:spPr>
          <a:xfrm>
            <a:off x="1800000" y="5410800"/>
            <a:ext cx="4827600" cy="3603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5pPr>
              <a:buNone/>
              <a:defRPr/>
            </a:lvl5pPr>
          </a:lstStyle>
          <a:p>
            <a:pPr lvl="0"/>
            <a:r>
              <a:rPr lang="fr-CH" sz="900" dirty="0">
                <a:solidFill>
                  <a:srgbClr val="707173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Texte</a:t>
            </a:r>
            <a:endParaRPr lang="fr-CH" dirty="0"/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/>
          </p:nvPr>
        </p:nvSpPr>
        <p:spPr>
          <a:xfrm>
            <a:off x="1800000" y="961200"/>
            <a:ext cx="6624000" cy="37404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fr-FR"/>
              <a:t>Cliquez sur l'icône pour ajouter une image</a:t>
            </a:r>
            <a:endParaRPr lang="fr-CH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0"/>
            <a:ext cx="9144000" cy="6862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3" r:id="rId5"/>
    <p:sldLayoutId id="2147483652" r:id="rId6"/>
    <p:sldLayoutId id="2147483656" r:id="rId7"/>
    <p:sldLayoutId id="2147483654" r:id="rId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Acquisition avec 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Configuration de la caméra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Dans </a:t>
            </a:r>
            <a:r>
              <a:rPr lang="fr-CH" sz="2400" dirty="0" err="1"/>
              <a:t>step</a:t>
            </a:r>
            <a:r>
              <a:rPr lang="fr-CH" sz="2400" dirty="0"/>
              <a:t> «Camera» 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000" dirty="0" err="1"/>
              <a:t>Clickez</a:t>
            </a:r>
            <a:r>
              <a:rPr lang="fr-CH" sz="2000" dirty="0"/>
              <a:t> sur Initial Platform Settings </a:t>
            </a:r>
            <a:r>
              <a:rPr lang="fr-CH" sz="2000" dirty="0">
                <a:sym typeface="Wingdings" panose="05000000000000000000" pitchFamily="2" charset="2"/>
              </a:rPr>
              <a:t> Platform Configuration</a:t>
            </a:r>
            <a:endParaRPr lang="fr-CH" sz="2000" dirty="0"/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sz="2000" dirty="0"/>
              <a:t>Paradigme Matrox: Un «système» (d’acquisition) accède à une ou plusieurs caméras</a:t>
            </a:r>
          </a:p>
          <a:p>
            <a:pPr marL="1600200" lvl="2" indent="-457200"/>
            <a:r>
              <a:rPr lang="fr-CH" sz="1600" dirty="0"/>
              <a:t>Exemples de système: GigE, USB3, </a:t>
            </a:r>
            <a:r>
              <a:rPr lang="fr-CH" sz="1600" dirty="0" err="1"/>
              <a:t>CameraLink</a:t>
            </a:r>
            <a:r>
              <a:rPr lang="fr-CH" sz="1600" dirty="0"/>
              <a:t>….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4077072"/>
            <a:ext cx="7387816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861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Configuration de la caméra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Si le système d’acquisition n’est pas configuré il faudra le faire dans MIL Config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sz="2000" dirty="0"/>
              <a:t>Soit directement par le bouton «Open MIL Config»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sz="2000" dirty="0"/>
              <a:t>Soit externement par MIL Control Center </a:t>
            </a:r>
            <a:r>
              <a:rPr lang="fr-CH" sz="2000" dirty="0">
                <a:sym typeface="Wingdings" panose="05000000000000000000" pitchFamily="2" charset="2"/>
              </a:rPr>
              <a:t> </a:t>
            </a:r>
            <a:r>
              <a:rPr lang="fr-CH" sz="2000" dirty="0"/>
              <a:t>MIL Config</a:t>
            </a:r>
            <a:endParaRPr lang="en-US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645024"/>
            <a:ext cx="5741640" cy="1847709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470555" y="5658689"/>
            <a:ext cx="75608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600" dirty="0"/>
              <a:t>Host: Pas d’acquisition possible (manque driver). Seulement depuis fichier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5611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Configuration de la caméra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594424" y="2060848"/>
            <a:ext cx="7704000" cy="41040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Dans Capture Assistant on peut aussi configurer la carte réseau</a:t>
            </a:r>
            <a:endParaRPr lang="en-US" sz="24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BB91AA5-4D78-421E-A449-5A1E0086D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23" y="2851261"/>
            <a:ext cx="7673507" cy="3026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29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F756050-8D19-4C46-944B-DA1ECE2D4D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Configuration de la caméra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452AB3E-B693-47AE-942A-82A7B4EAC0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7920432" cy="4104000"/>
          </a:xfrm>
        </p:spPr>
        <p:txBody>
          <a:bodyPr/>
          <a:lstStyle/>
          <a:p>
            <a:r>
              <a:rPr lang="fr-CH" dirty="0"/>
              <a:t>Comment obtient la caméra son adresse?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/>
              <a:t>DHCP= Dynamic Host Configuration Protocol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/>
              <a:t>IP Fixe</a:t>
            </a:r>
          </a:p>
          <a:p>
            <a:pPr marL="1200150" lvl="1" indent="-457200">
              <a:buFont typeface="Arial" panose="020B0604020202020204" pitchFamily="34" charset="0"/>
              <a:buChar char="•"/>
            </a:pPr>
            <a:r>
              <a:rPr lang="fr-CH" dirty="0"/>
              <a:t>LLA= Link Local </a:t>
            </a:r>
            <a:r>
              <a:rPr lang="fr-CH" dirty="0" err="1"/>
              <a:t>Address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984428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F512B3C-F9AD-4AA1-9A49-E2703B6715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sz="2800" dirty="0">
                <a:solidFill>
                  <a:srgbClr val="CC0032"/>
                </a:solidFill>
                <a:latin typeface="F20"/>
              </a:rPr>
              <a:t>Adressage IP (IPv4)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53BDD4-063E-4AB3-9991-E125210F1570}"/>
              </a:ext>
            </a:extLst>
          </p:cNvPr>
          <p:cNvSpPr/>
          <p:nvPr/>
        </p:nvSpPr>
        <p:spPr>
          <a:xfrm>
            <a:off x="413792" y="1916832"/>
            <a:ext cx="862270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>
                <a:solidFill>
                  <a:srgbClr val="000000"/>
                </a:solidFill>
                <a:latin typeface="F17"/>
              </a:rPr>
              <a:t>Chaque appareil a une adresse en 4 bytes : ex. </a:t>
            </a:r>
            <a:r>
              <a:rPr lang="fr-CH" sz="2400" dirty="0">
                <a:solidFill>
                  <a:srgbClr val="000000"/>
                </a:solidFill>
                <a:latin typeface="F18"/>
              </a:rPr>
              <a:t>157.26.91.210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H" dirty="0">
                <a:solidFill>
                  <a:srgbClr val="000000"/>
                </a:solidFill>
                <a:latin typeface="F46"/>
              </a:rPr>
              <a:t>Adresse reçue dynamiquement : </a:t>
            </a:r>
            <a:r>
              <a:rPr lang="fr-CH" dirty="0">
                <a:solidFill>
                  <a:srgbClr val="000000"/>
                </a:solidFill>
                <a:latin typeface="F48"/>
              </a:rPr>
              <a:t>DHCP </a:t>
            </a:r>
            <a:r>
              <a:rPr lang="fr-CH" sz="800" dirty="0">
                <a:solidFill>
                  <a:srgbClr val="000000"/>
                </a:solidFill>
                <a:latin typeface="F60"/>
              </a:rPr>
              <a:t> </a:t>
            </a:r>
            <a:r>
              <a:rPr lang="fr-CH" dirty="0">
                <a:solidFill>
                  <a:srgbClr val="000000"/>
                </a:solidFill>
                <a:latin typeface="F46"/>
              </a:rPr>
              <a:t>(requiert serveur)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H" dirty="0">
                <a:solidFill>
                  <a:srgbClr val="000000"/>
                </a:solidFill>
                <a:latin typeface="F46"/>
              </a:rPr>
              <a:t>ou Adresse fixe : mémorisée dans l'appareil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H" dirty="0">
                <a:solidFill>
                  <a:srgbClr val="000000"/>
                </a:solidFill>
                <a:latin typeface="F46"/>
              </a:rPr>
              <a:t>Chaque byte offre 254 possibilités : </a:t>
            </a:r>
            <a:r>
              <a:rPr lang="fr-CH" sz="1600" dirty="0">
                <a:solidFill>
                  <a:srgbClr val="000000"/>
                </a:solidFill>
                <a:latin typeface="F45"/>
              </a:rPr>
              <a:t>0 est interdit, 255 est réservé pour </a:t>
            </a:r>
            <a:r>
              <a:rPr lang="fr-CH" sz="1600" dirty="0">
                <a:solidFill>
                  <a:srgbClr val="000000"/>
                </a:solidFill>
                <a:latin typeface="F65"/>
              </a:rPr>
              <a:t>broadcast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 err="1">
                <a:solidFill>
                  <a:srgbClr val="000000"/>
                </a:solidFill>
                <a:latin typeface="F17"/>
              </a:rPr>
              <a:t>Subnet</a:t>
            </a:r>
            <a:r>
              <a:rPr lang="fr-CH" sz="2400" dirty="0">
                <a:solidFill>
                  <a:srgbClr val="000000"/>
                </a:solidFill>
                <a:latin typeface="F17"/>
              </a:rPr>
              <a:t> </a:t>
            </a:r>
            <a:r>
              <a:rPr lang="fr-CH" sz="2400" dirty="0" err="1">
                <a:solidFill>
                  <a:srgbClr val="000000"/>
                </a:solidFill>
                <a:latin typeface="F17"/>
              </a:rPr>
              <a:t>mask</a:t>
            </a:r>
            <a:r>
              <a:rPr lang="fr-CH" sz="2400" dirty="0">
                <a:solidFill>
                  <a:srgbClr val="000000"/>
                </a:solidFill>
                <a:latin typeface="F17"/>
              </a:rPr>
              <a:t> : 4 bytes, un nombre de 1s suivi de 0s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H" dirty="0">
                <a:solidFill>
                  <a:srgbClr val="000000"/>
                </a:solidFill>
                <a:latin typeface="F46"/>
              </a:rPr>
              <a:t>Ex. b11111111.b11111111.b11110000.b00000000 = FF :FF :F0 :00 </a:t>
            </a:r>
            <a:br>
              <a:rPr lang="fr-CH" dirty="0">
                <a:solidFill>
                  <a:srgbClr val="000000"/>
                </a:solidFill>
                <a:latin typeface="F46"/>
              </a:rPr>
            </a:br>
            <a:r>
              <a:rPr lang="fr-CH" dirty="0">
                <a:solidFill>
                  <a:srgbClr val="000000"/>
                </a:solidFill>
                <a:latin typeface="F46"/>
              </a:rPr>
              <a:t>= 255.255.240.0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H" dirty="0">
                <a:solidFill>
                  <a:srgbClr val="000000"/>
                </a:solidFill>
                <a:latin typeface="F46"/>
              </a:rPr>
              <a:t>Chaque appareil accepte messages des appareils qui ont le même </a:t>
            </a:r>
            <a:br>
              <a:rPr lang="fr-CH" dirty="0">
                <a:solidFill>
                  <a:srgbClr val="000000"/>
                </a:solidFill>
                <a:latin typeface="F46"/>
              </a:rPr>
            </a:br>
            <a:r>
              <a:rPr lang="fr-CH" dirty="0">
                <a:solidFill>
                  <a:srgbClr val="000000"/>
                </a:solidFill>
                <a:latin typeface="F46"/>
              </a:rPr>
              <a:t>résultat </a:t>
            </a:r>
            <a:r>
              <a:rPr lang="fr-CH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subnet</a:t>
            </a:r>
            <a:r>
              <a:rPr lang="fr-CH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IP &amp; Mask</a:t>
            </a:r>
            <a:r>
              <a:rPr lang="fr-CH" dirty="0">
                <a:solidFill>
                  <a:srgbClr val="000000"/>
                </a:solidFill>
                <a:latin typeface="F48"/>
              </a:rPr>
              <a:t> </a:t>
            </a:r>
            <a:r>
              <a:rPr lang="fr-CH" dirty="0">
                <a:solidFill>
                  <a:srgbClr val="000000"/>
                </a:solidFill>
                <a:latin typeface="F46"/>
              </a:rPr>
              <a:t>(</a:t>
            </a:r>
            <a:r>
              <a:rPr lang="fr-CH" dirty="0" err="1">
                <a:solidFill>
                  <a:srgbClr val="000000"/>
                </a:solidFill>
                <a:latin typeface="F47"/>
              </a:rPr>
              <a:t>bitwise</a:t>
            </a:r>
            <a:r>
              <a:rPr lang="fr-CH" dirty="0">
                <a:solidFill>
                  <a:srgbClr val="000000"/>
                </a:solidFill>
                <a:latin typeface="F47"/>
              </a:rPr>
              <a:t> and</a:t>
            </a:r>
            <a:r>
              <a:rPr lang="fr-CH" dirty="0">
                <a:solidFill>
                  <a:srgbClr val="000000"/>
                </a:solidFill>
                <a:latin typeface="F46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H" dirty="0">
                <a:solidFill>
                  <a:srgbClr val="000000"/>
                </a:solidFill>
                <a:latin typeface="F46"/>
              </a:rPr>
              <a:t>Ex : 157.26.91.210/255.255.240.0 et 157.26.126.123/255.255.240.0</a:t>
            </a:r>
            <a:br>
              <a:rPr lang="fr-CH" dirty="0">
                <a:solidFill>
                  <a:srgbClr val="000000"/>
                </a:solidFill>
                <a:latin typeface="F46"/>
              </a:rPr>
            </a:br>
            <a:r>
              <a:rPr lang="fr-CH" dirty="0">
                <a:solidFill>
                  <a:srgbClr val="000000"/>
                </a:solidFill>
                <a:latin typeface="F46"/>
              </a:rPr>
              <a:t>dans même sous-réseau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H" dirty="0">
                <a:solidFill>
                  <a:srgbClr val="000000"/>
                </a:solidFill>
                <a:latin typeface="F46"/>
              </a:rPr>
              <a:t>Ex : 157.26.91.210/255.255.240.0 et 157.26.64.123/255.255.240.0 </a:t>
            </a:r>
            <a:br>
              <a:rPr lang="fr-CH" dirty="0">
                <a:solidFill>
                  <a:srgbClr val="000000"/>
                </a:solidFill>
                <a:latin typeface="F46"/>
              </a:rPr>
            </a:br>
            <a:r>
              <a:rPr lang="fr-CH" dirty="0">
                <a:solidFill>
                  <a:srgbClr val="000000"/>
                </a:solidFill>
                <a:latin typeface="F46"/>
              </a:rPr>
              <a:t>ne sont pas dans même sous-réseau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dirty="0" err="1">
                <a:solidFill>
                  <a:srgbClr val="000000"/>
                </a:solidFill>
                <a:latin typeface="F46"/>
              </a:rPr>
              <a:t>Subnet</a:t>
            </a:r>
            <a:r>
              <a:rPr lang="fr-CH" dirty="0">
                <a:solidFill>
                  <a:srgbClr val="000000"/>
                </a:solidFill>
                <a:latin typeface="F46"/>
              </a:rPr>
              <a:t> </a:t>
            </a:r>
            <a:r>
              <a:rPr lang="fr-CH" dirty="0" err="1">
                <a:solidFill>
                  <a:srgbClr val="000000"/>
                </a:solidFill>
                <a:latin typeface="F46"/>
              </a:rPr>
              <a:t>mask</a:t>
            </a:r>
            <a:r>
              <a:rPr lang="fr-CH" dirty="0">
                <a:solidFill>
                  <a:srgbClr val="000000"/>
                </a:solidFill>
                <a:latin typeface="F46"/>
              </a:rPr>
              <a:t> typique : 255.255.255.0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1500470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Configuration de la caméra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Avec un système défini, on peut sélectionner une caméra avec Capture Assistant</a:t>
            </a:r>
            <a:endParaRPr lang="en-US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15"/>
          <a:stretch/>
        </p:blipFill>
        <p:spPr>
          <a:xfrm>
            <a:off x="1115616" y="2852936"/>
            <a:ext cx="5112568" cy="3312368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6372200" y="2924944"/>
            <a:ext cx="2016224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err="1"/>
              <a:t>Acquire</a:t>
            </a:r>
            <a:r>
              <a:rPr lang="fr-CH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H" sz="1400" dirty="0" err="1"/>
              <a:t>Freerun</a:t>
            </a:r>
            <a:endParaRPr lang="fr-CH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H" sz="1400" dirty="0"/>
              <a:t>single </a:t>
            </a:r>
            <a:r>
              <a:rPr lang="fr-CH" sz="1400" dirty="0" err="1"/>
              <a:t>shot</a:t>
            </a:r>
            <a:endParaRPr lang="en-US" sz="1400" dirty="0"/>
          </a:p>
        </p:txBody>
      </p:sp>
      <p:cxnSp>
        <p:nvCxnSpPr>
          <p:cNvPr id="7" name="Connecteur droit avec flèche 6"/>
          <p:cNvCxnSpPr/>
          <p:nvPr/>
        </p:nvCxnSpPr>
        <p:spPr>
          <a:xfrm flipH="1">
            <a:off x="4391552" y="3140968"/>
            <a:ext cx="1980648" cy="1440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6372200" y="4366752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err="1"/>
              <a:t>Feature</a:t>
            </a:r>
            <a:r>
              <a:rPr lang="fr-CH" dirty="0"/>
              <a:t> browser</a:t>
            </a:r>
          </a:p>
          <a:p>
            <a:r>
              <a:rPr lang="fr-CH" sz="1400" dirty="0"/>
              <a:t>via </a:t>
            </a:r>
            <a:r>
              <a:rPr lang="fr-CH" sz="1400" dirty="0" err="1"/>
              <a:t>Gen</a:t>
            </a:r>
            <a:r>
              <a:rPr lang="fr-CH" sz="1400" dirty="0"/>
              <a:t>&lt;I&gt;Cam</a:t>
            </a:r>
            <a:endParaRPr lang="en-US" sz="1400" dirty="0"/>
          </a:p>
        </p:txBody>
      </p:sp>
      <p:cxnSp>
        <p:nvCxnSpPr>
          <p:cNvPr id="10" name="Connecteur droit avec flèche 9"/>
          <p:cNvCxnSpPr/>
          <p:nvPr/>
        </p:nvCxnSpPr>
        <p:spPr>
          <a:xfrm flipH="1" flipV="1">
            <a:off x="4644008" y="3403050"/>
            <a:ext cx="1800200" cy="11060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574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Configuration de la caméra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400" dirty="0" err="1"/>
              <a:t>Feature</a:t>
            </a:r>
            <a:r>
              <a:rPr lang="fr-CH" sz="2400" dirty="0"/>
              <a:t> browser</a:t>
            </a:r>
            <a:endParaRPr lang="en-US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47" y="2636912"/>
            <a:ext cx="2476500" cy="346233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587" y="2636912"/>
            <a:ext cx="2476500" cy="346233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127" y="2636912"/>
            <a:ext cx="3262313" cy="346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305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Configuration de la caméra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H" sz="2400" dirty="0"/>
              <a:t>Allocation (réservation) et configuration caméra</a:t>
            </a:r>
            <a:endParaRPr lang="en-US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231" y="2776491"/>
            <a:ext cx="5236641" cy="338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200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Camera </a:t>
            </a:r>
            <a:r>
              <a:rPr lang="fr-CH" dirty="0" err="1"/>
              <a:t>Step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Acquiert (reçoit) une image  à chaque </a:t>
            </a:r>
            <a:r>
              <a:rPr lang="fr-CH" sz="2400" dirty="0" err="1"/>
              <a:t>run</a:t>
            </a:r>
            <a:endParaRPr lang="fr-CH" sz="2400" dirty="0"/>
          </a:p>
          <a:p>
            <a:pPr lvl="1"/>
            <a:r>
              <a:rPr lang="fr-CH" sz="2000" dirty="0"/>
              <a:t>Si caméra a pris</a:t>
            </a:r>
            <a:br>
              <a:rPr lang="fr-CH" sz="2000" dirty="0"/>
            </a:br>
            <a:r>
              <a:rPr lang="fr-CH" sz="2000" dirty="0"/>
              <a:t>une image</a:t>
            </a:r>
            <a:br>
              <a:rPr lang="fr-CH" sz="2000" dirty="0"/>
            </a:br>
            <a:r>
              <a:rPr lang="fr-CH" sz="2000" dirty="0"/>
              <a:t>(voir configuration</a:t>
            </a:r>
            <a:br>
              <a:rPr lang="fr-CH" sz="2000" dirty="0"/>
            </a:br>
            <a:r>
              <a:rPr lang="fr-CH" sz="2000" dirty="0"/>
              <a:t>du trigger)</a:t>
            </a:r>
          </a:p>
          <a:p>
            <a:endParaRPr lang="fr-CH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600" dirty="0">
                <a:solidFill>
                  <a:schemeClr val="tx1"/>
                </a:solidFill>
              </a:rPr>
              <a:t>Plusieurs acquisitions </a:t>
            </a:r>
            <a:br>
              <a:rPr lang="fr-CH" sz="1600" dirty="0">
                <a:solidFill>
                  <a:schemeClr val="tx1"/>
                </a:solidFill>
              </a:rPr>
            </a:br>
            <a:r>
              <a:rPr lang="fr-CH" sz="1600" dirty="0">
                <a:solidFill>
                  <a:schemeClr val="tx1"/>
                </a:solidFill>
              </a:rPr>
              <a:t>(</a:t>
            </a:r>
            <a:r>
              <a:rPr lang="fr-CH" sz="1600" dirty="0" err="1">
                <a:solidFill>
                  <a:schemeClr val="tx1"/>
                </a:solidFill>
              </a:rPr>
              <a:t>steps</a:t>
            </a:r>
            <a:r>
              <a:rPr lang="fr-CH" sz="1600" dirty="0">
                <a:solidFill>
                  <a:schemeClr val="tx1"/>
                </a:solidFill>
              </a:rPr>
              <a:t>) sont possibles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H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600" dirty="0">
                <a:solidFill>
                  <a:schemeClr val="tx1"/>
                </a:solidFill>
              </a:rPr>
              <a:t>Plusieurs caméras aussi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H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H" sz="1600" dirty="0">
                <a:solidFill>
                  <a:schemeClr val="tx1"/>
                </a:solidFill>
              </a:rPr>
              <a:t>Camera Live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63" b="7839"/>
          <a:stretch/>
        </p:blipFill>
        <p:spPr>
          <a:xfrm>
            <a:off x="3463715" y="2492896"/>
            <a:ext cx="4909789" cy="3683637"/>
          </a:xfrm>
          <a:prstGeom prst="rect">
            <a:avLst/>
          </a:prstGeom>
        </p:spPr>
      </p:pic>
      <p:cxnSp>
        <p:nvCxnSpPr>
          <p:cNvPr id="6" name="Connecteur droit avec flèche 5"/>
          <p:cNvCxnSpPr/>
          <p:nvPr/>
        </p:nvCxnSpPr>
        <p:spPr>
          <a:xfrm flipV="1">
            <a:off x="2051720" y="2852936"/>
            <a:ext cx="3456384" cy="29523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243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CameraSettings</a:t>
            </a:r>
            <a:r>
              <a:rPr lang="fr-CH" dirty="0"/>
              <a:t> </a:t>
            </a:r>
            <a:r>
              <a:rPr lang="fr-CH" dirty="0" err="1"/>
              <a:t>Step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400" dirty="0"/>
              <a:t>Réglages programmatiques la caméra</a:t>
            </a:r>
          </a:p>
          <a:p>
            <a:pPr lvl="1"/>
            <a:r>
              <a:rPr lang="fr-CH" sz="2000" dirty="0"/>
              <a:t>Réglages actualisés </a:t>
            </a:r>
            <a:br>
              <a:rPr lang="fr-CH" sz="2000" dirty="0"/>
            </a:br>
            <a:r>
              <a:rPr lang="fr-CH" sz="2000" dirty="0"/>
              <a:t>à chaque </a:t>
            </a:r>
            <a:r>
              <a:rPr lang="fr-CH" sz="2000" i="1" dirty="0" err="1"/>
              <a:t>run</a:t>
            </a:r>
            <a:endParaRPr lang="en-US" sz="2000" i="1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188"/>
          <a:stretch/>
        </p:blipFill>
        <p:spPr>
          <a:xfrm>
            <a:off x="4211960" y="2459768"/>
            <a:ext cx="4176464" cy="380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68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 err="1"/>
              <a:t>CameraSettings</a:t>
            </a:r>
            <a:r>
              <a:rPr lang="fr-CH" dirty="0"/>
              <a:t> </a:t>
            </a:r>
            <a:r>
              <a:rPr lang="fr-CH" dirty="0" err="1"/>
              <a:t>Step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400" dirty="0"/>
              <a:t>Réglages possibles via </a:t>
            </a:r>
            <a:r>
              <a:rPr lang="fr-CH" sz="2400" dirty="0" err="1"/>
              <a:t>Feature</a:t>
            </a:r>
            <a:r>
              <a:rPr lang="fr-CH" sz="2400" dirty="0"/>
              <a:t> Browser</a:t>
            </a:r>
          </a:p>
          <a:p>
            <a:pPr lvl="1"/>
            <a:r>
              <a:rPr lang="fr-CH" sz="2000" dirty="0"/>
              <a:t>Bouton «Edit GenICam </a:t>
            </a:r>
            <a:r>
              <a:rPr lang="fr-CH" sz="2000" dirty="0" err="1"/>
              <a:t>Features</a:t>
            </a:r>
            <a:r>
              <a:rPr lang="fr-CH" sz="2000" dirty="0"/>
              <a:t>»</a:t>
            </a:r>
            <a:endParaRPr lang="en-US" sz="2000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00" r="71262" b="16400"/>
          <a:stretch/>
        </p:blipFill>
        <p:spPr>
          <a:xfrm>
            <a:off x="576064" y="3681028"/>
            <a:ext cx="2627784" cy="93610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00" r="48425" b="3801"/>
          <a:stretch/>
        </p:blipFill>
        <p:spPr>
          <a:xfrm>
            <a:off x="3635896" y="2996952"/>
            <a:ext cx="4716016" cy="1584176"/>
          </a:xfrm>
          <a:prstGeom prst="rect">
            <a:avLst/>
          </a:prstGeom>
        </p:spPr>
      </p:pic>
      <p:cxnSp>
        <p:nvCxnSpPr>
          <p:cNvPr id="9" name="Connecteur droit avec flèche 8"/>
          <p:cNvCxnSpPr/>
          <p:nvPr/>
        </p:nvCxnSpPr>
        <p:spPr>
          <a:xfrm flipV="1">
            <a:off x="3053823" y="3465004"/>
            <a:ext cx="510065" cy="540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400" r="47637" b="8000"/>
          <a:stretch/>
        </p:blipFill>
        <p:spPr>
          <a:xfrm>
            <a:off x="3599892" y="4763310"/>
            <a:ext cx="4788024" cy="1368152"/>
          </a:xfrm>
          <a:prstGeom prst="rect">
            <a:avLst/>
          </a:prstGeom>
        </p:spPr>
      </p:pic>
      <p:cxnSp>
        <p:nvCxnSpPr>
          <p:cNvPr id="12" name="Connecteur droit avec flèche 11"/>
          <p:cNvCxnSpPr/>
          <p:nvPr/>
        </p:nvCxnSpPr>
        <p:spPr>
          <a:xfrm>
            <a:off x="4499992" y="4005064"/>
            <a:ext cx="144016" cy="12241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47"/>
          <a:stretch/>
        </p:blipFill>
        <p:spPr>
          <a:xfrm>
            <a:off x="804106" y="2830410"/>
            <a:ext cx="2171700" cy="333084"/>
          </a:xfrm>
          <a:prstGeom prst="rect">
            <a:avLst/>
          </a:prstGeom>
        </p:spPr>
      </p:pic>
      <p:cxnSp>
        <p:nvCxnSpPr>
          <p:cNvPr id="16" name="Connecteur droit avec flèche 15"/>
          <p:cNvCxnSpPr/>
          <p:nvPr/>
        </p:nvCxnSpPr>
        <p:spPr>
          <a:xfrm flipH="1">
            <a:off x="1691680" y="3152231"/>
            <a:ext cx="864096" cy="7808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666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Trigger </a:t>
            </a:r>
            <a:r>
              <a:rPr lang="fr-CH" dirty="0" err="1"/>
              <a:t>Step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Génère un trigger</a:t>
            </a:r>
            <a:br>
              <a:rPr lang="fr-CH" sz="2400" dirty="0"/>
            </a:br>
            <a:r>
              <a:rPr lang="fr-CH" sz="2400" dirty="0"/>
              <a:t>pour la caméra</a:t>
            </a:r>
          </a:p>
          <a:p>
            <a:pPr lvl="1"/>
            <a:r>
              <a:rPr lang="fr-CH" sz="2000" dirty="0"/>
              <a:t>SW, HW</a:t>
            </a:r>
          </a:p>
          <a:p>
            <a:pPr lvl="1"/>
            <a:endParaRPr lang="fr-CH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400" dirty="0"/>
              <a:t>Doit être placé</a:t>
            </a:r>
            <a:br>
              <a:rPr lang="fr-CH" sz="2400" dirty="0"/>
            </a:br>
            <a:r>
              <a:rPr lang="fr-CH" sz="2400" dirty="0"/>
              <a:t>avant acquisition</a:t>
            </a:r>
            <a:endParaRPr lang="en-US" sz="24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63" b="20601"/>
          <a:stretch/>
        </p:blipFill>
        <p:spPr>
          <a:xfrm>
            <a:off x="3456384" y="2079282"/>
            <a:ext cx="4932040" cy="408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326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Acquisition en rafale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Dans certains cas le traitement ne peut pas suivre la prise d’images. Dans ce cas, on prend une rafale d’images qu’on gardera en mémoire pour traiter postérieurement.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sz="1600" dirty="0"/>
              <a:t>On ne peut pas sauvegarder les images en disque, parce que l’écriture est très lente, en général plus lente que le traitement.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En DA on sauvegarde les images en mémoire en les stockant dans un tableau d’images (variable de type </a:t>
            </a:r>
            <a:r>
              <a:rPr lang="fr-CH" sz="2000" i="1" dirty="0"/>
              <a:t>Image </a:t>
            </a:r>
            <a:r>
              <a:rPr lang="fr-CH" sz="2000" i="1" dirty="0" err="1"/>
              <a:t>array</a:t>
            </a:r>
            <a:r>
              <a:rPr lang="fr-CH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Dans Platform Settings -&gt; camera, il faudra ajuster la taille de la queue d’images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sz="1600" dirty="0"/>
              <a:t>Voir dans l’aide en ligne (F1)</a:t>
            </a:r>
          </a:p>
          <a:p>
            <a:pPr lvl="1" indent="0">
              <a:buNone/>
            </a:pPr>
            <a:r>
              <a:rPr lang="fr-CH" sz="1600" dirty="0"/>
              <a:t>«</a:t>
            </a:r>
            <a:r>
              <a:rPr lang="en-US" sz="1600" b="1" dirty="0"/>
              <a:t>Continuous grab mode with image queues”</a:t>
            </a:r>
            <a:r>
              <a:rPr lang="fr-CH" sz="1600" dirty="0"/>
              <a:t> </a:t>
            </a:r>
          </a:p>
          <a:p>
            <a:pPr lvl="1" indent="0">
              <a:buNone/>
            </a:pPr>
            <a:endParaRPr lang="fr-CH" sz="1600" dirty="0"/>
          </a:p>
          <a:p>
            <a:r>
              <a:rPr lang="fr-CH" sz="1400" dirty="0">
                <a:solidFill>
                  <a:schemeClr val="tx1"/>
                </a:solidFill>
              </a:rPr>
              <a:t>Note: La queue est fonctionnelle seulement en mode déployé (runtime)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181" y="4623136"/>
            <a:ext cx="1721371" cy="178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35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BBF4164-D011-4B61-B78F-E2DDE7C664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Acquisition en rafale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30AF8F-EA60-469E-8391-9C070EA03F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CH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E138184-EBFE-4509-9E18-C56BFF274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059200"/>
            <a:ext cx="4440957" cy="171953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06EA2D6F-B4DA-4AE6-9B41-ACFD69763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446" y="4221088"/>
            <a:ext cx="4479131" cy="1864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49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Acquisition en rafale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540000" y="2059200"/>
            <a:ext cx="5540608" cy="4104000"/>
          </a:xfrm>
        </p:spPr>
        <p:txBody>
          <a:bodyPr/>
          <a:lstStyle/>
          <a:p>
            <a:r>
              <a:rPr lang="fr-CH" sz="2000" dirty="0"/>
              <a:t>Exemple: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Une boucle d’acquisition avec simple prise d’image et stockage par ajout dans la variable (</a:t>
            </a:r>
            <a:r>
              <a:rPr lang="fr-CH" sz="2000" dirty="0" err="1"/>
              <a:t>ici</a:t>
            </a:r>
            <a:r>
              <a:rPr lang="fr-CH" sz="2000" i="1" dirty="0" err="1"/>
              <a:t>Tableauimage</a:t>
            </a:r>
            <a:r>
              <a:rPr lang="fr-CH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Ensuite vient la boucle de traitement des images du </a:t>
            </a:r>
            <a:r>
              <a:rPr lang="fr-CH" sz="2000" dirty="0" err="1"/>
              <a:t>tableu</a:t>
            </a:r>
            <a:endParaRPr lang="fr-CH" sz="20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608" y="2083361"/>
            <a:ext cx="2162944" cy="441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494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Acquisition en rafale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000" dirty="0"/>
              <a:t>L’acquisition en rafale peut être amélioré avec des réglages de la caméra: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Minimiser le temps d’exposition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fr-CH" sz="1600" dirty="0"/>
              <a:t>Soit dans Platform Settings-&gt;Camera (une fois pour tout le programme), soit dans un </a:t>
            </a:r>
            <a:r>
              <a:rPr lang="fr-CH" sz="1600" dirty="0" err="1"/>
              <a:t>step</a:t>
            </a:r>
            <a:r>
              <a:rPr lang="fr-CH" sz="1600" dirty="0"/>
              <a:t> </a:t>
            </a:r>
            <a:r>
              <a:rPr lang="fr-CH" sz="1600" dirty="0" err="1"/>
              <a:t>CameraSettings</a:t>
            </a:r>
            <a:r>
              <a:rPr lang="fr-CH" sz="1600" dirty="0"/>
              <a:t> (si variable)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927" y="4293096"/>
            <a:ext cx="3911775" cy="159624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80" y="4295917"/>
            <a:ext cx="3468567" cy="158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10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H" dirty="0"/>
              <a:t>Acquisition en rafale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CH" sz="2000" dirty="0"/>
              <a:t>Certaines caméras (</a:t>
            </a:r>
            <a:r>
              <a:rPr lang="fr-CH" sz="2000" dirty="0" err="1"/>
              <a:t>notemment</a:t>
            </a:r>
            <a:r>
              <a:rPr lang="fr-CH" sz="2000" dirty="0"/>
              <a:t> SVS et </a:t>
            </a:r>
            <a:r>
              <a:rPr lang="fr-CH" sz="2000" dirty="0" err="1"/>
              <a:t>Basler</a:t>
            </a:r>
            <a:r>
              <a:rPr lang="fr-CH" sz="2000" dirty="0"/>
              <a:t>) peuvent être configurées pour travailler en rafale (</a:t>
            </a:r>
            <a:r>
              <a:rPr lang="fr-CH" sz="2000" dirty="0" err="1"/>
              <a:t>Burst</a:t>
            </a:r>
            <a:r>
              <a:rPr lang="fr-CH" sz="2000" dirty="0"/>
              <a:t> or </a:t>
            </a:r>
            <a:r>
              <a:rPr lang="fr-CH" sz="2000" dirty="0" err="1"/>
              <a:t>Sequence</a:t>
            </a:r>
            <a:r>
              <a:rPr lang="fr-CH" sz="2000" dirty="0"/>
              <a:t> mode), avec des une longueur de rafale et des réglages particuliers.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Voir le manuel de la caméra concernée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CH" sz="2000" dirty="0"/>
              <a:t>Dans DA, c’est le </a:t>
            </a:r>
            <a:r>
              <a:rPr lang="fr-CH" sz="2000" dirty="0" err="1"/>
              <a:t>step</a:t>
            </a:r>
            <a:r>
              <a:rPr lang="fr-CH" sz="2000" dirty="0"/>
              <a:t> </a:t>
            </a:r>
            <a:r>
              <a:rPr lang="fr-CH" sz="2000" dirty="0" err="1"/>
              <a:t>CameraSettings</a:t>
            </a:r>
            <a:r>
              <a:rPr lang="fr-CH" sz="2000" dirty="0"/>
              <a:t> (sous «Edit </a:t>
            </a:r>
            <a:r>
              <a:rPr lang="fr-CH" sz="2000" dirty="0" err="1"/>
              <a:t>GenICam</a:t>
            </a:r>
            <a:r>
              <a:rPr lang="fr-CH" sz="2000" dirty="0"/>
              <a:t> </a:t>
            </a:r>
            <a:r>
              <a:rPr lang="fr-CH" sz="2000" dirty="0" err="1"/>
              <a:t>features</a:t>
            </a:r>
            <a:r>
              <a:rPr lang="fr-CH" sz="2000" dirty="0"/>
              <a:t>») qui permet de régler les attributs (paramètres) de la caméra. Les attributs et options varient avec la caméra.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4509121"/>
            <a:ext cx="5444678" cy="165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2064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Arc 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Arc ING</Template>
  <TotalTime>332</TotalTime>
  <Words>578</Words>
  <Application>Microsoft Office PowerPoint</Application>
  <PresentationFormat>Affichage à l'écran (4:3)</PresentationFormat>
  <Paragraphs>82</Paragraphs>
  <Slides>18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34" baseType="lpstr">
      <vt:lpstr>ＭＳ Ｐゴシック</vt:lpstr>
      <vt:lpstr>Arial</vt:lpstr>
      <vt:lpstr>Calibri</vt:lpstr>
      <vt:lpstr>Courier New</vt:lpstr>
      <vt:lpstr>F17</vt:lpstr>
      <vt:lpstr>F18</vt:lpstr>
      <vt:lpstr>F20</vt:lpstr>
      <vt:lpstr>F45</vt:lpstr>
      <vt:lpstr>F46</vt:lpstr>
      <vt:lpstr>F47</vt:lpstr>
      <vt:lpstr>F48</vt:lpstr>
      <vt:lpstr>F60</vt:lpstr>
      <vt:lpstr>F65</vt:lpstr>
      <vt:lpstr>Tahoma</vt:lpstr>
      <vt:lpstr>Wingdings</vt:lpstr>
      <vt:lpstr>Presentation Arc ING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Haute Ecole Arc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Lopez De Meneses Yuri</dc:creator>
  <cp:lastModifiedBy>Lopez De Meneses Yuri</cp:lastModifiedBy>
  <cp:revision>23</cp:revision>
  <dcterms:created xsi:type="dcterms:W3CDTF">2017-03-15T08:31:11Z</dcterms:created>
  <dcterms:modified xsi:type="dcterms:W3CDTF">2019-10-22T12:13:05Z</dcterms:modified>
</cp:coreProperties>
</file>