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4" r:id="rId5"/>
    <p:sldId id="272" r:id="rId6"/>
    <p:sldId id="275" r:id="rId7"/>
    <p:sldId id="273" r:id="rId8"/>
    <p:sldId id="274" r:id="rId9"/>
  </p:sldIdLst>
  <p:sldSz cx="13439775" cy="7559675"/>
  <p:notesSz cx="6797675" cy="9926638"/>
  <p:defaultTextStyle>
    <a:defPPr>
      <a:defRPr lang="fr-FR"/>
    </a:defPPr>
    <a:lvl1pPr marL="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5" userDrawn="1">
          <p15:clr>
            <a:srgbClr val="A4A3A4"/>
          </p15:clr>
        </p15:guide>
        <p15:guide id="2" pos="585" userDrawn="1">
          <p15:clr>
            <a:srgbClr val="A4A3A4"/>
          </p15:clr>
        </p15:guide>
        <p15:guide id="3" pos="37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7" autoAdjust="0"/>
    <p:restoredTop sz="94643" autoAdjust="0"/>
  </p:normalViewPr>
  <p:slideViewPr>
    <p:cSldViewPr>
      <p:cViewPr varScale="1">
        <p:scale>
          <a:sx n="101" d="100"/>
          <a:sy n="101" d="100"/>
        </p:scale>
        <p:origin x="594" y="120"/>
      </p:cViewPr>
      <p:guideLst>
        <p:guide orient="horz" pos="1655"/>
        <p:guide pos="585"/>
        <p:guide pos="37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94FB5-C202-4B63-B1D6-C4202D7D1139}" type="datetimeFigureOut">
              <a:rPr lang="de-CH" smtClean="0"/>
              <a:t>01.10.2024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FB8E8-A79E-4FBB-8FA9-E88034DDC09A}" type="slidenum">
              <a:rPr lang="de-CH" smtClean="0"/>
              <a:t>‹N°›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0597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C87A5-EC57-48A1-98F4-0C433332F050}" type="datetimeFigureOut">
              <a:rPr lang="fr-CH" smtClean="0"/>
              <a:t>01.10.2024</a:t>
            </a:fld>
            <a:endParaRPr lang="fr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9751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AB757-58AB-499D-A9D3-311C05BD52E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870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uil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88000"/>
            <a:ext cx="13500000" cy="56881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CH" sz="1100" smtClean="0">
                <a:effectLst/>
              </a:defRPr>
            </a:lvl1pPr>
          </a:lstStyle>
          <a:p>
            <a:r>
              <a:rPr lang="fr-CH" dirty="0"/>
              <a:t>Image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745886" y="3985201"/>
            <a:ext cx="11735039" cy="873213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5400" b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6" y="6948189"/>
            <a:ext cx="1107509" cy="2880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5207794" y="7050607"/>
            <a:ext cx="3024187" cy="401638"/>
          </a:xfrm>
        </p:spPr>
        <p:txBody>
          <a:bodyPr/>
          <a:lstStyle>
            <a:lvl1pPr algn="ctr">
              <a:defRPr/>
            </a:lvl1pPr>
          </a:lstStyle>
          <a:p>
            <a:fld id="{32B1E097-842E-4A65-BD31-5DCB95822435}" type="slidenum">
              <a:rPr lang="fr-CH" smtClean="0"/>
              <a:pPr/>
              <a:t>‹N°›</a:t>
            </a:fld>
            <a:endParaRPr lang="fr-CH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uil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736805" y="3707829"/>
            <a:ext cx="11744120" cy="794466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5400" b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sp>
        <p:nvSpPr>
          <p:cNvPr id="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0" y="1188000"/>
            <a:ext cx="13680000" cy="1584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707173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6" y="6948189"/>
            <a:ext cx="1107509" cy="2880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10503" y="2915742"/>
            <a:ext cx="8889704" cy="396877"/>
          </a:xfrm>
          <a:prstGeom prst="rect">
            <a:avLst/>
          </a:prstGeom>
        </p:spPr>
        <p:txBody>
          <a:bodyPr/>
          <a:lstStyle>
            <a:lvl1pPr>
              <a:buNone/>
              <a:defRPr sz="2400" b="1" baseline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Titre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0503" y="3496131"/>
            <a:ext cx="8889704" cy="3020010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dirty="0"/>
              <a:t>Texte</a:t>
            </a:r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-1" y="1245600"/>
            <a:ext cx="13439775" cy="15696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negativ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2436" y="3563813"/>
            <a:ext cx="8813421" cy="28083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  <a:p>
            <a:pPr lvl="0"/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-2" y="1188000"/>
            <a:ext cx="13680000" cy="1584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5" name="Rechteck 4"/>
          <p:cNvSpPr/>
          <p:nvPr userDrawn="1"/>
        </p:nvSpPr>
        <p:spPr>
          <a:xfrm>
            <a:off x="-1" y="2771725"/>
            <a:ext cx="13439775" cy="5328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sz="2053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20015" y="2800508"/>
            <a:ext cx="8805842" cy="396877"/>
          </a:xfrm>
          <a:prstGeom prst="rect">
            <a:avLst/>
          </a:prstGeom>
        </p:spPr>
        <p:txBody>
          <a:bodyPr/>
          <a:lstStyle>
            <a:lvl1pPr>
              <a:buNone/>
              <a:defRPr sz="2400" b="1" baseline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Titre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303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24042" y="1257979"/>
            <a:ext cx="11756883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724041" y="2411685"/>
            <a:ext cx="3830865" cy="3672408"/>
          </a:xfrm>
          <a:prstGeom prst="rect">
            <a:avLst/>
          </a:prstGeom>
        </p:spPr>
        <p:txBody>
          <a:bodyPr/>
          <a:lstStyle>
            <a:lvl1pPr indent="-3600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2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736717" y="1239823"/>
            <a:ext cx="11744208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736717" y="2267669"/>
            <a:ext cx="11744208" cy="4523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 énumé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912251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énumération </a:t>
            </a:r>
            <a:endParaRPr lang="fr-CH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74689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600" b="1" baseline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9643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6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photo</a:t>
            </a:r>
            <a:endParaRPr lang="fr-CH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48157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3" hasCustomPrompt="1"/>
          </p:nvPr>
        </p:nvSpPr>
        <p:spPr>
          <a:xfrm>
            <a:off x="815231" y="2448157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Photo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4782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79" y="1238121"/>
            <a:ext cx="1095804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diagramme</a:t>
            </a:r>
            <a:endParaRPr lang="fr-CH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4" name="Diagrammplatzhalter 3"/>
          <p:cNvSpPr>
            <a:spLocks noGrp="1"/>
          </p:cNvSpPr>
          <p:nvPr>
            <p:ph type="chart" sz="quarter" idx="13" hasCustomPrompt="1"/>
          </p:nvPr>
        </p:nvSpPr>
        <p:spPr>
          <a:xfrm>
            <a:off x="836401" y="2411561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Diagramme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056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Exc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</a:t>
            </a:r>
            <a:r>
              <a:rPr lang="fr-FR" dirty="0" err="1"/>
              <a:t>excel</a:t>
            </a:r>
            <a:endParaRPr lang="fr-CH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3" hasCustomPrompt="1"/>
          </p:nvPr>
        </p:nvSpPr>
        <p:spPr>
          <a:xfrm>
            <a:off x="83640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Tableau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5280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média</a:t>
            </a:r>
            <a:endParaRPr lang="fr-CH" dirty="0"/>
          </a:p>
        </p:txBody>
      </p:sp>
      <p:sp>
        <p:nvSpPr>
          <p:cNvPr id="4" name="Medienplatzhalt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83640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Média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87320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Image Online</a:t>
            </a:r>
            <a:endParaRPr lang="fr-CH" dirty="0"/>
          </a:p>
        </p:txBody>
      </p:sp>
      <p:sp>
        <p:nvSpPr>
          <p:cNvPr id="3" name="Onlinebild-Platzhalter 2"/>
          <p:cNvSpPr>
            <a:spLocks noGrp="1"/>
          </p:cNvSpPr>
          <p:nvPr>
            <p:ph type="clipArt" sz="quarter" idx="13" hasCustomPrompt="1"/>
          </p:nvPr>
        </p:nvSpPr>
        <p:spPr>
          <a:xfrm>
            <a:off x="836401" y="2411561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Image Online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36904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gran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671215" y="1239823"/>
            <a:ext cx="11810626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Image seule</a:t>
            </a:r>
            <a:endParaRPr lang="fr-CH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836400" y="2339976"/>
            <a:ext cx="11645441" cy="460851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" y="1"/>
            <a:ext cx="13439775" cy="755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sz="2053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717" y="251362"/>
            <a:ext cx="3516810" cy="7488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>
          <a:xfrm>
            <a:off x="5207794" y="7050607"/>
            <a:ext cx="3024187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1E097-842E-4A65-BD31-5DCB95822435}" type="slidenum">
              <a:rPr lang="fr-CH" smtClean="0"/>
              <a:pPr/>
              <a:t>‹N°›</a:t>
            </a:fld>
            <a:endParaRPr lang="fr-CH" dirty="0"/>
          </a:p>
        </p:txBody>
      </p:sp>
      <p:pic>
        <p:nvPicPr>
          <p:cNvPr id="5" name="Picture 2" descr="C:\Users\delphine.vantiegh\Desktop\hessso.jpg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0527" y="7050607"/>
            <a:ext cx="720000" cy="30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8" r:id="rId4"/>
    <p:sldLayoutId id="2147483651" r:id="rId5"/>
    <p:sldLayoutId id="2147483655" r:id="rId6"/>
    <p:sldLayoutId id="2147483653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52" r:id="rId13"/>
    <p:sldLayoutId id="2147483656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04" userDrawn="1">
          <p15:clr>
            <a:srgbClr val="F26B43"/>
          </p15:clr>
        </p15:guide>
        <p15:guide id="2" pos="78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sz="2500" dirty="0"/>
              <a:t>TP Acquisition QFN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1600" dirty="0"/>
              <a:t>3-X-2023</a:t>
            </a:r>
          </a:p>
        </p:txBody>
      </p:sp>
      <p:pic>
        <p:nvPicPr>
          <p:cNvPr id="15" name="Bildplatzhalter 14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60" b="41260"/>
          <a:stretch>
            <a:fillRect/>
          </a:stretch>
        </p:blipFill>
        <p:spPr/>
      </p:pic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>
          <a:xfrm>
            <a:off x="5207794" y="7050607"/>
            <a:ext cx="3024187" cy="401638"/>
          </a:xfrm>
        </p:spPr>
        <p:txBody>
          <a:bodyPr/>
          <a:lstStyle/>
          <a:p>
            <a:pPr algn="ctr"/>
            <a:fld id="{32B1E097-842E-4A65-BD31-5DCB95822435}" type="slidenum">
              <a:rPr lang="fr-CH" smtClean="0"/>
              <a:pPr algn="ctr"/>
              <a:t>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6684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C37DB9E-C5C4-FD4C-05DB-3E6CAC9524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Acquisition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DC4C86-1C6E-DE57-CC80-78A50F32F3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6717" y="2267669"/>
            <a:ext cx="7711362" cy="45239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Inspection de </a:t>
            </a:r>
            <a:r>
              <a:rPr lang="fr-CH" dirty="0" err="1"/>
              <a:t>QFNs</a:t>
            </a:r>
            <a:r>
              <a:rPr lang="fr-CH" dirty="0"/>
              <a:t> de 6x6mm ou 4x4 mm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Prévoir </a:t>
            </a:r>
            <a:r>
              <a:rPr lang="fr-CH" dirty="0" err="1"/>
              <a:t>FoV</a:t>
            </a:r>
            <a:r>
              <a:rPr lang="fr-CH" dirty="0"/>
              <a:t> un peu plus grande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Cameras SVS Eco618 656 x 494 pixels, de taille 5.6 µm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Eclairage annulaire «influencer»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Arrière-plan carton gris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fr-CH" dirty="0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Faites les calculs optiques pour choisir l’objectif, bague et distances.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A884FD-0C70-A7D0-BFFB-62E7A9D2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2</a:t>
            </a:fld>
            <a:endParaRPr lang="fr-CH"/>
          </a:p>
        </p:txBody>
      </p:sp>
      <p:pic>
        <p:nvPicPr>
          <p:cNvPr id="6" name="Image 5" descr="Une image contenant Rectangle, cadre&#10;&#10;Description générée automatiquement">
            <a:extLst>
              <a:ext uri="{FF2B5EF4-FFF2-40B4-BE49-F238E27FC236}">
                <a16:creationId xmlns:a16="http://schemas.microsoft.com/office/drawing/2014/main" id="{5162F3EF-8F5A-5535-28E9-82253018B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143" y="1691605"/>
            <a:ext cx="3040990" cy="2290013"/>
          </a:xfrm>
          <a:prstGeom prst="rect">
            <a:avLst/>
          </a:prstGeom>
        </p:spPr>
      </p:pic>
      <p:pic>
        <p:nvPicPr>
          <p:cNvPr id="8" name="Image 7" descr="Une image contenant noir et blanc, Rectangle&#10;&#10;Description générée automatiquement">
            <a:extLst>
              <a:ext uri="{FF2B5EF4-FFF2-40B4-BE49-F238E27FC236}">
                <a16:creationId xmlns:a16="http://schemas.microsoft.com/office/drawing/2014/main" id="{D9CA1CAC-D14E-4417-99F7-BFC32264B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143" y="4433400"/>
            <a:ext cx="3040990" cy="229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62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27A4DE2-0399-A75F-B0CE-41E0F2492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Qualité d’image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98D9AB-BB2F-69B8-2FE4-71A9328FB3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On va focaliser sur la qualité d’image en termes 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Field of Vue doit contenir la pièce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Netteté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Contraste: bonne variation sombre/clair, bords distinguables de l’arrière-plan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Pas de pixels </a:t>
            </a:r>
            <a:r>
              <a:rPr lang="fr-CH" u="sng" dirty="0"/>
              <a:t>saturés</a:t>
            </a:r>
            <a:r>
              <a:rPr lang="fr-CH" dirty="0"/>
              <a:t> (à valeur 255)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AFDAAC-9780-FDB2-3AD4-C82DCA40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9020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174ECD5-30FF-8EC5-1C20-7EA667C0B4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Capture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3E0BAF-383D-1F00-639E-E3A2605E14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Sauvegardez plusieurs images, avec les pièces à différentes positions et orientations.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10 images de côté «pads» (bougez </a:t>
            </a:r>
            <a:r>
              <a:rPr lang="fr-CH"/>
              <a:t>et tournez </a:t>
            </a:r>
            <a:r>
              <a:rPr lang="fr-CH" dirty="0"/>
              <a:t>les pièces entre </a:t>
            </a:r>
            <a:r>
              <a:rPr lang="fr-CH"/>
              <a:t>chaque image)</a:t>
            </a:r>
            <a:endParaRPr lang="fr-CH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3 images de grilles de calibration (prises après les pièces et dans les mêmes réglages optiques, mais pas forcément </a:t>
            </a:r>
            <a:r>
              <a:rPr lang="fr-CH" dirty="0" err="1"/>
              <a:t>Texposition</a:t>
            </a:r>
            <a:r>
              <a:rPr lang="fr-CH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5 images de côté marquage (l’éclairage peut être différent)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  <a:p>
            <a:r>
              <a:rPr lang="fr-CH" dirty="0"/>
              <a:t>Vous pouvez sauvegarder manuellement (right-click sur   ) </a:t>
            </a:r>
            <a:br>
              <a:rPr lang="fr-CH" dirty="0"/>
            </a:br>
            <a:r>
              <a:rPr lang="fr-CH" dirty="0"/>
              <a:t>ou automatiquement (</a:t>
            </a:r>
            <a:r>
              <a:rPr lang="fr-CH" dirty="0" err="1"/>
              <a:t>step</a:t>
            </a:r>
            <a:r>
              <a:rPr lang="fr-CH" dirty="0"/>
              <a:t> </a:t>
            </a:r>
            <a:r>
              <a:rPr lang="fr-CH" dirty="0" err="1"/>
              <a:t>ImageWriter</a:t>
            </a:r>
            <a:r>
              <a:rPr lang="fr-CH" dirty="0"/>
              <a:t>    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D0F65D-B50D-DC17-8609-1C5116FD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4</a:t>
            </a:fld>
            <a:endParaRPr lang="fr-CH"/>
          </a:p>
        </p:txBody>
      </p:sp>
      <p:pic>
        <p:nvPicPr>
          <p:cNvPr id="6" name="Image 5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9FEE9F11-2B16-5C97-B143-CB0E82CBB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25" t="45724" b="13658"/>
          <a:stretch/>
        </p:blipFill>
        <p:spPr>
          <a:xfrm>
            <a:off x="8374528" y="5405088"/>
            <a:ext cx="1841350" cy="1620660"/>
          </a:xfrm>
          <a:prstGeom prst="rect">
            <a:avLst/>
          </a:prstGeom>
        </p:spPr>
      </p:pic>
      <p:pic>
        <p:nvPicPr>
          <p:cNvPr id="8" name="Image 7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9EB4D9A7-C4FC-1B58-CACD-8814C51AC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2" r="62458" b="53207"/>
          <a:stretch/>
        </p:blipFill>
        <p:spPr>
          <a:xfrm>
            <a:off x="10504109" y="5405088"/>
            <a:ext cx="1688585" cy="110698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B4B90725-170E-4D3D-3750-74938807DE2F}"/>
              </a:ext>
            </a:extLst>
          </p:cNvPr>
          <p:cNvSpPr/>
          <p:nvPr/>
        </p:nvSpPr>
        <p:spPr>
          <a:xfrm>
            <a:off x="9187191" y="6209961"/>
            <a:ext cx="216024" cy="4262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FCF6902-FE6A-D36C-B9DA-093A2CE9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071" y="5003973"/>
            <a:ext cx="205758" cy="213378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F3FF817-11F8-5522-C21D-A487954BE6EF}"/>
              </a:ext>
            </a:extLst>
          </p:cNvPr>
          <p:cNvCxnSpPr/>
          <p:nvPr/>
        </p:nvCxnSpPr>
        <p:spPr>
          <a:xfrm flipV="1">
            <a:off x="10032255" y="5405088"/>
            <a:ext cx="576064" cy="1386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5451769F-0E1F-BC30-3362-48104BCCC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554" y="5217351"/>
            <a:ext cx="404462" cy="43072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9B0B875-D3D7-A3EC-732E-0BDAF07E20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48" y="5811397"/>
            <a:ext cx="4765097" cy="144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3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1D024CE-51F4-52B7-4741-49FB766780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Analyse d’image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399E55-DA74-9724-B092-9364DAAECC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Projet d’analyse du coté pattes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Calibration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Détection de la pièce (où qu’elle se trouve sur l’image)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Comptage du nombre de pattes de chaque coté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Détection de l’orientation (0°/90°/180°/270°) selon marque pin1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A47299-B4D2-B323-A486-91870C67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1934991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">
  <a:themeElements>
    <a:clrScheme name="ARC">
      <a:dk1>
        <a:srgbClr val="FF0000"/>
      </a:dk1>
      <a:lt1>
        <a:sysClr val="window" lastClr="FFFFFF"/>
      </a:lt1>
      <a:dk2>
        <a:srgbClr val="87888A"/>
      </a:dk2>
      <a:lt2>
        <a:srgbClr val="FFFFFF"/>
      </a:lt2>
      <a:accent1>
        <a:srgbClr val="FF0000"/>
      </a:accent1>
      <a:accent2>
        <a:srgbClr val="EF8214"/>
      </a:accent2>
      <a:accent3>
        <a:srgbClr val="E60062"/>
      </a:accent3>
      <a:accent4>
        <a:srgbClr val="008AC9"/>
      </a:accent4>
      <a:accent5>
        <a:srgbClr val="7BAA20"/>
      </a:accent5>
      <a:accent6>
        <a:srgbClr val="87888A"/>
      </a:accent6>
      <a:hlink>
        <a:srgbClr val="0000FF"/>
      </a:hlink>
      <a:folHlink>
        <a:srgbClr val="800080"/>
      </a:folHlink>
    </a:clrScheme>
    <a:fontScheme name="ARC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C625C85-1FB1-436E-AB53-074293AD4627}" vid="{F7C4FF43-EB88-4BC7-A9E2-74D6983698D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D6563C55D2444595C293AD8EF07A40" ma:contentTypeVersion="0" ma:contentTypeDescription="Crée un document." ma:contentTypeScope="" ma:versionID="d05b291baec1e63e3dca37edc8af2d9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3d6ca9f312fcd1c0ab10337cdbdb72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424864-2B1D-4CD9-BD2B-74D8F81C30AC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4E8C9F8-871A-4361-9850-791EBEC5A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AEF68C1-01EB-4AE8-B17A-E69D60B9D0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Format 16-9e</Template>
  <TotalTime>235</TotalTime>
  <Words>221</Words>
  <Application>Microsoft Office PowerPoint</Application>
  <PresentationFormat>Personnalisé</PresentationFormat>
  <Paragraphs>34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ＭＳ Ｐゴシック</vt:lpstr>
      <vt:lpstr>Arial</vt:lpstr>
      <vt:lpstr>Calibri</vt:lpstr>
      <vt:lpstr>Tahoma</vt:lpstr>
      <vt:lpstr>Presentation Arc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9</cp:revision>
  <cp:lastPrinted>2017-05-24T12:12:52Z</cp:lastPrinted>
  <dcterms:created xsi:type="dcterms:W3CDTF">2023-10-03T11:00:08Z</dcterms:created>
  <dcterms:modified xsi:type="dcterms:W3CDTF">2024-10-01T14:58:57Z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0x0101000ED6563C55D2444595C293AD8EF07A40</vt:lpwstr>
  </property>
</Properties>
</file>