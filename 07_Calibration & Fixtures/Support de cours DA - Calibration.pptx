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4" r:id="rId6"/>
    <p:sldId id="263" r:id="rId7"/>
    <p:sldId id="261" r:id="rId8"/>
    <p:sldId id="268" r:id="rId9"/>
    <p:sldId id="265" r:id="rId10"/>
    <p:sldId id="266" r:id="rId11"/>
    <p:sldId id="260" r:id="rId12"/>
    <p:sldId id="267" r:id="rId13"/>
    <p:sldId id="269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43" autoAdjust="0"/>
  </p:normalViewPr>
  <p:slideViewPr>
    <p:cSldViewPr>
      <p:cViewPr varScale="1">
        <p:scale>
          <a:sx n="86" d="100"/>
          <a:sy n="86" d="100"/>
        </p:scale>
        <p:origin x="12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/>
              <a:t>DA: Calibration</a:t>
            </a:r>
            <a:endParaRPr lang="fr-CH" dirty="0"/>
          </a:p>
        </p:txBody>
      </p:sp>
      <p:sp>
        <p:nvSpPr>
          <p:cNvPr id="3" name="ZoneTexte 2"/>
          <p:cNvSpPr txBox="1"/>
          <p:nvPr/>
        </p:nvSpPr>
        <p:spPr>
          <a:xfrm>
            <a:off x="546152" y="347116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3268.1 Vision Industrielle II </a:t>
            </a:r>
            <a:endParaRPr lang="en-US" sz="2400" dirty="0"/>
          </a:p>
        </p:txBody>
      </p:sp>
      <p:sp>
        <p:nvSpPr>
          <p:cNvPr id="4" name="ZoneTexte 3"/>
          <p:cNvSpPr txBox="1"/>
          <p:nvPr/>
        </p:nvSpPr>
        <p:spPr>
          <a:xfrm>
            <a:off x="539750" y="4581128"/>
            <a:ext cx="42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Yuri López de Meneses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Principe et modalités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rganigramme : Processus 4"/>
          <p:cNvSpPr/>
          <p:nvPr/>
        </p:nvSpPr>
        <p:spPr>
          <a:xfrm>
            <a:off x="1979712" y="2564904"/>
            <a:ext cx="1512168" cy="864096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>
                <a:solidFill>
                  <a:schemeClr val="tx1"/>
                </a:solidFill>
              </a:rPr>
              <a:t>Calibration Utility or </a:t>
            </a:r>
            <a:r>
              <a:rPr lang="fr-CH" dirty="0" err="1">
                <a:solidFill>
                  <a:schemeClr val="tx1"/>
                </a:solidFill>
              </a:rPr>
              <a:t>Step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rganigramme : Processus 5"/>
          <p:cNvSpPr/>
          <p:nvPr/>
        </p:nvSpPr>
        <p:spPr>
          <a:xfrm>
            <a:off x="2100070" y="4581128"/>
            <a:ext cx="1512168" cy="936104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>
                <a:solidFill>
                  <a:schemeClr val="tx1"/>
                </a:solidFill>
              </a:rPr>
              <a:t>Camera </a:t>
            </a:r>
            <a:r>
              <a:rPr lang="fr-CH" dirty="0" err="1">
                <a:solidFill>
                  <a:schemeClr val="tx1"/>
                </a:solidFill>
              </a:rPr>
              <a:t>Step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rganigramme : Disque magnétique 6"/>
          <p:cNvSpPr/>
          <p:nvPr/>
        </p:nvSpPr>
        <p:spPr>
          <a:xfrm>
            <a:off x="5148064" y="3068960"/>
            <a:ext cx="1224136" cy="158417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èche droite 7"/>
          <p:cNvSpPr/>
          <p:nvPr/>
        </p:nvSpPr>
        <p:spPr>
          <a:xfrm rot="1415527">
            <a:off x="3779912" y="3068960"/>
            <a:ext cx="108012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Stores</a:t>
            </a:r>
          </a:p>
        </p:txBody>
      </p:sp>
      <p:sp>
        <p:nvSpPr>
          <p:cNvPr id="9" name="Flèche droite 8"/>
          <p:cNvSpPr/>
          <p:nvPr/>
        </p:nvSpPr>
        <p:spPr>
          <a:xfrm rot="19447631" flipH="1">
            <a:off x="3904555" y="4529933"/>
            <a:ext cx="979052" cy="279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508104" y="2404536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C:\ProgramData\</a:t>
            </a:r>
          </a:p>
          <a:p>
            <a:r>
              <a:rPr lang="en-US" sz="1200" dirty="0" err="1"/>
              <a:t>Matrox</a:t>
            </a:r>
            <a:r>
              <a:rPr lang="en-US" sz="1200" dirty="0"/>
              <a:t> Design Assistant\</a:t>
            </a:r>
          </a:p>
          <a:p>
            <a:r>
              <a:rPr lang="en-US" sz="1200" dirty="0"/>
              <a:t>5.0\Calibrations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381988" y="3741868"/>
            <a:ext cx="75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*.</a:t>
            </a:r>
            <a:r>
              <a:rPr lang="fr-CH" dirty="0" err="1"/>
              <a:t>mca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25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Types de calibration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From grid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Grille de points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Echelle, </a:t>
            </a:r>
            <a:r>
              <a:rPr lang="en-US" sz="2400" dirty="0" err="1"/>
              <a:t>origine</a:t>
            </a:r>
            <a:r>
              <a:rPr lang="en-US" sz="2400" dirty="0"/>
              <a:t> et correction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From points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Echelle, </a:t>
            </a:r>
            <a:r>
              <a:rPr lang="en-US" sz="2400" dirty="0" err="1"/>
              <a:t>origine</a:t>
            </a:r>
            <a:r>
              <a:rPr lang="en-US" sz="2400" dirty="0"/>
              <a:t> et correction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Using scale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Facteur</a:t>
            </a:r>
            <a:r>
              <a:rPr lang="en-US" sz="2400" dirty="0"/>
              <a:t> </a:t>
            </a:r>
            <a:r>
              <a:rPr lang="en-US" sz="2400" dirty="0" err="1"/>
              <a:t>d’echelle</a:t>
            </a:r>
            <a:r>
              <a:rPr lang="en-US" sz="2400" dirty="0"/>
              <a:t>.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Ne change pas </a:t>
            </a:r>
            <a:r>
              <a:rPr lang="en-US" sz="2400" dirty="0" err="1"/>
              <a:t>l’origine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15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96151"/>
            <a:ext cx="5219449" cy="2321979"/>
          </a:xfrm>
          <a:prstGeom prst="rect">
            <a:avLst/>
          </a:prstGeom>
        </p:spPr>
      </p:pic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Utilitaire de calibration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507" y="3789040"/>
            <a:ext cx="4618070" cy="2789335"/>
          </a:xfrm>
          <a:prstGeom prst="rect">
            <a:avLst/>
          </a:prstGeom>
        </p:spPr>
      </p:pic>
      <p:sp>
        <p:nvSpPr>
          <p:cNvPr id="8" name="Flèche droite 7"/>
          <p:cNvSpPr/>
          <p:nvPr/>
        </p:nvSpPr>
        <p:spPr>
          <a:xfrm rot="1085327">
            <a:off x="720991" y="4438364"/>
            <a:ext cx="3567780" cy="3451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5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Utilitaire</a:t>
            </a:r>
            <a:r>
              <a:rPr lang="en-US" dirty="0"/>
              <a:t> de calibration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Configurer</a:t>
            </a:r>
            <a:r>
              <a:rPr lang="en-US" sz="2800" dirty="0"/>
              <a:t> la camera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Deployer</a:t>
            </a:r>
            <a:r>
              <a:rPr lang="en-US" sz="2800" dirty="0"/>
              <a:t> le </a:t>
            </a:r>
            <a:r>
              <a:rPr lang="en-US" sz="2800" dirty="0" err="1"/>
              <a:t>projet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Configurer</a:t>
            </a:r>
            <a:r>
              <a:rPr lang="en-US" sz="2800" dirty="0"/>
              <a:t> la calibration </a:t>
            </a:r>
            <a:r>
              <a:rPr lang="en-US" sz="2800" dirty="0" err="1"/>
              <a:t>dans</a:t>
            </a:r>
            <a:r>
              <a:rPr lang="en-US" sz="2800" dirty="0"/>
              <a:t> le GUI</a:t>
            </a:r>
          </a:p>
          <a:p>
            <a:pPr marL="1257300" lvl="1" indent="-514350">
              <a:buFont typeface="+mj-lt"/>
              <a:buAutoNum type="arabicPeriod"/>
            </a:pPr>
            <a:r>
              <a:rPr lang="en-US" sz="2400" dirty="0"/>
              <a:t>Nom de la calibration</a:t>
            </a:r>
          </a:p>
          <a:p>
            <a:pPr marL="1257300" lvl="1" indent="-514350">
              <a:buFont typeface="+mj-lt"/>
              <a:buAutoNum type="arabicPeriod"/>
            </a:pPr>
            <a:r>
              <a:rPr lang="en-US" sz="2400" dirty="0"/>
              <a:t>Type</a:t>
            </a:r>
          </a:p>
          <a:p>
            <a:pPr marL="1257300" lvl="1" indent="-514350">
              <a:buFont typeface="+mj-lt"/>
              <a:buAutoNum type="arabicPeriod"/>
            </a:pPr>
            <a:r>
              <a:rPr lang="en-US" sz="2400" dirty="0"/>
              <a:t>Nb. </a:t>
            </a:r>
            <a:r>
              <a:rPr lang="en-US" sz="2400" dirty="0" err="1"/>
              <a:t>lignes</a:t>
            </a:r>
            <a:r>
              <a:rPr lang="en-US" sz="2400" dirty="0"/>
              <a:t>, Nb. </a:t>
            </a:r>
            <a:r>
              <a:rPr lang="en-US" sz="2400" dirty="0" err="1"/>
              <a:t>colonnes</a:t>
            </a:r>
            <a:r>
              <a:rPr lang="en-US" sz="2400" dirty="0"/>
              <a:t>, pas</a:t>
            </a:r>
          </a:p>
          <a:p>
            <a:pPr marL="1257300" lvl="1" indent="-514350">
              <a:buFont typeface="+mj-lt"/>
              <a:buAutoNum type="arabicPeriod"/>
            </a:pPr>
            <a:r>
              <a:rPr lang="en-US" sz="2400" dirty="0"/>
              <a:t>Exposure time</a:t>
            </a:r>
          </a:p>
          <a:p>
            <a:pPr marL="1257300" lvl="1" indent="-514350">
              <a:buFont typeface="+mj-lt"/>
              <a:buAutoNum type="arabicPeriod"/>
            </a:pPr>
            <a:r>
              <a:rPr lang="en-US" sz="2400" dirty="0" err="1"/>
              <a:t>Prendre</a:t>
            </a:r>
            <a:r>
              <a:rPr lang="en-US" sz="2400" dirty="0"/>
              <a:t> image: Continuous/</a:t>
            </a:r>
            <a:r>
              <a:rPr lang="en-US" sz="2400" dirty="0" err="1"/>
              <a:t>Monoshot</a:t>
            </a:r>
            <a:r>
              <a:rPr lang="en-US" sz="2400" dirty="0"/>
              <a:t>/Trigger</a:t>
            </a:r>
          </a:p>
          <a:p>
            <a:pPr marL="1257300" lvl="1" indent="-514350">
              <a:buFont typeface="+mj-lt"/>
              <a:buAutoNum type="arabicPeriod"/>
            </a:pPr>
            <a:r>
              <a:rPr lang="en-US" sz="2400" dirty="0"/>
              <a:t>Clicker sur “Save calibration” et “Terminate”</a:t>
            </a:r>
          </a:p>
        </p:txBody>
      </p:sp>
    </p:spTree>
    <p:extLst>
      <p:ext uri="{BB962C8B-B14F-4D97-AF65-F5344CB8AC3E}">
        <p14:creationId xmlns:p14="http://schemas.microsoft.com/office/powerpoint/2010/main" val="127770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Utilitaire</a:t>
            </a:r>
            <a:r>
              <a:rPr lang="en-US" dirty="0"/>
              <a:t> de calibration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817135"/>
            <a:ext cx="6912768" cy="467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8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 calibration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Grid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092" y="1198948"/>
            <a:ext cx="3086100" cy="23145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712" y="1600744"/>
            <a:ext cx="2844744" cy="226030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4" y="3810405"/>
            <a:ext cx="5513090" cy="250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1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435FB25-8827-4CE6-8D21-A2F06D6DBF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 calibration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05DD78-3D52-4D97-ABBC-9BEB5EE3DD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Mode: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Perspective = </a:t>
            </a:r>
            <a:r>
              <a:rPr lang="fr-CH" dirty="0" err="1"/>
              <a:t>Lineaire</a:t>
            </a:r>
            <a:r>
              <a:rPr lang="fr-CH" dirty="0"/>
              <a:t>, mais </a:t>
            </a:r>
            <a:r>
              <a:rPr lang="fr-CH" dirty="0" err="1"/>
              <a:t>Rx≠Ry</a:t>
            </a:r>
            <a:endParaRPr lang="fr-CH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 err="1"/>
              <a:t>LinearInterpolation</a:t>
            </a:r>
            <a:r>
              <a:rPr lang="fr-CH" dirty="0"/>
              <a:t> = Look-up-table (non-linéaire)</a:t>
            </a:r>
          </a:p>
        </p:txBody>
      </p:sp>
    </p:spTree>
    <p:extLst>
      <p:ext uri="{BB962C8B-B14F-4D97-AF65-F5344CB8AC3E}">
        <p14:creationId xmlns:p14="http://schemas.microsoft.com/office/powerpoint/2010/main" val="216729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calibration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789040"/>
            <a:ext cx="5325641" cy="277543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15" y="2780928"/>
            <a:ext cx="1333500" cy="28384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930" y="1395812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6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calibration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938325"/>
            <a:ext cx="6981825" cy="220027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445" y="2059200"/>
            <a:ext cx="4807107" cy="108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4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Utilisation de la calibration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Dans camera </a:t>
            </a:r>
            <a:r>
              <a:rPr lang="fr-CH" sz="2400" dirty="0" err="1"/>
              <a:t>step</a:t>
            </a:r>
            <a:r>
              <a:rPr lang="fr-CH" sz="2400" dirty="0"/>
              <a:t> ou </a:t>
            </a:r>
            <a:r>
              <a:rPr lang="fr-CH" sz="2400" dirty="0" err="1"/>
              <a:t>LoadImage</a:t>
            </a:r>
            <a:r>
              <a:rPr lang="fr-CH" sz="2400" dirty="0"/>
              <a:t> </a:t>
            </a:r>
            <a:r>
              <a:rPr lang="fr-CH" sz="2400" dirty="0" err="1"/>
              <a:t>step</a:t>
            </a: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Correct image pour ortho-rectification, pour pattern </a:t>
            </a:r>
            <a:r>
              <a:rPr lang="fr-CH" sz="2400" dirty="0" err="1"/>
              <a:t>matching</a:t>
            </a:r>
            <a:r>
              <a:rPr lang="fr-CH" sz="24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endParaRPr lang="fr-CH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708920"/>
            <a:ext cx="5622131" cy="1764506"/>
          </a:xfrm>
          <a:prstGeom prst="rect">
            <a:avLst/>
          </a:prstGeom>
        </p:spPr>
      </p:pic>
      <p:sp>
        <p:nvSpPr>
          <p:cNvPr id="5" name="Rectangle à coins arrondis 4"/>
          <p:cNvSpPr/>
          <p:nvPr/>
        </p:nvSpPr>
        <p:spPr>
          <a:xfrm>
            <a:off x="1547664" y="3321298"/>
            <a:ext cx="2016224" cy="10801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2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Ortho-rectification (</a:t>
            </a:r>
            <a:r>
              <a:rPr lang="fr-CH" dirty="0" err="1"/>
              <a:t>Corrected</a:t>
            </a:r>
            <a:r>
              <a:rPr lang="fr-CH" dirty="0"/>
              <a:t> Image)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7704000" cy="1133013"/>
          </a:xfrm>
        </p:spPr>
        <p:txBody>
          <a:bodyPr/>
          <a:lstStyle/>
          <a:p>
            <a:r>
              <a:rPr lang="fr-CH" sz="2000" b="1" dirty="0" err="1"/>
              <a:t>Corrected</a:t>
            </a:r>
            <a:r>
              <a:rPr lang="fr-CH" sz="2000" dirty="0"/>
              <a:t>: crée une image synthétique tel que les pixels sont alignés avec le repère </a:t>
            </a:r>
            <a:r>
              <a:rPr lang="fr-CH" sz="2000" i="1" dirty="0" err="1"/>
              <a:t>absolut</a:t>
            </a:r>
            <a:r>
              <a:rPr lang="fr-CH" sz="2000" i="1" dirty="0"/>
              <a:t>. </a:t>
            </a:r>
            <a:r>
              <a:rPr lang="fr-CH" sz="2000" dirty="0"/>
              <a:t>Si nécessaire «flippe» l’image pour aligner x a droite et y vers le bas.</a:t>
            </a:r>
            <a:r>
              <a:rPr lang="fr-CH" sz="2000" i="1" dirty="0"/>
              <a:t>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486824" y="3192213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Image calibrée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811" y="3530452"/>
            <a:ext cx="2959105" cy="199096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285" y="5564385"/>
            <a:ext cx="2336156" cy="60091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56" y="3544270"/>
            <a:ext cx="2915084" cy="1963220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4499992" y="3192213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Image calibrée &amp; ortho-</a:t>
            </a:r>
            <a:r>
              <a:rPr lang="fr-CH" dirty="0" err="1"/>
              <a:t>rectifée</a:t>
            </a:r>
            <a:endParaRPr lang="fr-CH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01" y="5558430"/>
            <a:ext cx="2322877" cy="60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1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E9B1FEA-C894-409C-82A6-5D54DBEB8C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 calibration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13AF4C-D69E-4768-A26C-F4206DAC9F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Le </a:t>
            </a:r>
            <a:r>
              <a:rPr lang="fr-CH" sz="2400" dirty="0" err="1"/>
              <a:t>step</a:t>
            </a:r>
            <a:r>
              <a:rPr lang="fr-CH" sz="2400" dirty="0"/>
              <a:t> Calibration génère un fichier de calibration, mais ne calibre pas (transforme pas) l’image</a:t>
            </a:r>
          </a:p>
          <a:p>
            <a:endParaRPr lang="fr-CH" sz="2400" dirty="0"/>
          </a:p>
          <a:p>
            <a:r>
              <a:rPr lang="fr-CH" sz="2400" dirty="0"/>
              <a:t>L’image est calibrée seulement par les </a:t>
            </a:r>
            <a:r>
              <a:rPr lang="fr-CH" sz="2400" dirty="0" err="1"/>
              <a:t>steps</a:t>
            </a:r>
            <a:r>
              <a:rPr lang="fr-CH" sz="2400" dirty="0"/>
              <a:t> Camera, </a:t>
            </a:r>
            <a:r>
              <a:rPr lang="fr-CH" sz="2400" dirty="0" err="1"/>
              <a:t>LoadImage</a:t>
            </a:r>
            <a:r>
              <a:rPr lang="fr-CH" sz="2400" dirty="0"/>
              <a:t>, </a:t>
            </a:r>
            <a:r>
              <a:rPr lang="fr-CH" sz="2400" dirty="0" err="1"/>
              <a:t>ImageCorrection</a:t>
            </a:r>
            <a:r>
              <a:rPr lang="fr-CH" sz="2400" dirty="0"/>
              <a:t> ou </a:t>
            </a:r>
            <a:r>
              <a:rPr lang="fr-CH" sz="2400" dirty="0" err="1"/>
              <a:t>ImageProcessing</a:t>
            </a:r>
            <a:endParaRPr lang="fr-CH" sz="2400" dirty="0"/>
          </a:p>
          <a:p>
            <a:pPr lvl="1"/>
            <a:r>
              <a:rPr lang="fr-CH" sz="2000" dirty="0" err="1"/>
              <a:t>ImageCorrection</a:t>
            </a:r>
            <a:r>
              <a:rPr lang="fr-CH" sz="2000" dirty="0"/>
              <a:t> génère seulement images ortho-rectifiées (</a:t>
            </a:r>
            <a:r>
              <a:rPr lang="fr-CH" sz="2000" dirty="0" err="1"/>
              <a:t>ImageCorrection.CorrectedImage</a:t>
            </a:r>
            <a:r>
              <a:rPr lang="fr-CH" sz="2000" dirty="0"/>
              <a:t>)</a:t>
            </a:r>
          </a:p>
          <a:p>
            <a:pPr lvl="1"/>
            <a:r>
              <a:rPr lang="fr-CH" sz="2000" dirty="0" err="1"/>
              <a:t>ImageProcessing.OutputImageCalibration</a:t>
            </a:r>
            <a:r>
              <a:rPr lang="fr-CH" sz="2000" dirty="0"/>
              <a:t> permet d’appliquer une calibration à l’image résultante.</a:t>
            </a:r>
          </a:p>
        </p:txBody>
      </p:sp>
    </p:spTree>
    <p:extLst>
      <p:ext uri="{BB962C8B-B14F-4D97-AF65-F5344CB8AC3E}">
        <p14:creationId xmlns:p14="http://schemas.microsoft.com/office/powerpoint/2010/main" val="112551913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495</TotalTime>
  <Words>265</Words>
  <Application>Microsoft Office PowerPoint</Application>
  <PresentationFormat>Affichage à l'écran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ＭＳ Ｐゴシック</vt:lpstr>
      <vt:lpstr>Arial</vt:lpstr>
      <vt:lpstr>Calibri</vt:lpstr>
      <vt:lpstr>Tahoma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26</cp:revision>
  <dcterms:created xsi:type="dcterms:W3CDTF">2016-06-07T10:48:10Z</dcterms:created>
  <dcterms:modified xsi:type="dcterms:W3CDTF">2020-10-05T21:23:03Z</dcterms:modified>
</cp:coreProperties>
</file>